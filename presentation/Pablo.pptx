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6" r:id="rId3"/>
    <p:sldId id="267" r:id="rId4"/>
    <p:sldId id="268" r:id="rId5"/>
    <p:sldId id="269" r:id="rId6"/>
    <p:sldId id="270" r:id="rId7"/>
    <p:sldId id="271" r:id="rId8"/>
    <p:sldId id="275" r:id="rId9"/>
    <p:sldId id="263" r:id="rId10"/>
    <p:sldId id="272" r:id="rId11"/>
    <p:sldId id="273" r:id="rId12"/>
    <p:sldId id="27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problem and solution" id="{CF53A3E4-61D7-838B-3BCD-A14291761E9C}">
          <p14:sldIdLst>
            <p14:sldId id="256"/>
            <p14:sldId id="266"/>
            <p14:sldId id="267"/>
            <p14:sldId id="268"/>
            <p14:sldId id="269"/>
          </p14:sldIdLst>
        </p14:section>
        <p14:section name="Workflow, technology and architecture" id="{CFD6E833-643B-D8DA-807B-EEE5A58B1B3C}">
          <p14:sldIdLst>
            <p14:sldId id="270"/>
            <p14:sldId id="271"/>
            <p14:sldId id="275"/>
          </p14:sldIdLst>
        </p14:section>
        <p14:section name="Demonstration, feasibility, future scope and conclusion" id="{2FBBF298-EB33-ED6F-C493-F51FA8501E0C}">
          <p14:sldIdLst>
            <p14:sldId id="263"/>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9324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Money Trail Hunter is a prototype that helps investigators follow stolen money through a network of accounts. The picture shows a victim's money moving through accounts to a cash-out point, hidden among ordinary accounts.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exact problem: Hackatopia 2026 problem statement FT-03, Mule account money-trail hunter. In digital arrest and investment scams, victims' money moves within minutes through chains of rented mule accounts, and rule-based systems see only one account at a time. The affected people are victims, including elderly people, and the banks and investigators who must stop the money. The figures come from MHA and I4C data as reported by ThePrint: about 22,495 crore rupees lost to cyber fraud in 2025 and 1,918 crore rupees lost to digital arrest scams in 2024. Digital arrest cases fell in 2025, but overall losses stayed near the same level. The recovery rate comes from Moneylife.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7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is done today: I4C and MHA block SIMs, WhatsApp accounts and IMEI numbers; the 1930 helpline and cybercrime portal take complaints; police and banks place holds on funds; banks use rule-based monitoring. Then explain the limits: rule-based systems see one account at a time, money moves within minutes, blocking targets the contact channel rather than the money path, and most lost money is not recovered. The gap is a network-level view that follows a reported payment hop by hop and ranks the likely next account early enough to freeze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7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Input: transaction records and a reported scam payment as the starting point; the prototype uses synthetic data. Processing: Temporal BFS traces the trail, a Random Forest estimates account risk, a second Random Forest ranks the next hop, and Louvain groups connected accounts. Output: the traced trail, risk scores, ranked next-hop candidates and account groups, reviewed in the investigator dashboard. This solves the problem because it connects transactions into a network instead of looking at one account at a time. Remind the audience that the freeze action is simulated.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7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new: the scam trail is treated as a network, transfers are followed in time order, and the next hop is ranked. What is different: rule-based systems see one account at a time and blocking SIMs or messaging accounts targets contact channels, while this follows the money itself. The value proposition is to follow the money, not just the account. Reasons to choose it: one workspace, clear priorities, and scores that are indicators rather than verdicts.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7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The investigator reviews alerts and supplies a reported scam payment or suspicious account with transaction records. The backend API receives the request and runs the analysis using four components: Temporal BFS tracing, the account-risk Random Forest, the next-hop Random Forest and Louvain. Results come back through the API as a traced trail, risk scores, a next-hop ranking and account groups. Then the investigator acts: create a case, review reports, or try the simulated freeze. Point out the two decision points: whether an alert is worth a closer look, and whether the indicators support action. Scores are indicators, not proof.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7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React with Vite for a fast, component-based interface. Backend: Python with FastAPI, so the API and the analysis share one language. AI and graph logic: two Random Forest models on tabular account features, Temporal BFS to respect time order, and Louvain for connected groups. The prototype uses a synthetic transaction dataset and is not connected to external banking or payment systems. Confirm the storage and hosting details before presenting and update the amber lines on the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7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investigator uses a React + Vite interface. It talks to a Python + FastAPI backend, which runs four analysis components and sends the results back to the interface. Two are graph algorithms and two are machine learning. Temporal BFS follows connected transactions in time order: each account is a node and each transaction is a directed edge, as in the synthetic Victim to E889 example. The account-risk Random Forest combines many decision trees into one risk score; example signals are account age, incoming and outgoing activity, pass-through behaviour and network links, and the final feature list is still to be confirmed against the implementation. The next-hop Random Forest ranks candidate next accounts from learned patterns; it does not know the future with certainty. Louvain groups connected accounts into communities. Temporal BFS and Louvain are not machine learning. Scores are indicators, not proof. Everything runs on synthetic data, so we claim no real-world accuracy and no connection to live banking. We have not reported performance metrics because they are not yet verified.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synthetic demonstration, not a real case. Follow the five transfers from Victim-001 to E889. The victim's original transfer was 75,000 rupees. The 3,52,000 figure is only the sum of the five edge amounts, so the same money is counted again at every hop. It is not the victim's loss.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it can be built, and a prototype already exists on synthetic data. Walk through the 24-hour plan: first the synthetic data and graph tracing, then the two Random Forest models and Louvain, then the FastAPI backend and React interface, and finally integration, testing and the demo. Be open about the main challenges: no real banking data, no real-world accuracy claim, limited time, and the risk of a live demo failing. The fallback is a scripted synthetic case with the same flow. The freeze action is simulated and the prototype is not connected to live banking systems. Check the hour ranges against your real timeline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7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limitations from the previous slide. Future features: investigator feedback on scores and next-hop suggestions, stronger auditability and case management, and earlier alerts while a trail is still moving. AI and integrations: explainable risk indicators, tuning the models on authorised real-world data, and secure links to authorised financial systems where permitted. Languages, users and locations: a multilingual investigator interface, more users such as banks, police and coordinating agencies, and more cities and states. Long-term deployment: independent validation first, access controls and data protection, and replacing the simulated freeze with an authorised, bank-approved process. These are proposed directions, not commitments, and nothing here is deployed today. The prototype uses synthetic data and is not connected to live banking systems.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7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takeaway: Money Trail Hunter follows a reported scam payment through the account network and ranks the likely next hop, so investigators check the most likely account first. Three benefits: it follows the whole chain in time order rather than one account at a time; it sets clear priorities so a bank team can review the likeliest accounts first; and it is responsible by design, because scores are indicators and the investigator stays in control. The final vision is our closing line: connect the transactions, identify suspicious patterns, and help investigators follow the money. About three in four rupees lost to cyber fraud in India are not recovered (Moneylife, as cited earlier in the deck). Be clear that this is a prototype on synthetic data with a simulated freeze action, not connected to live banking, and we make no real-world accuracy claims.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7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w="12700">
            <a:solidFill>
              <a:schemeClr val="tx1"/>
            </a:solidFill>
            <a:prstDash val="solid"/>
          </a:ln>
        </p:spPr>
      </p:sp>
      <p:sp>
        <p:nvSpPr>
          <p:cNvPr id="3" name="Text 1"/>
          <p:cNvSpPr>
            <a:spLocks noGrp="1"/>
          </p:cNvSpPr>
          <p:nvPr>
            <p:ph type="title" idx="101" hasCustomPrompt="1"/>
          </p:nvPr>
        </p:nvSpPr>
        <p:spPr>
          <a:xfrm>
            <a:off x="640080" y="1417320"/>
            <a:ext cx="5669280" cy="9144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1"/>
          <p:cNvSpPr>
            <a:spLocks noGrp="1"/>
          </p:cNvSpPr>
          <p:nvPr>
            <p:ph type="body" idx="102" hasCustomPrompt="1"/>
          </p:nvPr>
        </p:nvSpPr>
        <p:spPr>
          <a:xfrm>
            <a:off x="640080" y="2514600"/>
            <a:ext cx="5486400" cy="914400"/>
          </a:xfrm>
          <a:prstGeom prst="rect">
            <a:avLst/>
          </a:prstGeom>
          <a:noFill/>
          <a:ln/>
        </p:spPr>
        <p:txBody>
          <a:bodyPr wrap="square" rtlCol="0"/>
          <a:lstStyle>
            <a:lvl1pPr marL="0" indent="0" algn="l">
              <a:buNone/>
              <a:defRPr lang="en-US" sz="2200" dirty="0">
                <a:solidFill>
                  <a:schemeClr val="accent1"/>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w="12700">
            <a:solidFill>
              <a:schemeClr val="tx1"/>
            </a:solidFill>
            <a:prstDash val="solid"/>
          </a:ln>
        </p:spPr>
      </p:sp>
      <p:sp>
        <p:nvSpPr>
          <p:cNvPr id="3" name="Text 1"/>
          <p:cNvSpPr>
            <a:spLocks noGrp="1"/>
          </p:cNvSpPr>
          <p:nvPr>
            <p:ph type="title" idx="101" hasCustomPrompt="1"/>
          </p:nvPr>
        </p:nvSpPr>
        <p:spPr>
          <a:xfrm>
            <a:off x="548640" y="365760"/>
            <a:ext cx="11064240"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chemeClr val="accent5"/>
                </a:solidFill>
              </a:rPr>
              <a:t>Money Trail Hunter  |  Hackathon project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LIGH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FEF"/>
          </a:solidFill>
          <a:ln w="12700">
            <a:solidFill>
              <a:srgbClr val="EFEFEF"/>
            </a:solidFill>
            <a:prstDash val="solid"/>
          </a:ln>
        </p:spPr>
      </p:sp>
      <p:sp>
        <p:nvSpPr>
          <p:cNvPr id="3" name="Shape 1"/>
          <p:cNvSpPr/>
          <p:nvPr/>
        </p:nvSpPr>
        <p:spPr>
          <a:xfrm>
            <a:off x="4846320" y="0"/>
            <a:ext cx="734538" cy="685800"/>
          </a:xfrm>
          <a:prstGeom prst="rect">
            <a:avLst/>
          </a:prstGeom>
          <a:solidFill>
            <a:srgbClr val="EFEFEF"/>
          </a:solidFill>
          <a:ln w="6350">
            <a:solidFill>
              <a:srgbClr val="EFEFEF"/>
            </a:solidFill>
            <a:prstDash val="solid"/>
          </a:ln>
        </p:spPr>
      </p:sp>
      <p:sp>
        <p:nvSpPr>
          <p:cNvPr id="4" name="Shape 2"/>
          <p:cNvSpPr/>
          <p:nvPr/>
        </p:nvSpPr>
        <p:spPr>
          <a:xfrm>
            <a:off x="4846320" y="685800"/>
            <a:ext cx="734538" cy="685800"/>
          </a:xfrm>
          <a:prstGeom prst="rect">
            <a:avLst/>
          </a:prstGeom>
          <a:solidFill>
            <a:srgbClr val="EFEDED"/>
          </a:solidFill>
          <a:ln w="6350">
            <a:solidFill>
              <a:srgbClr val="EFEDED"/>
            </a:solidFill>
            <a:prstDash val="solid"/>
          </a:ln>
        </p:spPr>
      </p:sp>
      <p:sp>
        <p:nvSpPr>
          <p:cNvPr id="5" name="Shape 3"/>
          <p:cNvSpPr/>
          <p:nvPr/>
        </p:nvSpPr>
        <p:spPr>
          <a:xfrm>
            <a:off x="4846320" y="1371600"/>
            <a:ext cx="734538" cy="685800"/>
          </a:xfrm>
          <a:prstGeom prst="rect">
            <a:avLst/>
          </a:prstGeom>
          <a:solidFill>
            <a:srgbClr val="EFEFEF"/>
          </a:solidFill>
          <a:ln w="6350">
            <a:solidFill>
              <a:srgbClr val="EFEFEF"/>
            </a:solidFill>
            <a:prstDash val="solid"/>
          </a:ln>
        </p:spPr>
      </p:sp>
      <p:sp>
        <p:nvSpPr>
          <p:cNvPr id="6" name="Shape 4"/>
          <p:cNvSpPr/>
          <p:nvPr/>
        </p:nvSpPr>
        <p:spPr>
          <a:xfrm>
            <a:off x="4846320" y="2057400"/>
            <a:ext cx="734538" cy="685800"/>
          </a:xfrm>
          <a:prstGeom prst="rect">
            <a:avLst/>
          </a:prstGeom>
          <a:solidFill>
            <a:srgbClr val="EFEFEF"/>
          </a:solidFill>
          <a:ln w="6350">
            <a:solidFill>
              <a:srgbClr val="EFEFEF"/>
            </a:solidFill>
            <a:prstDash val="solid"/>
          </a:ln>
        </p:spPr>
      </p:sp>
      <p:sp>
        <p:nvSpPr>
          <p:cNvPr id="7" name="Shape 5"/>
          <p:cNvSpPr/>
          <p:nvPr/>
        </p:nvSpPr>
        <p:spPr>
          <a:xfrm>
            <a:off x="4846320" y="2743200"/>
            <a:ext cx="734538" cy="685800"/>
          </a:xfrm>
          <a:prstGeom prst="rect">
            <a:avLst/>
          </a:prstGeom>
          <a:solidFill>
            <a:srgbClr val="EFEFEF"/>
          </a:solidFill>
          <a:ln w="6350">
            <a:solidFill>
              <a:srgbClr val="EFEFEF"/>
            </a:solidFill>
            <a:prstDash val="solid"/>
          </a:ln>
        </p:spPr>
      </p:sp>
      <p:sp>
        <p:nvSpPr>
          <p:cNvPr id="8" name="Shape 6"/>
          <p:cNvSpPr/>
          <p:nvPr/>
        </p:nvSpPr>
        <p:spPr>
          <a:xfrm>
            <a:off x="4846320" y="3429000"/>
            <a:ext cx="734538" cy="685800"/>
          </a:xfrm>
          <a:prstGeom prst="rect">
            <a:avLst/>
          </a:prstGeom>
          <a:solidFill>
            <a:srgbClr val="EFEFEF"/>
          </a:solidFill>
          <a:ln w="6350">
            <a:solidFill>
              <a:srgbClr val="EFEFEF"/>
            </a:solidFill>
            <a:prstDash val="solid"/>
          </a:ln>
        </p:spPr>
      </p:sp>
      <p:sp>
        <p:nvSpPr>
          <p:cNvPr id="9" name="Shape 7"/>
          <p:cNvSpPr/>
          <p:nvPr/>
        </p:nvSpPr>
        <p:spPr>
          <a:xfrm>
            <a:off x="4846320" y="4114800"/>
            <a:ext cx="734538" cy="685800"/>
          </a:xfrm>
          <a:prstGeom prst="rect">
            <a:avLst/>
          </a:prstGeom>
          <a:solidFill>
            <a:srgbClr val="EFEFEF"/>
          </a:solidFill>
          <a:ln w="6350">
            <a:solidFill>
              <a:srgbClr val="EFEFEF"/>
            </a:solidFill>
            <a:prstDash val="solid"/>
          </a:ln>
        </p:spPr>
      </p:sp>
      <p:sp>
        <p:nvSpPr>
          <p:cNvPr id="10" name="Shape 8"/>
          <p:cNvSpPr/>
          <p:nvPr/>
        </p:nvSpPr>
        <p:spPr>
          <a:xfrm>
            <a:off x="4846320" y="4800600"/>
            <a:ext cx="734538" cy="685800"/>
          </a:xfrm>
          <a:prstGeom prst="rect">
            <a:avLst/>
          </a:prstGeom>
          <a:solidFill>
            <a:srgbClr val="EEE4E6"/>
          </a:solidFill>
          <a:ln w="6350">
            <a:solidFill>
              <a:srgbClr val="EEE4E6"/>
            </a:solidFill>
            <a:prstDash val="solid"/>
          </a:ln>
        </p:spPr>
      </p:sp>
      <p:sp>
        <p:nvSpPr>
          <p:cNvPr id="11" name="Shape 9"/>
          <p:cNvSpPr/>
          <p:nvPr/>
        </p:nvSpPr>
        <p:spPr>
          <a:xfrm>
            <a:off x="4846320" y="5486400"/>
            <a:ext cx="734538" cy="685800"/>
          </a:xfrm>
          <a:prstGeom prst="rect">
            <a:avLst/>
          </a:prstGeom>
          <a:solidFill>
            <a:srgbClr val="EFEDED"/>
          </a:solidFill>
          <a:ln w="6350">
            <a:solidFill>
              <a:srgbClr val="EFEDED"/>
            </a:solidFill>
            <a:prstDash val="solid"/>
          </a:ln>
        </p:spPr>
      </p:sp>
      <p:sp>
        <p:nvSpPr>
          <p:cNvPr id="12" name="Shape 10"/>
          <p:cNvSpPr/>
          <p:nvPr/>
        </p:nvSpPr>
        <p:spPr>
          <a:xfrm>
            <a:off x="4846320" y="6172200"/>
            <a:ext cx="734538" cy="685800"/>
          </a:xfrm>
          <a:prstGeom prst="rect">
            <a:avLst/>
          </a:prstGeom>
          <a:solidFill>
            <a:srgbClr val="EFEFEF"/>
          </a:solidFill>
          <a:ln w="6350">
            <a:solidFill>
              <a:srgbClr val="EFEFEF"/>
            </a:solidFill>
            <a:prstDash val="solid"/>
          </a:ln>
        </p:spPr>
      </p:sp>
      <p:sp>
        <p:nvSpPr>
          <p:cNvPr id="13" name="Shape 11"/>
          <p:cNvSpPr/>
          <p:nvPr/>
        </p:nvSpPr>
        <p:spPr>
          <a:xfrm>
            <a:off x="5580858" y="0"/>
            <a:ext cx="734538" cy="685800"/>
          </a:xfrm>
          <a:prstGeom prst="rect">
            <a:avLst/>
          </a:prstGeom>
          <a:solidFill>
            <a:srgbClr val="EFEEEF"/>
          </a:solidFill>
          <a:ln w="6350">
            <a:solidFill>
              <a:srgbClr val="EFEEEF"/>
            </a:solidFill>
            <a:prstDash val="solid"/>
          </a:ln>
        </p:spPr>
      </p:sp>
      <p:sp>
        <p:nvSpPr>
          <p:cNvPr id="14" name="Shape 12"/>
          <p:cNvSpPr/>
          <p:nvPr/>
        </p:nvSpPr>
        <p:spPr>
          <a:xfrm>
            <a:off x="5580858" y="685800"/>
            <a:ext cx="734538" cy="685800"/>
          </a:xfrm>
          <a:prstGeom prst="rect">
            <a:avLst/>
          </a:prstGeom>
          <a:solidFill>
            <a:srgbClr val="EEE1E2"/>
          </a:solidFill>
          <a:ln w="6350">
            <a:solidFill>
              <a:srgbClr val="EEE1E2"/>
            </a:solidFill>
            <a:prstDash val="solid"/>
          </a:ln>
        </p:spPr>
      </p:sp>
      <p:sp>
        <p:nvSpPr>
          <p:cNvPr id="15" name="Shape 13"/>
          <p:cNvSpPr/>
          <p:nvPr/>
        </p:nvSpPr>
        <p:spPr>
          <a:xfrm>
            <a:off x="5580858" y="1371600"/>
            <a:ext cx="734538" cy="685800"/>
          </a:xfrm>
          <a:prstGeom prst="rect">
            <a:avLst/>
          </a:prstGeom>
          <a:solidFill>
            <a:srgbClr val="EEE4E5"/>
          </a:solidFill>
          <a:ln w="6350">
            <a:solidFill>
              <a:srgbClr val="EEE4E5"/>
            </a:solidFill>
            <a:prstDash val="solid"/>
          </a:ln>
        </p:spPr>
      </p:sp>
      <p:sp>
        <p:nvSpPr>
          <p:cNvPr id="16" name="Shape 14"/>
          <p:cNvSpPr/>
          <p:nvPr/>
        </p:nvSpPr>
        <p:spPr>
          <a:xfrm>
            <a:off x="5580858" y="2057400"/>
            <a:ext cx="734538" cy="685800"/>
          </a:xfrm>
          <a:prstGeom prst="rect">
            <a:avLst/>
          </a:prstGeom>
          <a:solidFill>
            <a:srgbClr val="EFEFEF"/>
          </a:solidFill>
          <a:ln w="6350">
            <a:solidFill>
              <a:srgbClr val="EFEFEF"/>
            </a:solidFill>
            <a:prstDash val="solid"/>
          </a:ln>
        </p:spPr>
      </p:sp>
      <p:sp>
        <p:nvSpPr>
          <p:cNvPr id="17" name="Shape 15"/>
          <p:cNvSpPr/>
          <p:nvPr/>
        </p:nvSpPr>
        <p:spPr>
          <a:xfrm>
            <a:off x="5580858" y="2743200"/>
            <a:ext cx="734538" cy="685800"/>
          </a:xfrm>
          <a:prstGeom prst="rect">
            <a:avLst/>
          </a:prstGeom>
          <a:solidFill>
            <a:srgbClr val="EEE9E9"/>
          </a:solidFill>
          <a:ln w="6350">
            <a:solidFill>
              <a:srgbClr val="EEE9E9"/>
            </a:solidFill>
            <a:prstDash val="solid"/>
          </a:ln>
        </p:spPr>
      </p:sp>
      <p:sp>
        <p:nvSpPr>
          <p:cNvPr id="18" name="Shape 16"/>
          <p:cNvSpPr/>
          <p:nvPr/>
        </p:nvSpPr>
        <p:spPr>
          <a:xfrm>
            <a:off x="5580858" y="3429000"/>
            <a:ext cx="734538" cy="685800"/>
          </a:xfrm>
          <a:prstGeom prst="rect">
            <a:avLst/>
          </a:prstGeom>
          <a:solidFill>
            <a:srgbClr val="EFEFEF"/>
          </a:solidFill>
          <a:ln w="6350">
            <a:solidFill>
              <a:srgbClr val="EFEFEF"/>
            </a:solidFill>
            <a:prstDash val="solid"/>
          </a:ln>
        </p:spPr>
      </p:sp>
      <p:sp>
        <p:nvSpPr>
          <p:cNvPr id="19" name="Shape 17"/>
          <p:cNvSpPr/>
          <p:nvPr/>
        </p:nvSpPr>
        <p:spPr>
          <a:xfrm>
            <a:off x="5580858" y="4114800"/>
            <a:ext cx="734538" cy="685800"/>
          </a:xfrm>
          <a:prstGeom prst="rect">
            <a:avLst/>
          </a:prstGeom>
          <a:solidFill>
            <a:srgbClr val="EEE4E5"/>
          </a:solidFill>
          <a:ln w="6350">
            <a:solidFill>
              <a:srgbClr val="EEE4E5"/>
            </a:solidFill>
            <a:prstDash val="solid"/>
          </a:ln>
        </p:spPr>
      </p:sp>
      <p:sp>
        <p:nvSpPr>
          <p:cNvPr id="20" name="Shape 18"/>
          <p:cNvSpPr/>
          <p:nvPr/>
        </p:nvSpPr>
        <p:spPr>
          <a:xfrm>
            <a:off x="5580858" y="4800600"/>
            <a:ext cx="734538" cy="685800"/>
          </a:xfrm>
          <a:prstGeom prst="rect">
            <a:avLst/>
          </a:prstGeom>
          <a:solidFill>
            <a:srgbClr val="EFEFEF"/>
          </a:solidFill>
          <a:ln w="6350">
            <a:solidFill>
              <a:srgbClr val="EFEFEF"/>
            </a:solidFill>
            <a:prstDash val="solid"/>
          </a:ln>
        </p:spPr>
      </p:sp>
      <p:sp>
        <p:nvSpPr>
          <p:cNvPr id="21" name="Shape 19"/>
          <p:cNvSpPr/>
          <p:nvPr/>
        </p:nvSpPr>
        <p:spPr>
          <a:xfrm>
            <a:off x="5580858" y="5486400"/>
            <a:ext cx="734538" cy="685800"/>
          </a:xfrm>
          <a:prstGeom prst="rect">
            <a:avLst/>
          </a:prstGeom>
          <a:solidFill>
            <a:srgbClr val="EEE7E8"/>
          </a:solidFill>
          <a:ln w="6350">
            <a:solidFill>
              <a:srgbClr val="EEE7E8"/>
            </a:solidFill>
            <a:prstDash val="solid"/>
          </a:ln>
        </p:spPr>
      </p:sp>
      <p:sp>
        <p:nvSpPr>
          <p:cNvPr id="22" name="Shape 20"/>
          <p:cNvSpPr/>
          <p:nvPr/>
        </p:nvSpPr>
        <p:spPr>
          <a:xfrm>
            <a:off x="5580858" y="6172200"/>
            <a:ext cx="734538" cy="685800"/>
          </a:xfrm>
          <a:prstGeom prst="rect">
            <a:avLst/>
          </a:prstGeom>
          <a:solidFill>
            <a:srgbClr val="EEE9E9"/>
          </a:solidFill>
          <a:ln w="6350">
            <a:solidFill>
              <a:srgbClr val="EEE9E9"/>
            </a:solidFill>
            <a:prstDash val="solid"/>
          </a:ln>
        </p:spPr>
      </p:sp>
      <p:sp>
        <p:nvSpPr>
          <p:cNvPr id="23" name="Shape 21"/>
          <p:cNvSpPr/>
          <p:nvPr/>
        </p:nvSpPr>
        <p:spPr>
          <a:xfrm>
            <a:off x="6315395" y="0"/>
            <a:ext cx="734538" cy="685800"/>
          </a:xfrm>
          <a:prstGeom prst="rect">
            <a:avLst/>
          </a:prstGeom>
          <a:solidFill>
            <a:srgbClr val="EEE7E8"/>
          </a:solidFill>
          <a:ln w="6350">
            <a:solidFill>
              <a:srgbClr val="EEE7E8"/>
            </a:solidFill>
            <a:prstDash val="solid"/>
          </a:ln>
        </p:spPr>
      </p:sp>
      <p:sp>
        <p:nvSpPr>
          <p:cNvPr id="24" name="Shape 22"/>
          <p:cNvSpPr/>
          <p:nvPr/>
        </p:nvSpPr>
        <p:spPr>
          <a:xfrm>
            <a:off x="6315395" y="685800"/>
            <a:ext cx="734538" cy="685800"/>
          </a:xfrm>
          <a:prstGeom prst="rect">
            <a:avLst/>
          </a:prstGeom>
          <a:solidFill>
            <a:srgbClr val="EFEBEB"/>
          </a:solidFill>
          <a:ln w="6350">
            <a:solidFill>
              <a:srgbClr val="EFEBEB"/>
            </a:solidFill>
            <a:prstDash val="solid"/>
          </a:ln>
        </p:spPr>
      </p:sp>
      <p:sp>
        <p:nvSpPr>
          <p:cNvPr id="25" name="Shape 23"/>
          <p:cNvSpPr/>
          <p:nvPr/>
        </p:nvSpPr>
        <p:spPr>
          <a:xfrm>
            <a:off x="6315395" y="1371600"/>
            <a:ext cx="734538" cy="685800"/>
          </a:xfrm>
          <a:prstGeom prst="rect">
            <a:avLst/>
          </a:prstGeom>
          <a:solidFill>
            <a:srgbClr val="ECD2D5"/>
          </a:solidFill>
          <a:ln w="6350">
            <a:solidFill>
              <a:srgbClr val="ECD2D5"/>
            </a:solidFill>
            <a:prstDash val="solid"/>
          </a:ln>
        </p:spPr>
      </p:sp>
      <p:sp>
        <p:nvSpPr>
          <p:cNvPr id="26" name="Shape 24"/>
          <p:cNvSpPr/>
          <p:nvPr/>
        </p:nvSpPr>
        <p:spPr>
          <a:xfrm>
            <a:off x="6315395" y="2057400"/>
            <a:ext cx="734538" cy="685800"/>
          </a:xfrm>
          <a:prstGeom prst="rect">
            <a:avLst/>
          </a:prstGeom>
          <a:solidFill>
            <a:srgbClr val="ECD1D4"/>
          </a:solidFill>
          <a:ln w="6350">
            <a:solidFill>
              <a:srgbClr val="ECD1D4"/>
            </a:solidFill>
            <a:prstDash val="solid"/>
          </a:ln>
        </p:spPr>
      </p:sp>
      <p:sp>
        <p:nvSpPr>
          <p:cNvPr id="27" name="Shape 25"/>
          <p:cNvSpPr/>
          <p:nvPr/>
        </p:nvSpPr>
        <p:spPr>
          <a:xfrm>
            <a:off x="6315395" y="2743200"/>
            <a:ext cx="734538" cy="685800"/>
          </a:xfrm>
          <a:prstGeom prst="rect">
            <a:avLst/>
          </a:prstGeom>
          <a:solidFill>
            <a:srgbClr val="EEE9EA"/>
          </a:solidFill>
          <a:ln w="6350">
            <a:solidFill>
              <a:srgbClr val="EEE9EA"/>
            </a:solidFill>
            <a:prstDash val="solid"/>
          </a:ln>
        </p:spPr>
      </p:sp>
      <p:sp>
        <p:nvSpPr>
          <p:cNvPr id="28" name="Shape 26"/>
          <p:cNvSpPr/>
          <p:nvPr/>
        </p:nvSpPr>
        <p:spPr>
          <a:xfrm>
            <a:off x="6315395" y="3429000"/>
            <a:ext cx="734538" cy="685800"/>
          </a:xfrm>
          <a:prstGeom prst="rect">
            <a:avLst/>
          </a:prstGeom>
          <a:solidFill>
            <a:srgbClr val="EEE0E2"/>
          </a:solidFill>
          <a:ln w="6350">
            <a:solidFill>
              <a:srgbClr val="EEE0E2"/>
            </a:solidFill>
            <a:prstDash val="solid"/>
          </a:ln>
        </p:spPr>
      </p:sp>
      <p:sp>
        <p:nvSpPr>
          <p:cNvPr id="29" name="Shape 27"/>
          <p:cNvSpPr/>
          <p:nvPr/>
        </p:nvSpPr>
        <p:spPr>
          <a:xfrm>
            <a:off x="6315395" y="4114800"/>
            <a:ext cx="734538" cy="685800"/>
          </a:xfrm>
          <a:prstGeom prst="rect">
            <a:avLst/>
          </a:prstGeom>
          <a:solidFill>
            <a:srgbClr val="ECD2D5"/>
          </a:solidFill>
          <a:ln w="6350">
            <a:solidFill>
              <a:srgbClr val="ECD2D5"/>
            </a:solidFill>
            <a:prstDash val="solid"/>
          </a:ln>
        </p:spPr>
      </p:sp>
      <p:sp>
        <p:nvSpPr>
          <p:cNvPr id="30" name="Shape 28"/>
          <p:cNvSpPr/>
          <p:nvPr/>
        </p:nvSpPr>
        <p:spPr>
          <a:xfrm>
            <a:off x="6315395" y="4800600"/>
            <a:ext cx="734538" cy="685800"/>
          </a:xfrm>
          <a:prstGeom prst="rect">
            <a:avLst/>
          </a:prstGeom>
          <a:solidFill>
            <a:srgbClr val="EEE7E8"/>
          </a:solidFill>
          <a:ln w="6350">
            <a:solidFill>
              <a:srgbClr val="EEE7E8"/>
            </a:solidFill>
            <a:prstDash val="solid"/>
          </a:ln>
        </p:spPr>
      </p:sp>
      <p:sp>
        <p:nvSpPr>
          <p:cNvPr id="31" name="Shape 29"/>
          <p:cNvSpPr/>
          <p:nvPr/>
        </p:nvSpPr>
        <p:spPr>
          <a:xfrm>
            <a:off x="6315395" y="5486400"/>
            <a:ext cx="734538" cy="685800"/>
          </a:xfrm>
          <a:prstGeom prst="rect">
            <a:avLst/>
          </a:prstGeom>
          <a:solidFill>
            <a:srgbClr val="EEE1E2"/>
          </a:solidFill>
          <a:ln w="6350">
            <a:solidFill>
              <a:srgbClr val="EEE1E2"/>
            </a:solidFill>
            <a:prstDash val="solid"/>
          </a:ln>
        </p:spPr>
      </p:sp>
      <p:sp>
        <p:nvSpPr>
          <p:cNvPr id="32" name="Shape 30"/>
          <p:cNvSpPr/>
          <p:nvPr/>
        </p:nvSpPr>
        <p:spPr>
          <a:xfrm>
            <a:off x="6315395" y="6172200"/>
            <a:ext cx="734538" cy="685800"/>
          </a:xfrm>
          <a:prstGeom prst="rect">
            <a:avLst/>
          </a:prstGeom>
          <a:solidFill>
            <a:srgbClr val="EDDDDF"/>
          </a:solidFill>
          <a:ln w="6350">
            <a:solidFill>
              <a:srgbClr val="EDDDDF"/>
            </a:solidFill>
            <a:prstDash val="solid"/>
          </a:ln>
        </p:spPr>
      </p:sp>
      <p:sp>
        <p:nvSpPr>
          <p:cNvPr id="33" name="Shape 31"/>
          <p:cNvSpPr/>
          <p:nvPr/>
        </p:nvSpPr>
        <p:spPr>
          <a:xfrm>
            <a:off x="7049933" y="0"/>
            <a:ext cx="734538" cy="685800"/>
          </a:xfrm>
          <a:prstGeom prst="rect">
            <a:avLst/>
          </a:prstGeom>
          <a:solidFill>
            <a:srgbClr val="ECCDD1"/>
          </a:solidFill>
          <a:ln w="6350">
            <a:solidFill>
              <a:srgbClr val="ECCDD1"/>
            </a:solidFill>
            <a:prstDash val="solid"/>
          </a:ln>
        </p:spPr>
      </p:sp>
      <p:sp>
        <p:nvSpPr>
          <p:cNvPr id="34" name="Shape 32"/>
          <p:cNvSpPr/>
          <p:nvPr/>
        </p:nvSpPr>
        <p:spPr>
          <a:xfrm>
            <a:off x="7049933" y="685800"/>
            <a:ext cx="734538" cy="685800"/>
          </a:xfrm>
          <a:prstGeom prst="rect">
            <a:avLst/>
          </a:prstGeom>
          <a:solidFill>
            <a:srgbClr val="EDD8DB"/>
          </a:solidFill>
          <a:ln w="6350">
            <a:solidFill>
              <a:srgbClr val="EDD8DB"/>
            </a:solidFill>
            <a:prstDash val="solid"/>
          </a:ln>
        </p:spPr>
      </p:sp>
      <p:sp>
        <p:nvSpPr>
          <p:cNvPr id="35" name="Shape 33"/>
          <p:cNvSpPr/>
          <p:nvPr/>
        </p:nvSpPr>
        <p:spPr>
          <a:xfrm>
            <a:off x="7049933" y="1371600"/>
            <a:ext cx="734538" cy="685800"/>
          </a:xfrm>
          <a:prstGeom prst="rect">
            <a:avLst/>
          </a:prstGeom>
          <a:solidFill>
            <a:srgbClr val="EDDBDE"/>
          </a:solidFill>
          <a:ln w="6350">
            <a:solidFill>
              <a:srgbClr val="EDDBDE"/>
            </a:solidFill>
            <a:prstDash val="solid"/>
          </a:ln>
        </p:spPr>
      </p:sp>
      <p:sp>
        <p:nvSpPr>
          <p:cNvPr id="36" name="Shape 34"/>
          <p:cNvSpPr/>
          <p:nvPr/>
        </p:nvSpPr>
        <p:spPr>
          <a:xfrm>
            <a:off x="7049933" y="2057400"/>
            <a:ext cx="734538" cy="685800"/>
          </a:xfrm>
          <a:prstGeom prst="rect">
            <a:avLst/>
          </a:prstGeom>
          <a:solidFill>
            <a:srgbClr val="EBC5C9"/>
          </a:solidFill>
          <a:ln w="6350">
            <a:solidFill>
              <a:srgbClr val="EBC5C9"/>
            </a:solidFill>
            <a:prstDash val="solid"/>
          </a:ln>
        </p:spPr>
      </p:sp>
      <p:sp>
        <p:nvSpPr>
          <p:cNvPr id="37" name="Shape 35"/>
          <p:cNvSpPr/>
          <p:nvPr/>
        </p:nvSpPr>
        <p:spPr>
          <a:xfrm>
            <a:off x="7049933" y="2743200"/>
            <a:ext cx="734538" cy="685800"/>
          </a:xfrm>
          <a:prstGeom prst="rect">
            <a:avLst/>
          </a:prstGeom>
          <a:solidFill>
            <a:srgbClr val="EDD4D7"/>
          </a:solidFill>
          <a:ln w="6350">
            <a:solidFill>
              <a:srgbClr val="EDD4D7"/>
            </a:solidFill>
            <a:prstDash val="solid"/>
          </a:ln>
        </p:spPr>
      </p:sp>
      <p:sp>
        <p:nvSpPr>
          <p:cNvPr id="38" name="Shape 36"/>
          <p:cNvSpPr/>
          <p:nvPr/>
        </p:nvSpPr>
        <p:spPr>
          <a:xfrm>
            <a:off x="7049933" y="3429000"/>
            <a:ext cx="734538" cy="685800"/>
          </a:xfrm>
          <a:prstGeom prst="rect">
            <a:avLst/>
          </a:prstGeom>
          <a:solidFill>
            <a:srgbClr val="EDDADC"/>
          </a:solidFill>
          <a:ln w="6350">
            <a:solidFill>
              <a:srgbClr val="EDDADC"/>
            </a:solidFill>
            <a:prstDash val="solid"/>
          </a:ln>
        </p:spPr>
      </p:sp>
      <p:sp>
        <p:nvSpPr>
          <p:cNvPr id="39" name="Shape 37"/>
          <p:cNvSpPr/>
          <p:nvPr/>
        </p:nvSpPr>
        <p:spPr>
          <a:xfrm>
            <a:off x="7049933" y="4114800"/>
            <a:ext cx="734538" cy="685800"/>
          </a:xfrm>
          <a:prstGeom prst="rect">
            <a:avLst/>
          </a:prstGeom>
          <a:solidFill>
            <a:srgbClr val="ECD1D4"/>
          </a:solidFill>
          <a:ln w="6350">
            <a:solidFill>
              <a:srgbClr val="ECD1D4"/>
            </a:solidFill>
            <a:prstDash val="solid"/>
          </a:ln>
        </p:spPr>
      </p:sp>
      <p:sp>
        <p:nvSpPr>
          <p:cNvPr id="40" name="Shape 38"/>
          <p:cNvSpPr/>
          <p:nvPr/>
        </p:nvSpPr>
        <p:spPr>
          <a:xfrm>
            <a:off x="7049933" y="4800600"/>
            <a:ext cx="734538" cy="685800"/>
          </a:xfrm>
          <a:prstGeom prst="rect">
            <a:avLst/>
          </a:prstGeom>
          <a:solidFill>
            <a:srgbClr val="EDD7DA"/>
          </a:solidFill>
          <a:ln w="6350">
            <a:solidFill>
              <a:srgbClr val="EDD7DA"/>
            </a:solidFill>
            <a:prstDash val="solid"/>
          </a:ln>
        </p:spPr>
      </p:sp>
      <p:sp>
        <p:nvSpPr>
          <p:cNvPr id="41" name="Shape 39"/>
          <p:cNvSpPr/>
          <p:nvPr/>
        </p:nvSpPr>
        <p:spPr>
          <a:xfrm>
            <a:off x="7049933" y="5486400"/>
            <a:ext cx="734538" cy="685800"/>
          </a:xfrm>
          <a:prstGeom prst="rect">
            <a:avLst/>
          </a:prstGeom>
          <a:solidFill>
            <a:srgbClr val="EDDCDE"/>
          </a:solidFill>
          <a:ln w="6350">
            <a:solidFill>
              <a:srgbClr val="EDDCDE"/>
            </a:solidFill>
            <a:prstDash val="solid"/>
          </a:ln>
        </p:spPr>
      </p:sp>
      <p:sp>
        <p:nvSpPr>
          <p:cNvPr id="42" name="Shape 40"/>
          <p:cNvSpPr/>
          <p:nvPr/>
        </p:nvSpPr>
        <p:spPr>
          <a:xfrm>
            <a:off x="7049933" y="6172200"/>
            <a:ext cx="734538" cy="685800"/>
          </a:xfrm>
          <a:prstGeom prst="rect">
            <a:avLst/>
          </a:prstGeom>
          <a:solidFill>
            <a:srgbClr val="ECCBCF"/>
          </a:solidFill>
          <a:ln w="6350">
            <a:solidFill>
              <a:srgbClr val="ECCBCF"/>
            </a:solidFill>
            <a:prstDash val="solid"/>
          </a:ln>
        </p:spPr>
      </p:sp>
      <p:sp>
        <p:nvSpPr>
          <p:cNvPr id="43" name="Shape 41"/>
          <p:cNvSpPr/>
          <p:nvPr/>
        </p:nvSpPr>
        <p:spPr>
          <a:xfrm>
            <a:off x="7784470" y="0"/>
            <a:ext cx="734538" cy="685800"/>
          </a:xfrm>
          <a:prstGeom prst="rect">
            <a:avLst/>
          </a:prstGeom>
          <a:solidFill>
            <a:srgbClr val="ECC9CD"/>
          </a:solidFill>
          <a:ln w="6350">
            <a:solidFill>
              <a:srgbClr val="ECC9CD"/>
            </a:solidFill>
            <a:prstDash val="solid"/>
          </a:ln>
        </p:spPr>
      </p:sp>
      <p:sp>
        <p:nvSpPr>
          <p:cNvPr id="44" name="Shape 42"/>
          <p:cNvSpPr/>
          <p:nvPr/>
        </p:nvSpPr>
        <p:spPr>
          <a:xfrm>
            <a:off x="7784470" y="685800"/>
            <a:ext cx="734538" cy="685800"/>
          </a:xfrm>
          <a:prstGeom prst="rect">
            <a:avLst/>
          </a:prstGeom>
          <a:solidFill>
            <a:srgbClr val="ECC9CD"/>
          </a:solidFill>
          <a:ln w="6350">
            <a:solidFill>
              <a:srgbClr val="ECC9CD"/>
            </a:solidFill>
            <a:prstDash val="solid"/>
          </a:ln>
        </p:spPr>
      </p:sp>
      <p:sp>
        <p:nvSpPr>
          <p:cNvPr id="45" name="Shape 43"/>
          <p:cNvSpPr/>
          <p:nvPr/>
        </p:nvSpPr>
        <p:spPr>
          <a:xfrm>
            <a:off x="7784470" y="1371600"/>
            <a:ext cx="734538" cy="685800"/>
          </a:xfrm>
          <a:prstGeom prst="rect">
            <a:avLst/>
          </a:prstGeom>
          <a:solidFill>
            <a:srgbClr val="ECD0D4"/>
          </a:solidFill>
          <a:ln w="6350">
            <a:solidFill>
              <a:srgbClr val="ECD0D4"/>
            </a:solidFill>
            <a:prstDash val="solid"/>
          </a:ln>
        </p:spPr>
      </p:sp>
      <p:sp>
        <p:nvSpPr>
          <p:cNvPr id="46" name="Shape 44"/>
          <p:cNvSpPr/>
          <p:nvPr/>
        </p:nvSpPr>
        <p:spPr>
          <a:xfrm>
            <a:off x="7784470" y="2057400"/>
            <a:ext cx="734538" cy="685800"/>
          </a:xfrm>
          <a:prstGeom prst="rect">
            <a:avLst/>
          </a:prstGeom>
          <a:solidFill>
            <a:srgbClr val="EAB9BF"/>
          </a:solidFill>
          <a:ln w="6350">
            <a:solidFill>
              <a:srgbClr val="EAB9BF"/>
            </a:solidFill>
            <a:prstDash val="solid"/>
          </a:ln>
        </p:spPr>
      </p:sp>
      <p:sp>
        <p:nvSpPr>
          <p:cNvPr id="47" name="Shape 45"/>
          <p:cNvSpPr/>
          <p:nvPr/>
        </p:nvSpPr>
        <p:spPr>
          <a:xfrm>
            <a:off x="7784470" y="2743200"/>
            <a:ext cx="734538" cy="685800"/>
          </a:xfrm>
          <a:prstGeom prst="rect">
            <a:avLst/>
          </a:prstGeom>
          <a:solidFill>
            <a:srgbClr val="ECCCD0"/>
          </a:solidFill>
          <a:ln w="6350">
            <a:solidFill>
              <a:srgbClr val="ECCCD0"/>
            </a:solidFill>
            <a:prstDash val="solid"/>
          </a:ln>
        </p:spPr>
      </p:sp>
      <p:sp>
        <p:nvSpPr>
          <p:cNvPr id="48" name="Shape 46"/>
          <p:cNvSpPr/>
          <p:nvPr/>
        </p:nvSpPr>
        <p:spPr>
          <a:xfrm>
            <a:off x="7784470" y="3429000"/>
            <a:ext cx="734538" cy="685800"/>
          </a:xfrm>
          <a:prstGeom prst="rect">
            <a:avLst/>
          </a:prstGeom>
          <a:solidFill>
            <a:srgbClr val="EABAC0"/>
          </a:solidFill>
          <a:ln w="6350">
            <a:solidFill>
              <a:srgbClr val="EABAC0"/>
            </a:solidFill>
            <a:prstDash val="solid"/>
          </a:ln>
        </p:spPr>
      </p:sp>
      <p:sp>
        <p:nvSpPr>
          <p:cNvPr id="49" name="Shape 47"/>
          <p:cNvSpPr/>
          <p:nvPr/>
        </p:nvSpPr>
        <p:spPr>
          <a:xfrm>
            <a:off x="7784470" y="4114800"/>
            <a:ext cx="734538" cy="685800"/>
          </a:xfrm>
          <a:prstGeom prst="rect">
            <a:avLst/>
          </a:prstGeom>
          <a:solidFill>
            <a:srgbClr val="EBC5CA"/>
          </a:solidFill>
          <a:ln w="6350">
            <a:solidFill>
              <a:srgbClr val="EBC5CA"/>
            </a:solidFill>
            <a:prstDash val="solid"/>
          </a:ln>
        </p:spPr>
      </p:sp>
      <p:sp>
        <p:nvSpPr>
          <p:cNvPr id="50" name="Shape 48"/>
          <p:cNvSpPr/>
          <p:nvPr/>
        </p:nvSpPr>
        <p:spPr>
          <a:xfrm>
            <a:off x="7784470" y="4800600"/>
            <a:ext cx="734538" cy="685800"/>
          </a:xfrm>
          <a:prstGeom prst="rect">
            <a:avLst/>
          </a:prstGeom>
          <a:solidFill>
            <a:srgbClr val="ECCCD0"/>
          </a:solidFill>
          <a:ln w="6350">
            <a:solidFill>
              <a:srgbClr val="ECCCD0"/>
            </a:solidFill>
            <a:prstDash val="solid"/>
          </a:ln>
        </p:spPr>
      </p:sp>
      <p:sp>
        <p:nvSpPr>
          <p:cNvPr id="51" name="Shape 49"/>
          <p:cNvSpPr/>
          <p:nvPr/>
        </p:nvSpPr>
        <p:spPr>
          <a:xfrm>
            <a:off x="7784470" y="5486400"/>
            <a:ext cx="734538" cy="685800"/>
          </a:xfrm>
          <a:prstGeom prst="rect">
            <a:avLst/>
          </a:prstGeom>
          <a:solidFill>
            <a:srgbClr val="EBC2C7"/>
          </a:solidFill>
          <a:ln w="6350">
            <a:solidFill>
              <a:srgbClr val="EBC2C7"/>
            </a:solidFill>
            <a:prstDash val="solid"/>
          </a:ln>
        </p:spPr>
      </p:sp>
      <p:sp>
        <p:nvSpPr>
          <p:cNvPr id="52" name="Shape 50"/>
          <p:cNvSpPr/>
          <p:nvPr/>
        </p:nvSpPr>
        <p:spPr>
          <a:xfrm>
            <a:off x="7784470" y="6172200"/>
            <a:ext cx="734538" cy="685800"/>
          </a:xfrm>
          <a:prstGeom prst="rect">
            <a:avLst/>
          </a:prstGeom>
          <a:solidFill>
            <a:srgbClr val="ECC7CC"/>
          </a:solidFill>
          <a:ln w="6350">
            <a:solidFill>
              <a:srgbClr val="ECC7CC"/>
            </a:solidFill>
            <a:prstDash val="solid"/>
          </a:ln>
        </p:spPr>
      </p:sp>
      <p:sp>
        <p:nvSpPr>
          <p:cNvPr id="53" name="Shape 51"/>
          <p:cNvSpPr/>
          <p:nvPr/>
        </p:nvSpPr>
        <p:spPr>
          <a:xfrm>
            <a:off x="8519008" y="0"/>
            <a:ext cx="734538" cy="685800"/>
          </a:xfrm>
          <a:prstGeom prst="rect">
            <a:avLst/>
          </a:prstGeom>
          <a:solidFill>
            <a:srgbClr val="E9AEB5"/>
          </a:solidFill>
          <a:ln w="6350">
            <a:solidFill>
              <a:srgbClr val="E9AEB5"/>
            </a:solidFill>
            <a:prstDash val="solid"/>
          </a:ln>
        </p:spPr>
      </p:sp>
      <p:sp>
        <p:nvSpPr>
          <p:cNvPr id="54" name="Shape 52"/>
          <p:cNvSpPr/>
          <p:nvPr/>
        </p:nvSpPr>
        <p:spPr>
          <a:xfrm>
            <a:off x="8519008" y="685800"/>
            <a:ext cx="734538" cy="685800"/>
          </a:xfrm>
          <a:prstGeom prst="rect">
            <a:avLst/>
          </a:prstGeom>
          <a:solidFill>
            <a:srgbClr val="EAB1B8"/>
          </a:solidFill>
          <a:ln w="6350">
            <a:solidFill>
              <a:srgbClr val="EAB1B8"/>
            </a:solidFill>
            <a:prstDash val="solid"/>
          </a:ln>
        </p:spPr>
      </p:sp>
      <p:sp>
        <p:nvSpPr>
          <p:cNvPr id="55" name="Shape 53"/>
          <p:cNvSpPr/>
          <p:nvPr/>
        </p:nvSpPr>
        <p:spPr>
          <a:xfrm>
            <a:off x="8519008" y="1371600"/>
            <a:ext cx="734538" cy="685800"/>
          </a:xfrm>
          <a:prstGeom prst="rect">
            <a:avLst/>
          </a:prstGeom>
          <a:solidFill>
            <a:srgbClr val="EBC0C5"/>
          </a:solidFill>
          <a:ln w="6350">
            <a:solidFill>
              <a:srgbClr val="EBC0C5"/>
            </a:solidFill>
            <a:prstDash val="solid"/>
          </a:ln>
        </p:spPr>
      </p:sp>
      <p:sp>
        <p:nvSpPr>
          <p:cNvPr id="56" name="Shape 54"/>
          <p:cNvSpPr/>
          <p:nvPr/>
        </p:nvSpPr>
        <p:spPr>
          <a:xfrm>
            <a:off x="8519008" y="2057400"/>
            <a:ext cx="734538" cy="685800"/>
          </a:xfrm>
          <a:prstGeom prst="rect">
            <a:avLst/>
          </a:prstGeom>
          <a:solidFill>
            <a:srgbClr val="EBBDC3"/>
          </a:solidFill>
          <a:ln w="6350">
            <a:solidFill>
              <a:srgbClr val="EBBDC3"/>
            </a:solidFill>
            <a:prstDash val="solid"/>
          </a:ln>
        </p:spPr>
      </p:sp>
      <p:sp>
        <p:nvSpPr>
          <p:cNvPr id="57" name="Shape 55"/>
          <p:cNvSpPr/>
          <p:nvPr/>
        </p:nvSpPr>
        <p:spPr>
          <a:xfrm>
            <a:off x="8519008" y="2743200"/>
            <a:ext cx="734538" cy="685800"/>
          </a:xfrm>
          <a:prstGeom prst="rect">
            <a:avLst/>
          </a:prstGeom>
          <a:solidFill>
            <a:srgbClr val="EAB7BD"/>
          </a:solidFill>
          <a:ln w="6350">
            <a:solidFill>
              <a:srgbClr val="EAB7BD"/>
            </a:solidFill>
            <a:prstDash val="solid"/>
          </a:ln>
        </p:spPr>
      </p:sp>
      <p:sp>
        <p:nvSpPr>
          <p:cNvPr id="58" name="Shape 56"/>
          <p:cNvSpPr/>
          <p:nvPr/>
        </p:nvSpPr>
        <p:spPr>
          <a:xfrm>
            <a:off x="8519008" y="3429000"/>
            <a:ext cx="734538" cy="685800"/>
          </a:xfrm>
          <a:prstGeom prst="rect">
            <a:avLst/>
          </a:prstGeom>
          <a:solidFill>
            <a:srgbClr val="EBC1C6"/>
          </a:solidFill>
          <a:ln w="6350">
            <a:solidFill>
              <a:srgbClr val="EBC1C6"/>
            </a:solidFill>
            <a:prstDash val="solid"/>
          </a:ln>
        </p:spPr>
      </p:sp>
      <p:sp>
        <p:nvSpPr>
          <p:cNvPr id="59" name="Shape 57"/>
          <p:cNvSpPr/>
          <p:nvPr/>
        </p:nvSpPr>
        <p:spPr>
          <a:xfrm>
            <a:off x="8519008" y="4114800"/>
            <a:ext cx="734538" cy="685800"/>
          </a:xfrm>
          <a:prstGeom prst="rect">
            <a:avLst/>
          </a:prstGeom>
          <a:solidFill>
            <a:srgbClr val="EBC2C7"/>
          </a:solidFill>
          <a:ln w="6350">
            <a:solidFill>
              <a:srgbClr val="EBC2C7"/>
            </a:solidFill>
            <a:prstDash val="solid"/>
          </a:ln>
        </p:spPr>
      </p:sp>
      <p:sp>
        <p:nvSpPr>
          <p:cNvPr id="60" name="Shape 58"/>
          <p:cNvSpPr/>
          <p:nvPr/>
        </p:nvSpPr>
        <p:spPr>
          <a:xfrm>
            <a:off x="8519008" y="4800600"/>
            <a:ext cx="734538" cy="685800"/>
          </a:xfrm>
          <a:prstGeom prst="rect">
            <a:avLst/>
          </a:prstGeom>
          <a:solidFill>
            <a:srgbClr val="EAB8BE"/>
          </a:solidFill>
          <a:ln w="6350">
            <a:solidFill>
              <a:srgbClr val="EAB8BE"/>
            </a:solidFill>
            <a:prstDash val="solid"/>
          </a:ln>
        </p:spPr>
      </p:sp>
      <p:sp>
        <p:nvSpPr>
          <p:cNvPr id="61" name="Shape 59"/>
          <p:cNvSpPr/>
          <p:nvPr/>
        </p:nvSpPr>
        <p:spPr>
          <a:xfrm>
            <a:off x="8519008" y="5486400"/>
            <a:ext cx="734538" cy="685800"/>
          </a:xfrm>
          <a:prstGeom prst="rect">
            <a:avLst/>
          </a:prstGeom>
          <a:solidFill>
            <a:srgbClr val="EAB1B7"/>
          </a:solidFill>
          <a:ln w="6350">
            <a:solidFill>
              <a:srgbClr val="EAB1B7"/>
            </a:solidFill>
            <a:prstDash val="solid"/>
          </a:ln>
        </p:spPr>
      </p:sp>
      <p:sp>
        <p:nvSpPr>
          <p:cNvPr id="62" name="Shape 60"/>
          <p:cNvSpPr/>
          <p:nvPr/>
        </p:nvSpPr>
        <p:spPr>
          <a:xfrm>
            <a:off x="8519008" y="6172200"/>
            <a:ext cx="734538" cy="685800"/>
          </a:xfrm>
          <a:prstGeom prst="rect">
            <a:avLst/>
          </a:prstGeom>
          <a:solidFill>
            <a:srgbClr val="EAB1B8"/>
          </a:solidFill>
          <a:ln w="6350">
            <a:solidFill>
              <a:srgbClr val="EAB1B8"/>
            </a:solidFill>
            <a:prstDash val="solid"/>
          </a:ln>
        </p:spPr>
      </p:sp>
      <p:sp>
        <p:nvSpPr>
          <p:cNvPr id="63" name="Shape 61"/>
          <p:cNvSpPr/>
          <p:nvPr/>
        </p:nvSpPr>
        <p:spPr>
          <a:xfrm>
            <a:off x="9253545" y="0"/>
            <a:ext cx="734538" cy="685800"/>
          </a:xfrm>
          <a:prstGeom prst="rect">
            <a:avLst/>
          </a:prstGeom>
          <a:solidFill>
            <a:srgbClr val="E899A2"/>
          </a:solidFill>
          <a:ln w="6350">
            <a:solidFill>
              <a:srgbClr val="E899A2"/>
            </a:solidFill>
            <a:prstDash val="solid"/>
          </a:ln>
        </p:spPr>
      </p:sp>
      <p:sp>
        <p:nvSpPr>
          <p:cNvPr id="64" name="Shape 62"/>
          <p:cNvSpPr/>
          <p:nvPr/>
        </p:nvSpPr>
        <p:spPr>
          <a:xfrm>
            <a:off x="9253545" y="685800"/>
            <a:ext cx="734538" cy="685800"/>
          </a:xfrm>
          <a:prstGeom prst="rect">
            <a:avLst/>
          </a:prstGeom>
          <a:solidFill>
            <a:srgbClr val="E9AAB2"/>
          </a:solidFill>
          <a:ln w="6350">
            <a:solidFill>
              <a:srgbClr val="E9AAB2"/>
            </a:solidFill>
            <a:prstDash val="solid"/>
          </a:ln>
        </p:spPr>
      </p:sp>
      <p:sp>
        <p:nvSpPr>
          <p:cNvPr id="65" name="Shape 63"/>
          <p:cNvSpPr/>
          <p:nvPr/>
        </p:nvSpPr>
        <p:spPr>
          <a:xfrm>
            <a:off x="9253545" y="1371600"/>
            <a:ext cx="734538" cy="685800"/>
          </a:xfrm>
          <a:prstGeom prst="rect">
            <a:avLst/>
          </a:prstGeom>
          <a:solidFill>
            <a:srgbClr val="E9A7AF"/>
          </a:solidFill>
          <a:ln w="6350">
            <a:solidFill>
              <a:srgbClr val="E9A7AF"/>
            </a:solidFill>
            <a:prstDash val="solid"/>
          </a:ln>
        </p:spPr>
      </p:sp>
      <p:sp>
        <p:nvSpPr>
          <p:cNvPr id="66" name="Shape 64"/>
          <p:cNvSpPr/>
          <p:nvPr/>
        </p:nvSpPr>
        <p:spPr>
          <a:xfrm>
            <a:off x="9253545" y="2057400"/>
            <a:ext cx="734538" cy="685800"/>
          </a:xfrm>
          <a:prstGeom prst="rect">
            <a:avLst/>
          </a:prstGeom>
          <a:solidFill>
            <a:srgbClr val="E9A6AE"/>
          </a:solidFill>
          <a:ln w="6350">
            <a:solidFill>
              <a:srgbClr val="E9A6AE"/>
            </a:solidFill>
            <a:prstDash val="solid"/>
          </a:ln>
        </p:spPr>
      </p:sp>
      <p:sp>
        <p:nvSpPr>
          <p:cNvPr id="67" name="Shape 65"/>
          <p:cNvSpPr/>
          <p:nvPr/>
        </p:nvSpPr>
        <p:spPr>
          <a:xfrm>
            <a:off x="9253545" y="2743200"/>
            <a:ext cx="734538" cy="685800"/>
          </a:xfrm>
          <a:prstGeom prst="rect">
            <a:avLst/>
          </a:prstGeom>
          <a:solidFill>
            <a:srgbClr val="E9A7AF"/>
          </a:solidFill>
          <a:ln w="6350">
            <a:solidFill>
              <a:srgbClr val="E9A7AF"/>
            </a:solidFill>
            <a:prstDash val="solid"/>
          </a:ln>
        </p:spPr>
      </p:sp>
      <p:sp>
        <p:nvSpPr>
          <p:cNvPr id="68" name="Shape 66"/>
          <p:cNvSpPr/>
          <p:nvPr/>
        </p:nvSpPr>
        <p:spPr>
          <a:xfrm>
            <a:off x="9253545" y="3429000"/>
            <a:ext cx="734538" cy="685800"/>
          </a:xfrm>
          <a:prstGeom prst="rect">
            <a:avLst/>
          </a:prstGeom>
          <a:solidFill>
            <a:srgbClr val="E89CA5"/>
          </a:solidFill>
          <a:ln w="6350">
            <a:solidFill>
              <a:srgbClr val="E89CA5"/>
            </a:solidFill>
            <a:prstDash val="solid"/>
          </a:ln>
        </p:spPr>
      </p:sp>
      <p:sp>
        <p:nvSpPr>
          <p:cNvPr id="69" name="Shape 67"/>
          <p:cNvSpPr/>
          <p:nvPr/>
        </p:nvSpPr>
        <p:spPr>
          <a:xfrm>
            <a:off x="9253545" y="4114800"/>
            <a:ext cx="734538" cy="685800"/>
          </a:xfrm>
          <a:prstGeom prst="rect">
            <a:avLst/>
          </a:prstGeom>
          <a:solidFill>
            <a:srgbClr val="E9A7AF"/>
          </a:solidFill>
          <a:ln w="6350">
            <a:solidFill>
              <a:srgbClr val="E9A7AF"/>
            </a:solidFill>
            <a:prstDash val="solid"/>
          </a:ln>
        </p:spPr>
      </p:sp>
      <p:sp>
        <p:nvSpPr>
          <p:cNvPr id="70" name="Shape 68"/>
          <p:cNvSpPr/>
          <p:nvPr/>
        </p:nvSpPr>
        <p:spPr>
          <a:xfrm>
            <a:off x="9253545" y="4800600"/>
            <a:ext cx="734538" cy="685800"/>
          </a:xfrm>
          <a:prstGeom prst="rect">
            <a:avLst/>
          </a:prstGeom>
          <a:solidFill>
            <a:srgbClr val="E9A7AF"/>
          </a:solidFill>
          <a:ln w="6350">
            <a:solidFill>
              <a:srgbClr val="E9A7AF"/>
            </a:solidFill>
            <a:prstDash val="solid"/>
          </a:ln>
        </p:spPr>
      </p:sp>
      <p:sp>
        <p:nvSpPr>
          <p:cNvPr id="71" name="Shape 69"/>
          <p:cNvSpPr/>
          <p:nvPr/>
        </p:nvSpPr>
        <p:spPr>
          <a:xfrm>
            <a:off x="9253545" y="5486400"/>
            <a:ext cx="734538" cy="685800"/>
          </a:xfrm>
          <a:prstGeom prst="rect">
            <a:avLst/>
          </a:prstGeom>
          <a:solidFill>
            <a:srgbClr val="E9ACB3"/>
          </a:solidFill>
          <a:ln w="6350">
            <a:solidFill>
              <a:srgbClr val="E9ACB3"/>
            </a:solidFill>
            <a:prstDash val="solid"/>
          </a:ln>
        </p:spPr>
      </p:sp>
      <p:sp>
        <p:nvSpPr>
          <p:cNvPr id="72" name="Shape 70"/>
          <p:cNvSpPr/>
          <p:nvPr/>
        </p:nvSpPr>
        <p:spPr>
          <a:xfrm>
            <a:off x="9253545" y="6172200"/>
            <a:ext cx="734538" cy="685800"/>
          </a:xfrm>
          <a:prstGeom prst="rect">
            <a:avLst/>
          </a:prstGeom>
          <a:solidFill>
            <a:srgbClr val="E9ADB4"/>
          </a:solidFill>
          <a:ln w="6350">
            <a:solidFill>
              <a:srgbClr val="E9ADB4"/>
            </a:solidFill>
            <a:prstDash val="solid"/>
          </a:ln>
        </p:spPr>
      </p:sp>
      <p:sp>
        <p:nvSpPr>
          <p:cNvPr id="73" name="Shape 71"/>
          <p:cNvSpPr/>
          <p:nvPr/>
        </p:nvSpPr>
        <p:spPr>
          <a:xfrm>
            <a:off x="9988083" y="0"/>
            <a:ext cx="734538" cy="685800"/>
          </a:xfrm>
          <a:prstGeom prst="rect">
            <a:avLst/>
          </a:prstGeom>
          <a:solidFill>
            <a:srgbClr val="E78E98"/>
          </a:solidFill>
          <a:ln w="6350">
            <a:solidFill>
              <a:srgbClr val="E78E98"/>
            </a:solidFill>
            <a:prstDash val="solid"/>
          </a:ln>
        </p:spPr>
      </p:sp>
      <p:sp>
        <p:nvSpPr>
          <p:cNvPr id="74" name="Shape 72"/>
          <p:cNvSpPr/>
          <p:nvPr/>
        </p:nvSpPr>
        <p:spPr>
          <a:xfrm>
            <a:off x="9988083" y="685800"/>
            <a:ext cx="734538" cy="685800"/>
          </a:xfrm>
          <a:prstGeom prst="rect">
            <a:avLst/>
          </a:prstGeom>
          <a:solidFill>
            <a:srgbClr val="E89FA8"/>
          </a:solidFill>
          <a:ln w="6350">
            <a:solidFill>
              <a:srgbClr val="E89FA8"/>
            </a:solidFill>
            <a:prstDash val="solid"/>
          </a:ln>
        </p:spPr>
      </p:sp>
      <p:sp>
        <p:nvSpPr>
          <p:cNvPr id="75" name="Shape 73"/>
          <p:cNvSpPr/>
          <p:nvPr/>
        </p:nvSpPr>
        <p:spPr>
          <a:xfrm>
            <a:off x="9988083" y="1371600"/>
            <a:ext cx="734538" cy="685800"/>
          </a:xfrm>
          <a:prstGeom prst="rect">
            <a:avLst/>
          </a:prstGeom>
          <a:solidFill>
            <a:srgbClr val="E89BA4"/>
          </a:solidFill>
          <a:ln w="6350">
            <a:solidFill>
              <a:srgbClr val="E89BA4"/>
            </a:solidFill>
            <a:prstDash val="solid"/>
          </a:ln>
        </p:spPr>
      </p:sp>
      <p:sp>
        <p:nvSpPr>
          <p:cNvPr id="76" name="Shape 74"/>
          <p:cNvSpPr/>
          <p:nvPr/>
        </p:nvSpPr>
        <p:spPr>
          <a:xfrm>
            <a:off x="9988083" y="2057400"/>
            <a:ext cx="734538" cy="685800"/>
          </a:xfrm>
          <a:prstGeom prst="rect">
            <a:avLst/>
          </a:prstGeom>
          <a:solidFill>
            <a:srgbClr val="E78D98"/>
          </a:solidFill>
          <a:ln w="6350">
            <a:solidFill>
              <a:srgbClr val="E78D98"/>
            </a:solidFill>
            <a:prstDash val="solid"/>
          </a:ln>
        </p:spPr>
      </p:sp>
      <p:sp>
        <p:nvSpPr>
          <p:cNvPr id="77" name="Shape 75"/>
          <p:cNvSpPr/>
          <p:nvPr/>
        </p:nvSpPr>
        <p:spPr>
          <a:xfrm>
            <a:off x="9988083" y="2743200"/>
            <a:ext cx="734538" cy="685800"/>
          </a:xfrm>
          <a:prstGeom prst="rect">
            <a:avLst/>
          </a:prstGeom>
          <a:solidFill>
            <a:srgbClr val="E68B96"/>
          </a:solidFill>
          <a:ln w="6350">
            <a:solidFill>
              <a:srgbClr val="E68B96"/>
            </a:solidFill>
            <a:prstDash val="solid"/>
          </a:ln>
        </p:spPr>
      </p:sp>
      <p:sp>
        <p:nvSpPr>
          <p:cNvPr id="78" name="Shape 76"/>
          <p:cNvSpPr/>
          <p:nvPr/>
        </p:nvSpPr>
        <p:spPr>
          <a:xfrm>
            <a:off x="9988083" y="3429000"/>
            <a:ext cx="734538" cy="685800"/>
          </a:xfrm>
          <a:prstGeom prst="rect">
            <a:avLst/>
          </a:prstGeom>
          <a:solidFill>
            <a:srgbClr val="E68793"/>
          </a:solidFill>
          <a:ln w="6350">
            <a:solidFill>
              <a:srgbClr val="E68793"/>
            </a:solidFill>
            <a:prstDash val="solid"/>
          </a:ln>
        </p:spPr>
      </p:sp>
      <p:sp>
        <p:nvSpPr>
          <p:cNvPr id="79" name="Shape 77"/>
          <p:cNvSpPr/>
          <p:nvPr/>
        </p:nvSpPr>
        <p:spPr>
          <a:xfrm>
            <a:off x="9988083" y="4114800"/>
            <a:ext cx="734538" cy="685800"/>
          </a:xfrm>
          <a:prstGeom prst="rect">
            <a:avLst/>
          </a:prstGeom>
          <a:solidFill>
            <a:srgbClr val="E68994"/>
          </a:solidFill>
          <a:ln w="6350">
            <a:solidFill>
              <a:srgbClr val="E68994"/>
            </a:solidFill>
            <a:prstDash val="solid"/>
          </a:ln>
        </p:spPr>
      </p:sp>
      <p:sp>
        <p:nvSpPr>
          <p:cNvPr id="80" name="Shape 78"/>
          <p:cNvSpPr/>
          <p:nvPr/>
        </p:nvSpPr>
        <p:spPr>
          <a:xfrm>
            <a:off x="9988083" y="4800600"/>
            <a:ext cx="734538" cy="685800"/>
          </a:xfrm>
          <a:prstGeom prst="rect">
            <a:avLst/>
          </a:prstGeom>
          <a:solidFill>
            <a:srgbClr val="E68A96"/>
          </a:solidFill>
          <a:ln w="6350">
            <a:solidFill>
              <a:srgbClr val="E68A96"/>
            </a:solidFill>
            <a:prstDash val="solid"/>
          </a:ln>
        </p:spPr>
      </p:sp>
      <p:sp>
        <p:nvSpPr>
          <p:cNvPr id="81" name="Shape 79"/>
          <p:cNvSpPr/>
          <p:nvPr/>
        </p:nvSpPr>
        <p:spPr>
          <a:xfrm>
            <a:off x="9988083" y="5486400"/>
            <a:ext cx="734538" cy="685800"/>
          </a:xfrm>
          <a:prstGeom prst="rect">
            <a:avLst/>
          </a:prstGeom>
          <a:solidFill>
            <a:srgbClr val="E78E98"/>
          </a:solidFill>
          <a:ln w="6350">
            <a:solidFill>
              <a:srgbClr val="E78E98"/>
            </a:solidFill>
            <a:prstDash val="solid"/>
          </a:ln>
        </p:spPr>
      </p:sp>
      <p:sp>
        <p:nvSpPr>
          <p:cNvPr id="82" name="Shape 80"/>
          <p:cNvSpPr/>
          <p:nvPr/>
        </p:nvSpPr>
        <p:spPr>
          <a:xfrm>
            <a:off x="9988083" y="6172200"/>
            <a:ext cx="734538" cy="685800"/>
          </a:xfrm>
          <a:prstGeom prst="rect">
            <a:avLst/>
          </a:prstGeom>
          <a:solidFill>
            <a:srgbClr val="E7919B"/>
          </a:solidFill>
          <a:ln w="6350">
            <a:solidFill>
              <a:srgbClr val="E7919B"/>
            </a:solidFill>
            <a:prstDash val="solid"/>
          </a:ln>
        </p:spPr>
      </p:sp>
      <p:sp>
        <p:nvSpPr>
          <p:cNvPr id="83" name="Shape 81"/>
          <p:cNvSpPr/>
          <p:nvPr/>
        </p:nvSpPr>
        <p:spPr>
          <a:xfrm>
            <a:off x="10722620" y="0"/>
            <a:ext cx="734538" cy="685800"/>
          </a:xfrm>
          <a:prstGeom prst="rect">
            <a:avLst/>
          </a:prstGeom>
          <a:solidFill>
            <a:srgbClr val="E5818D"/>
          </a:solidFill>
          <a:ln w="6350">
            <a:solidFill>
              <a:srgbClr val="E5818D"/>
            </a:solidFill>
            <a:prstDash val="solid"/>
          </a:ln>
        </p:spPr>
      </p:sp>
      <p:sp>
        <p:nvSpPr>
          <p:cNvPr id="84" name="Shape 82"/>
          <p:cNvSpPr/>
          <p:nvPr/>
        </p:nvSpPr>
        <p:spPr>
          <a:xfrm>
            <a:off x="10722620" y="685800"/>
            <a:ext cx="734538" cy="685800"/>
          </a:xfrm>
          <a:prstGeom prst="rect">
            <a:avLst/>
          </a:prstGeom>
          <a:solidFill>
            <a:srgbClr val="E7909A"/>
          </a:solidFill>
          <a:ln w="6350">
            <a:solidFill>
              <a:srgbClr val="E7909A"/>
            </a:solidFill>
            <a:prstDash val="solid"/>
          </a:ln>
        </p:spPr>
      </p:sp>
      <p:sp>
        <p:nvSpPr>
          <p:cNvPr id="85" name="Shape 83"/>
          <p:cNvSpPr/>
          <p:nvPr/>
        </p:nvSpPr>
        <p:spPr>
          <a:xfrm>
            <a:off x="10722620" y="1371600"/>
            <a:ext cx="734538" cy="685800"/>
          </a:xfrm>
          <a:prstGeom prst="rect">
            <a:avLst/>
          </a:prstGeom>
          <a:solidFill>
            <a:srgbClr val="E68893"/>
          </a:solidFill>
          <a:ln w="6350">
            <a:solidFill>
              <a:srgbClr val="E68893"/>
            </a:solidFill>
            <a:prstDash val="solid"/>
          </a:ln>
        </p:spPr>
      </p:sp>
      <p:sp>
        <p:nvSpPr>
          <p:cNvPr id="86" name="Shape 84"/>
          <p:cNvSpPr/>
          <p:nvPr/>
        </p:nvSpPr>
        <p:spPr>
          <a:xfrm>
            <a:off x="10722620" y="2057400"/>
            <a:ext cx="734538" cy="685800"/>
          </a:xfrm>
          <a:prstGeom prst="rect">
            <a:avLst/>
          </a:prstGeom>
          <a:solidFill>
            <a:srgbClr val="E68792"/>
          </a:solidFill>
          <a:ln w="6350">
            <a:solidFill>
              <a:srgbClr val="E68792"/>
            </a:solidFill>
            <a:prstDash val="solid"/>
          </a:ln>
        </p:spPr>
      </p:sp>
      <p:sp>
        <p:nvSpPr>
          <p:cNvPr id="87" name="Shape 85"/>
          <p:cNvSpPr/>
          <p:nvPr/>
        </p:nvSpPr>
        <p:spPr>
          <a:xfrm>
            <a:off x="10722620" y="2743200"/>
            <a:ext cx="734538" cy="685800"/>
          </a:xfrm>
          <a:prstGeom prst="rect">
            <a:avLst/>
          </a:prstGeom>
          <a:solidFill>
            <a:srgbClr val="E68B96"/>
          </a:solidFill>
          <a:ln w="6350">
            <a:solidFill>
              <a:srgbClr val="E68B96"/>
            </a:solidFill>
            <a:prstDash val="solid"/>
          </a:ln>
        </p:spPr>
      </p:sp>
      <p:sp>
        <p:nvSpPr>
          <p:cNvPr id="88" name="Shape 86"/>
          <p:cNvSpPr/>
          <p:nvPr/>
        </p:nvSpPr>
        <p:spPr>
          <a:xfrm>
            <a:off x="10722620" y="3429000"/>
            <a:ext cx="734538" cy="685800"/>
          </a:xfrm>
          <a:prstGeom prst="rect">
            <a:avLst/>
          </a:prstGeom>
          <a:solidFill>
            <a:srgbClr val="E68691"/>
          </a:solidFill>
          <a:ln w="6350">
            <a:solidFill>
              <a:srgbClr val="E68691"/>
            </a:solidFill>
            <a:prstDash val="solid"/>
          </a:ln>
        </p:spPr>
      </p:sp>
      <p:sp>
        <p:nvSpPr>
          <p:cNvPr id="89" name="Shape 87"/>
          <p:cNvSpPr/>
          <p:nvPr/>
        </p:nvSpPr>
        <p:spPr>
          <a:xfrm>
            <a:off x="10722620" y="4114800"/>
            <a:ext cx="734538" cy="685800"/>
          </a:xfrm>
          <a:prstGeom prst="rect">
            <a:avLst/>
          </a:prstGeom>
          <a:solidFill>
            <a:srgbClr val="E57D8A"/>
          </a:solidFill>
          <a:ln w="6350">
            <a:solidFill>
              <a:srgbClr val="E57D8A"/>
            </a:solidFill>
            <a:prstDash val="solid"/>
          </a:ln>
        </p:spPr>
      </p:sp>
      <p:sp>
        <p:nvSpPr>
          <p:cNvPr id="90" name="Shape 88"/>
          <p:cNvSpPr/>
          <p:nvPr/>
        </p:nvSpPr>
        <p:spPr>
          <a:xfrm>
            <a:off x="10722620" y="4800600"/>
            <a:ext cx="734538" cy="685800"/>
          </a:xfrm>
          <a:prstGeom prst="rect">
            <a:avLst/>
          </a:prstGeom>
          <a:solidFill>
            <a:srgbClr val="E57C89"/>
          </a:solidFill>
          <a:ln w="6350">
            <a:solidFill>
              <a:srgbClr val="E57C89"/>
            </a:solidFill>
            <a:prstDash val="solid"/>
          </a:ln>
        </p:spPr>
      </p:sp>
      <p:sp>
        <p:nvSpPr>
          <p:cNvPr id="91" name="Shape 89"/>
          <p:cNvSpPr/>
          <p:nvPr/>
        </p:nvSpPr>
        <p:spPr>
          <a:xfrm>
            <a:off x="10722620" y="5486400"/>
            <a:ext cx="734538" cy="685800"/>
          </a:xfrm>
          <a:prstGeom prst="rect">
            <a:avLst/>
          </a:prstGeom>
          <a:solidFill>
            <a:srgbClr val="E68994"/>
          </a:solidFill>
          <a:ln w="6350">
            <a:solidFill>
              <a:srgbClr val="E68994"/>
            </a:solidFill>
            <a:prstDash val="solid"/>
          </a:ln>
        </p:spPr>
      </p:sp>
      <p:sp>
        <p:nvSpPr>
          <p:cNvPr id="92" name="Shape 90"/>
          <p:cNvSpPr/>
          <p:nvPr/>
        </p:nvSpPr>
        <p:spPr>
          <a:xfrm>
            <a:off x="10722620" y="6172200"/>
            <a:ext cx="734538" cy="685800"/>
          </a:xfrm>
          <a:prstGeom prst="rect">
            <a:avLst/>
          </a:prstGeom>
          <a:solidFill>
            <a:srgbClr val="E57683"/>
          </a:solidFill>
          <a:ln w="6350">
            <a:solidFill>
              <a:srgbClr val="E57683"/>
            </a:solidFill>
            <a:prstDash val="solid"/>
          </a:ln>
        </p:spPr>
      </p:sp>
      <p:sp>
        <p:nvSpPr>
          <p:cNvPr id="93" name="Shape 91"/>
          <p:cNvSpPr/>
          <p:nvPr/>
        </p:nvSpPr>
        <p:spPr>
          <a:xfrm>
            <a:off x="11457158" y="0"/>
            <a:ext cx="734538" cy="685800"/>
          </a:xfrm>
          <a:prstGeom prst="rect">
            <a:avLst/>
          </a:prstGeom>
          <a:solidFill>
            <a:srgbClr val="E57E8A"/>
          </a:solidFill>
          <a:ln w="6350">
            <a:solidFill>
              <a:srgbClr val="E57E8A"/>
            </a:solidFill>
            <a:prstDash val="solid"/>
          </a:ln>
        </p:spPr>
      </p:sp>
      <p:sp>
        <p:nvSpPr>
          <p:cNvPr id="94" name="Shape 92"/>
          <p:cNvSpPr/>
          <p:nvPr/>
        </p:nvSpPr>
        <p:spPr>
          <a:xfrm>
            <a:off x="11457158" y="685800"/>
            <a:ext cx="734538" cy="685800"/>
          </a:xfrm>
          <a:prstGeom prst="rect">
            <a:avLst/>
          </a:prstGeom>
          <a:solidFill>
            <a:srgbClr val="E47481"/>
          </a:solidFill>
          <a:ln w="6350">
            <a:solidFill>
              <a:srgbClr val="E47481"/>
            </a:solidFill>
            <a:prstDash val="solid"/>
          </a:ln>
        </p:spPr>
      </p:sp>
      <p:sp>
        <p:nvSpPr>
          <p:cNvPr id="95" name="Shape 93"/>
          <p:cNvSpPr/>
          <p:nvPr/>
        </p:nvSpPr>
        <p:spPr>
          <a:xfrm>
            <a:off x="11457158" y="1371600"/>
            <a:ext cx="734538" cy="685800"/>
          </a:xfrm>
          <a:prstGeom prst="rect">
            <a:avLst/>
          </a:prstGeom>
          <a:solidFill>
            <a:srgbClr val="E4707E"/>
          </a:solidFill>
          <a:ln w="6350">
            <a:solidFill>
              <a:srgbClr val="E4707E"/>
            </a:solidFill>
            <a:prstDash val="solid"/>
          </a:ln>
        </p:spPr>
      </p:sp>
      <p:sp>
        <p:nvSpPr>
          <p:cNvPr id="96" name="Shape 94"/>
          <p:cNvSpPr/>
          <p:nvPr/>
        </p:nvSpPr>
        <p:spPr>
          <a:xfrm>
            <a:off x="11457158" y="2057400"/>
            <a:ext cx="734538" cy="685800"/>
          </a:xfrm>
          <a:prstGeom prst="rect">
            <a:avLst/>
          </a:prstGeom>
          <a:solidFill>
            <a:srgbClr val="E4727F"/>
          </a:solidFill>
          <a:ln w="6350">
            <a:solidFill>
              <a:srgbClr val="E4727F"/>
            </a:solidFill>
            <a:prstDash val="solid"/>
          </a:ln>
        </p:spPr>
      </p:sp>
      <p:sp>
        <p:nvSpPr>
          <p:cNvPr id="97" name="Shape 95"/>
          <p:cNvSpPr/>
          <p:nvPr/>
        </p:nvSpPr>
        <p:spPr>
          <a:xfrm>
            <a:off x="11457158" y="2743200"/>
            <a:ext cx="734538" cy="685800"/>
          </a:xfrm>
          <a:prstGeom prst="rect">
            <a:avLst/>
          </a:prstGeom>
          <a:solidFill>
            <a:srgbClr val="E57B88"/>
          </a:solidFill>
          <a:ln w="6350">
            <a:solidFill>
              <a:srgbClr val="E57B88"/>
            </a:solidFill>
            <a:prstDash val="solid"/>
          </a:ln>
        </p:spPr>
      </p:sp>
      <p:sp>
        <p:nvSpPr>
          <p:cNvPr id="98" name="Shape 96"/>
          <p:cNvSpPr/>
          <p:nvPr/>
        </p:nvSpPr>
        <p:spPr>
          <a:xfrm>
            <a:off x="11457158" y="3429000"/>
            <a:ext cx="734538" cy="685800"/>
          </a:xfrm>
          <a:prstGeom prst="rect">
            <a:avLst/>
          </a:prstGeom>
          <a:solidFill>
            <a:srgbClr val="E4707E"/>
          </a:solidFill>
          <a:ln w="6350">
            <a:solidFill>
              <a:srgbClr val="E4707E"/>
            </a:solidFill>
            <a:prstDash val="solid"/>
          </a:ln>
        </p:spPr>
      </p:sp>
      <p:sp>
        <p:nvSpPr>
          <p:cNvPr id="99" name="Shape 97"/>
          <p:cNvSpPr/>
          <p:nvPr/>
        </p:nvSpPr>
        <p:spPr>
          <a:xfrm>
            <a:off x="11457158" y="4114800"/>
            <a:ext cx="734538" cy="685800"/>
          </a:xfrm>
          <a:prstGeom prst="rect">
            <a:avLst/>
          </a:prstGeom>
          <a:solidFill>
            <a:srgbClr val="E4717F"/>
          </a:solidFill>
          <a:ln w="6350">
            <a:solidFill>
              <a:srgbClr val="E4717F"/>
            </a:solidFill>
            <a:prstDash val="solid"/>
          </a:ln>
        </p:spPr>
      </p:sp>
      <p:sp>
        <p:nvSpPr>
          <p:cNvPr id="100" name="Shape 98"/>
          <p:cNvSpPr/>
          <p:nvPr/>
        </p:nvSpPr>
        <p:spPr>
          <a:xfrm>
            <a:off x="11457158" y="4800600"/>
            <a:ext cx="734538" cy="685800"/>
          </a:xfrm>
          <a:prstGeom prst="rect">
            <a:avLst/>
          </a:prstGeom>
          <a:solidFill>
            <a:srgbClr val="E4707E"/>
          </a:solidFill>
          <a:ln w="6350">
            <a:solidFill>
              <a:srgbClr val="E4707E"/>
            </a:solidFill>
            <a:prstDash val="solid"/>
          </a:ln>
        </p:spPr>
      </p:sp>
      <p:sp>
        <p:nvSpPr>
          <p:cNvPr id="101" name="Shape 99"/>
          <p:cNvSpPr/>
          <p:nvPr/>
        </p:nvSpPr>
        <p:spPr>
          <a:xfrm>
            <a:off x="11457158" y="5486400"/>
            <a:ext cx="734538" cy="685800"/>
          </a:xfrm>
          <a:prstGeom prst="rect">
            <a:avLst/>
          </a:prstGeom>
          <a:solidFill>
            <a:srgbClr val="E4707E"/>
          </a:solidFill>
          <a:ln w="6350">
            <a:solidFill>
              <a:srgbClr val="E4707E"/>
            </a:solidFill>
            <a:prstDash val="solid"/>
          </a:ln>
        </p:spPr>
      </p:sp>
      <p:sp>
        <p:nvSpPr>
          <p:cNvPr id="102" name="Shape 100"/>
          <p:cNvSpPr/>
          <p:nvPr/>
        </p:nvSpPr>
        <p:spPr>
          <a:xfrm>
            <a:off x="11457158" y="6172200"/>
            <a:ext cx="734538" cy="685800"/>
          </a:xfrm>
          <a:prstGeom prst="rect">
            <a:avLst/>
          </a:prstGeom>
          <a:solidFill>
            <a:srgbClr val="E4717F"/>
          </a:solidFill>
          <a:ln w="6350">
            <a:solidFill>
              <a:srgbClr val="E4717F"/>
            </a:solidFill>
            <a:prstDash val="solid"/>
          </a:ln>
        </p:spPr>
      </p:sp>
      <p:sp>
        <p:nvSpPr>
          <p:cNvPr id="103" name="Shape 101"/>
          <p:cNvSpPr/>
          <p:nvPr/>
        </p:nvSpPr>
        <p:spPr>
          <a:xfrm>
            <a:off x="11688775" y="0"/>
            <a:ext cx="502920" cy="6858000"/>
          </a:xfrm>
          <a:prstGeom prst="rect">
            <a:avLst/>
          </a:prstGeom>
          <a:solidFill>
            <a:srgbClr val="8E0F1F"/>
          </a:solidFill>
          <a:ln w="12700">
            <a:solidFill>
              <a:srgbClr val="8E0F1F"/>
            </a:solidFill>
            <a:prstDash val="solid"/>
          </a:ln>
        </p:spPr>
      </p:sp>
      <p:sp>
        <p:nvSpPr>
          <p:cNvPr id="104" name="Text 102"/>
          <p:cNvSpPr>
            <a:spLocks noGrp="1"/>
          </p:cNvSpPr>
          <p:nvPr>
            <p:ph type="title" idx="202" hasCustomPrompt="1"/>
          </p:nvPr>
        </p:nvSpPr>
        <p:spPr>
          <a:xfrm>
            <a:off x="640080" y="1554480"/>
            <a:ext cx="5394960" cy="2103120"/>
          </a:xfrm>
          <a:prstGeom prst="rect">
            <a:avLst/>
          </a:prstGeom>
          <a:noFill/>
          <a:ln/>
        </p:spPr>
        <p:txBody>
          <a:bodyPr wrap="square" rtlCol="0"/>
          <a:lstStyle>
            <a:lvl1pPr marL="0" indent="0" algn="l">
              <a:buNone/>
              <a:defRPr lang="en-US" sz="5400" b="1" dirty="0">
                <a:solidFill>
                  <a:srgbClr val="111111"/>
                </a:solidFill>
                <a:latin typeface="Arial" pitchFamily="34" charset="0"/>
                <a:ea typeface="Arial" pitchFamily="34" charset="-122"/>
                <a:cs typeface="Arial" pitchFamily="34" charset="-120"/>
              </a:defRPr>
            </a:lvl1pPr>
          </a:lstStyle>
          <a:p>
            <a:pPr marL="0" indent="0" algn="l">
              <a:buNone/>
            </a:pPr>
            <a:endParaRPr lang="en-US" sz="5400" dirty="0"/>
          </a:p>
        </p:txBody>
      </p:sp>
      <p:sp>
        <p:nvSpPr>
          <p:cNvPr id="105" name="Text 102"/>
          <p:cNvSpPr>
            <a:spLocks noGrp="1"/>
          </p:cNvSpPr>
          <p:nvPr>
            <p:ph type="body" idx="203" hasCustomPrompt="1"/>
          </p:nvPr>
        </p:nvSpPr>
        <p:spPr>
          <a:xfrm>
            <a:off x="914400" y="3931920"/>
            <a:ext cx="4023360" cy="914400"/>
          </a:xfrm>
          <a:prstGeom prst="rect">
            <a:avLst/>
          </a:prstGeom>
          <a:noFill/>
          <a:ln/>
        </p:spPr>
        <p:txBody>
          <a:bodyPr wrap="square" rtlCol="0"/>
          <a:lstStyle>
            <a:lvl1pPr marL="0" indent="0" algn="l">
              <a:buNone/>
              <a:defRPr lang="en-US" sz="1800" dirty="0">
                <a:solidFill>
                  <a:srgbClr val="FFFFFF"/>
                </a:solidFill>
              </a:defRPr>
            </a:lvl1pPr>
          </a:lstStyle>
          <a:p>
            <a:pPr marL="0" indent="0" algn="l">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FEF"/>
          </a:solidFill>
          <a:ln w="12700">
            <a:solidFill>
              <a:srgbClr val="EFEFEF"/>
            </a:solidFill>
            <a:prstDash val="solid"/>
          </a:ln>
        </p:spPr>
      </p:sp>
      <p:sp>
        <p:nvSpPr>
          <p:cNvPr id="3" name="Text 1"/>
          <p:cNvSpPr>
            <a:spLocks noGrp="1"/>
          </p:cNvSpPr>
          <p:nvPr>
            <p:ph type="title" idx="101" hasCustomPrompt="1"/>
          </p:nvPr>
        </p:nvSpPr>
        <p:spPr>
          <a:xfrm>
            <a:off x="548640" y="365760"/>
            <a:ext cx="11064240" cy="822960"/>
          </a:xfrm>
          <a:prstGeom prst="rect">
            <a:avLst/>
          </a:prstGeom>
          <a:noFill/>
          <a:ln/>
        </p:spPr>
        <p:txBody>
          <a:bodyPr wrap="square" rtlCol="0"/>
          <a:lstStyle>
            <a:lvl1pPr marL="0" indent="0" algn="l">
              <a:buNone/>
              <a:defRPr lang="en-US" sz="3600" b="1" dirty="0">
                <a:solidFill>
                  <a:srgbClr val="111111"/>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4"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B6B6B"/>
                </a:solidFill>
              </a:rPr>
              <a:t>Money Trail Hunter  |  Hackathon project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tag pill"/>
          <p:cNvSpPr/>
          <p:nvPr/>
        </p:nvSpPr>
        <p:spPr>
          <a:xfrm>
            <a:off x="640080" y="868680"/>
            <a:ext cx="3611880" cy="365760"/>
          </a:xfrm>
          <a:prstGeom prst="roundRect">
            <a:avLst>
              <a:gd name="adj" fmla="val 50000"/>
            </a:avLst>
          </a:prstGeom>
          <a:solidFill>
            <a:srgbClr val="A30D1D"/>
          </a:solidFill>
          <a:ln w="12700">
            <a:solidFill>
              <a:srgbClr val="A30D1D"/>
            </a:solidFill>
            <a:prstDash val="solid"/>
          </a:ln>
        </p:spPr>
      </p:sp>
      <p:sp>
        <p:nvSpPr>
          <p:cNvPr id="3" name="Event tag"/>
          <p:cNvSpPr txBox="1"/>
          <p:nvPr/>
        </p:nvSpPr>
        <p:spPr>
          <a:xfrm>
            <a:off x="640080" y="868680"/>
            <a:ext cx="36118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HACKATHON PROJECT PRESENTATION</a:t>
            </a:r>
            <a:endParaRPr lang="en-US" sz="1100" dirty="0"/>
          </a:p>
        </p:txBody>
      </p:sp>
      <p:sp>
        <p:nvSpPr>
          <p:cNvPr id="4" name="Text 102"/>
          <p:cNvSpPr>
            <a:spLocks noGrp="1"/>
          </p:cNvSpPr>
          <p:nvPr>
            <p:ph type="title" idx="202" hasCustomPrompt="1"/>
          </p:nvPr>
        </p:nvSpPr>
        <p:spPr>
          <a:xfrm>
            <a:off x="640080" y="1554480"/>
            <a:ext cx="5394960" cy="2103120"/>
          </a:xfrm>
          <a:prstGeom prst="rect">
            <a:avLst/>
          </a:prstGeom>
          <a:noFill/>
          <a:ln/>
        </p:spPr>
        <p:txBody>
          <a:bodyPr wrap="square" lIns="0" tIns="0" rIns="0" bIns="0" rtlCol="0" anchor="t"/>
          <a:lstStyle/>
          <a:p>
            <a:pPr marL="0" indent="0" algn="l">
              <a:buNone/>
            </a:pPr>
            <a:r>
              <a:rPr lang="en-US" sz="5400" b="1" dirty="0">
                <a:solidFill>
                  <a:srgbClr val="111111"/>
                </a:solidFill>
                <a:latin typeface="Arial" pitchFamily="34" charset="0"/>
                <a:ea typeface="Arial" pitchFamily="34" charset="-122"/>
                <a:cs typeface="Arial" pitchFamily="34" charset="-120"/>
              </a:rPr>
              <a:t>Money Trail</a:t>
            </a:r>
            <a:endParaRPr lang="en-US" sz="5400" dirty="0"/>
          </a:p>
          <a:p>
            <a:pPr marL="0" indent="0" algn="l">
              <a:buNone/>
            </a:pPr>
            <a:r>
              <a:rPr lang="en-US" sz="5400" b="1" dirty="0">
                <a:solidFill>
                  <a:srgbClr val="A30D1D"/>
                </a:solidFill>
                <a:latin typeface="Arial" pitchFamily="34" charset="0"/>
                <a:ea typeface="Arial" pitchFamily="34" charset="-122"/>
                <a:cs typeface="Arial" pitchFamily="34" charset="-120"/>
              </a:rPr>
              <a:t>Hunter</a:t>
            </a:r>
            <a:endParaRPr lang="en-US" sz="5400" dirty="0"/>
          </a:p>
        </p:txBody>
      </p:sp>
      <p:sp>
        <p:nvSpPr>
          <p:cNvPr id="5" name="Subtitle pill"/>
          <p:cNvSpPr/>
          <p:nvPr/>
        </p:nvSpPr>
        <p:spPr>
          <a:xfrm>
            <a:off x="640080" y="3931920"/>
            <a:ext cx="4572000" cy="914400"/>
          </a:xfrm>
          <a:prstGeom prst="roundRect">
            <a:avLst>
              <a:gd name="adj" fmla="val 50000"/>
            </a:avLst>
          </a:prstGeom>
          <a:solidFill>
            <a:srgbClr val="111111"/>
          </a:solidFill>
          <a:ln w="12700">
            <a:solidFill>
              <a:srgbClr val="111111"/>
            </a:solidFill>
            <a:prstDash val="solid"/>
          </a:ln>
        </p:spPr>
      </p:sp>
      <p:sp>
        <p:nvSpPr>
          <p:cNvPr id="6" name="Text 102"/>
          <p:cNvSpPr>
            <a:spLocks noGrp="1"/>
          </p:cNvSpPr>
          <p:nvPr>
            <p:ph type="body" idx="203" hasCustomPrompt="1"/>
          </p:nvPr>
        </p:nvSpPr>
        <p:spPr>
          <a:xfrm>
            <a:off x="914400" y="3931920"/>
            <a:ext cx="4023360" cy="914400"/>
          </a:xfrm>
          <a:prstGeom prst="rect">
            <a:avLst/>
          </a:prstGeom>
          <a:noFill/>
          <a:ln/>
        </p:spPr>
        <p:txBody>
          <a:bodyPr wrap="square" lIns="0" tIns="0" rIns="0" bIns="0" rtlCol="0" anchor="ctr"/>
          <a:lstStyle/>
          <a:p>
            <a:pPr marL="0" indent="0" algn="l">
              <a:buNone/>
            </a:pPr>
            <a:r>
              <a:rPr lang="en-US" sz="1800" dirty="0">
                <a:solidFill>
                  <a:srgbClr val="FFFFFF"/>
                </a:solidFill>
              </a:rPr>
              <a:t>Graph-Based Fraud Detection and Money Trail Investigation</a:t>
            </a:r>
            <a:endParaRPr lang="en-US" sz="1800" dirty="0"/>
          </a:p>
        </p:txBody>
      </p:sp>
      <p:sp>
        <p:nvSpPr>
          <p:cNvPr id="9" name="Background link 1"/>
          <p:cNvSpPr/>
          <p:nvPr/>
        </p:nvSpPr>
        <p:spPr>
          <a:xfrm>
            <a:off x="8412480" y="1371600"/>
            <a:ext cx="2743200" cy="0"/>
          </a:xfrm>
          <a:prstGeom prst="line">
            <a:avLst/>
          </a:prstGeom>
          <a:noFill/>
          <a:ln w="15875">
            <a:solidFill>
              <a:srgbClr val="FFFFFF"/>
            </a:solidFill>
            <a:prstDash val="solid"/>
          </a:ln>
        </p:spPr>
      </p:sp>
      <p:sp>
        <p:nvSpPr>
          <p:cNvPr id="10" name="Background link 2"/>
          <p:cNvSpPr/>
          <p:nvPr/>
        </p:nvSpPr>
        <p:spPr>
          <a:xfrm flipH="1" flipV="1">
            <a:off x="10149840" y="2194560"/>
            <a:ext cx="1005840" cy="731520"/>
          </a:xfrm>
          <a:prstGeom prst="line">
            <a:avLst/>
          </a:prstGeom>
          <a:noFill/>
          <a:ln w="15875">
            <a:solidFill>
              <a:srgbClr val="FFFFFF"/>
            </a:solidFill>
            <a:prstDash val="solid"/>
          </a:ln>
        </p:spPr>
      </p:sp>
      <p:sp>
        <p:nvSpPr>
          <p:cNvPr id="11" name="Background link 3"/>
          <p:cNvSpPr/>
          <p:nvPr/>
        </p:nvSpPr>
        <p:spPr>
          <a:xfrm flipH="1">
            <a:off x="10515600" y="2926080"/>
            <a:ext cx="640080" cy="1188720"/>
          </a:xfrm>
          <a:prstGeom prst="line">
            <a:avLst/>
          </a:prstGeom>
          <a:noFill/>
          <a:ln w="15875">
            <a:solidFill>
              <a:srgbClr val="FFFFFF"/>
            </a:solidFill>
            <a:prstDash val="solid"/>
          </a:ln>
        </p:spPr>
      </p:sp>
      <p:sp>
        <p:nvSpPr>
          <p:cNvPr id="12" name="Background link 4"/>
          <p:cNvSpPr/>
          <p:nvPr/>
        </p:nvSpPr>
        <p:spPr>
          <a:xfrm flipV="1">
            <a:off x="11155680" y="1371600"/>
            <a:ext cx="0" cy="1554480"/>
          </a:xfrm>
          <a:prstGeom prst="line">
            <a:avLst/>
          </a:prstGeom>
          <a:noFill/>
          <a:ln w="15875">
            <a:solidFill>
              <a:srgbClr val="FFFFFF"/>
            </a:solidFill>
            <a:prstDash val="solid"/>
          </a:ln>
        </p:spPr>
      </p:sp>
      <p:sp>
        <p:nvSpPr>
          <p:cNvPr id="13" name="Background link 5"/>
          <p:cNvSpPr/>
          <p:nvPr/>
        </p:nvSpPr>
        <p:spPr>
          <a:xfrm flipV="1">
            <a:off x="7406640" y="3200400"/>
            <a:ext cx="1371600" cy="914400"/>
          </a:xfrm>
          <a:prstGeom prst="line">
            <a:avLst/>
          </a:prstGeom>
          <a:noFill/>
          <a:ln w="15875">
            <a:solidFill>
              <a:srgbClr val="FFFFFF"/>
            </a:solidFill>
            <a:prstDash val="solid"/>
          </a:ln>
        </p:spPr>
      </p:sp>
      <p:sp>
        <p:nvSpPr>
          <p:cNvPr id="14" name="Background link 6"/>
          <p:cNvSpPr/>
          <p:nvPr/>
        </p:nvSpPr>
        <p:spPr>
          <a:xfrm flipV="1">
            <a:off x="10424160" y="4114800"/>
            <a:ext cx="91440" cy="1463040"/>
          </a:xfrm>
          <a:prstGeom prst="line">
            <a:avLst/>
          </a:prstGeom>
          <a:noFill/>
          <a:ln w="15875">
            <a:solidFill>
              <a:srgbClr val="FFFFFF"/>
            </a:solidFill>
            <a:prstDash val="solid"/>
          </a:ln>
        </p:spPr>
      </p:sp>
      <p:sp>
        <p:nvSpPr>
          <p:cNvPr id="15" name="Background link 7"/>
          <p:cNvSpPr/>
          <p:nvPr/>
        </p:nvSpPr>
        <p:spPr>
          <a:xfrm flipH="1" flipV="1">
            <a:off x="9144000" y="5212080"/>
            <a:ext cx="1280160" cy="365760"/>
          </a:xfrm>
          <a:prstGeom prst="line">
            <a:avLst/>
          </a:prstGeom>
          <a:noFill/>
          <a:ln w="15875">
            <a:solidFill>
              <a:srgbClr val="FFFFFF"/>
            </a:solidFill>
            <a:prstDash val="solid"/>
          </a:ln>
        </p:spPr>
      </p:sp>
      <p:sp>
        <p:nvSpPr>
          <p:cNvPr id="16" name="Background link 8"/>
          <p:cNvSpPr/>
          <p:nvPr/>
        </p:nvSpPr>
        <p:spPr>
          <a:xfrm flipV="1">
            <a:off x="8138160" y="5212080"/>
            <a:ext cx="1005840" cy="457200"/>
          </a:xfrm>
          <a:prstGeom prst="line">
            <a:avLst/>
          </a:prstGeom>
          <a:noFill/>
          <a:ln w="15875">
            <a:solidFill>
              <a:srgbClr val="FFFFFF"/>
            </a:solidFill>
            <a:prstDash val="solid"/>
          </a:ln>
        </p:spPr>
      </p:sp>
      <p:sp>
        <p:nvSpPr>
          <p:cNvPr id="17" name="Background link 9"/>
          <p:cNvSpPr/>
          <p:nvPr/>
        </p:nvSpPr>
        <p:spPr>
          <a:xfrm flipH="1" flipV="1">
            <a:off x="7406640" y="4114800"/>
            <a:ext cx="731520" cy="1554480"/>
          </a:xfrm>
          <a:prstGeom prst="line">
            <a:avLst/>
          </a:prstGeom>
          <a:noFill/>
          <a:ln w="15875">
            <a:solidFill>
              <a:srgbClr val="FFFFFF"/>
            </a:solidFill>
            <a:prstDash val="solid"/>
          </a:ln>
        </p:spPr>
      </p:sp>
      <p:sp>
        <p:nvSpPr>
          <p:cNvPr id="18" name="Other account 1"/>
          <p:cNvSpPr/>
          <p:nvPr/>
        </p:nvSpPr>
        <p:spPr>
          <a:xfrm>
            <a:off x="8275320" y="1234440"/>
            <a:ext cx="274320" cy="274320"/>
          </a:xfrm>
          <a:prstGeom prst="ellipse">
            <a:avLst/>
          </a:prstGeom>
          <a:solidFill>
            <a:srgbClr val="FFFFFF"/>
          </a:solidFill>
          <a:ln w="12700">
            <a:solidFill>
              <a:srgbClr val="B05060"/>
            </a:solidFill>
            <a:prstDash val="solid"/>
          </a:ln>
        </p:spPr>
      </p:sp>
      <p:sp>
        <p:nvSpPr>
          <p:cNvPr id="19" name="Other account 2"/>
          <p:cNvSpPr/>
          <p:nvPr/>
        </p:nvSpPr>
        <p:spPr>
          <a:xfrm>
            <a:off x="11018520" y="2788920"/>
            <a:ext cx="274320" cy="274320"/>
          </a:xfrm>
          <a:prstGeom prst="ellipse">
            <a:avLst/>
          </a:prstGeom>
          <a:solidFill>
            <a:srgbClr val="FFFFFF"/>
          </a:solidFill>
          <a:ln w="12700">
            <a:solidFill>
              <a:srgbClr val="B05060"/>
            </a:solidFill>
            <a:prstDash val="solid"/>
          </a:ln>
        </p:spPr>
      </p:sp>
      <p:sp>
        <p:nvSpPr>
          <p:cNvPr id="20" name="Other account 3"/>
          <p:cNvSpPr/>
          <p:nvPr/>
        </p:nvSpPr>
        <p:spPr>
          <a:xfrm>
            <a:off x="7269480" y="3977640"/>
            <a:ext cx="274320" cy="274320"/>
          </a:xfrm>
          <a:prstGeom prst="ellipse">
            <a:avLst/>
          </a:prstGeom>
          <a:solidFill>
            <a:srgbClr val="FFFFFF"/>
          </a:solidFill>
          <a:ln w="12700">
            <a:solidFill>
              <a:srgbClr val="B05060"/>
            </a:solidFill>
            <a:prstDash val="solid"/>
          </a:ln>
        </p:spPr>
      </p:sp>
      <p:sp>
        <p:nvSpPr>
          <p:cNvPr id="21" name="Other account 4"/>
          <p:cNvSpPr/>
          <p:nvPr/>
        </p:nvSpPr>
        <p:spPr>
          <a:xfrm>
            <a:off x="10287000" y="5440680"/>
            <a:ext cx="274320" cy="274320"/>
          </a:xfrm>
          <a:prstGeom prst="ellipse">
            <a:avLst/>
          </a:prstGeom>
          <a:solidFill>
            <a:srgbClr val="FFFFFF"/>
          </a:solidFill>
          <a:ln w="12700">
            <a:solidFill>
              <a:srgbClr val="B05060"/>
            </a:solidFill>
            <a:prstDash val="solid"/>
          </a:ln>
        </p:spPr>
      </p:sp>
      <p:sp>
        <p:nvSpPr>
          <p:cNvPr id="22" name="Other account 5"/>
          <p:cNvSpPr/>
          <p:nvPr/>
        </p:nvSpPr>
        <p:spPr>
          <a:xfrm>
            <a:off x="11018520" y="1234440"/>
            <a:ext cx="274320" cy="274320"/>
          </a:xfrm>
          <a:prstGeom prst="ellipse">
            <a:avLst/>
          </a:prstGeom>
          <a:solidFill>
            <a:srgbClr val="FFFFFF"/>
          </a:solidFill>
          <a:ln w="12700">
            <a:solidFill>
              <a:srgbClr val="B05060"/>
            </a:solidFill>
            <a:prstDash val="solid"/>
          </a:ln>
        </p:spPr>
      </p:sp>
      <p:sp>
        <p:nvSpPr>
          <p:cNvPr id="23" name="Other account 6"/>
          <p:cNvSpPr/>
          <p:nvPr/>
        </p:nvSpPr>
        <p:spPr>
          <a:xfrm>
            <a:off x="8001000" y="5532120"/>
            <a:ext cx="274320" cy="274320"/>
          </a:xfrm>
          <a:prstGeom prst="ellipse">
            <a:avLst/>
          </a:prstGeom>
          <a:solidFill>
            <a:srgbClr val="FFFFFF"/>
          </a:solidFill>
          <a:ln w="12700">
            <a:solidFill>
              <a:srgbClr val="B05060"/>
            </a:solidFill>
            <a:prstDash val="solid"/>
          </a:ln>
        </p:spPr>
      </p:sp>
      <p:sp>
        <p:nvSpPr>
          <p:cNvPr id="24" name="Trail arrow 1"/>
          <p:cNvSpPr/>
          <p:nvPr/>
        </p:nvSpPr>
        <p:spPr>
          <a:xfrm>
            <a:off x="7680960" y="2377440"/>
            <a:ext cx="731520" cy="548640"/>
          </a:xfrm>
          <a:prstGeom prst="line">
            <a:avLst/>
          </a:prstGeom>
          <a:noFill/>
          <a:ln w="34925">
            <a:solidFill>
              <a:srgbClr val="111111"/>
            </a:solidFill>
            <a:prstDash val="solid"/>
            <a:tailEnd type="triangle"/>
          </a:ln>
        </p:spPr>
      </p:sp>
      <p:sp>
        <p:nvSpPr>
          <p:cNvPr id="25" name="Trail arrow 2"/>
          <p:cNvSpPr/>
          <p:nvPr/>
        </p:nvSpPr>
        <p:spPr>
          <a:xfrm flipV="1">
            <a:off x="9146928" y="2464931"/>
            <a:ext cx="634223" cy="465097"/>
          </a:xfrm>
          <a:prstGeom prst="line">
            <a:avLst/>
          </a:prstGeom>
          <a:noFill/>
          <a:ln w="34925">
            <a:solidFill>
              <a:srgbClr val="111111"/>
            </a:solidFill>
            <a:prstDash val="solid"/>
            <a:tailEnd type="triangle"/>
          </a:ln>
        </p:spPr>
      </p:sp>
      <p:sp>
        <p:nvSpPr>
          <p:cNvPr id="26" name="Trail arrow 3"/>
          <p:cNvSpPr/>
          <p:nvPr/>
        </p:nvSpPr>
        <p:spPr>
          <a:xfrm>
            <a:off x="10235388" y="2643685"/>
            <a:ext cx="194665" cy="1021990"/>
          </a:xfrm>
          <a:prstGeom prst="line">
            <a:avLst/>
          </a:prstGeom>
          <a:noFill/>
          <a:ln w="34925">
            <a:solidFill>
              <a:srgbClr val="111111"/>
            </a:solidFill>
            <a:prstDash val="solid"/>
            <a:tailEnd type="triangle"/>
          </a:ln>
        </p:spPr>
      </p:sp>
      <p:sp>
        <p:nvSpPr>
          <p:cNvPr id="27" name="Trail arrow 4"/>
          <p:cNvSpPr/>
          <p:nvPr/>
        </p:nvSpPr>
        <p:spPr>
          <a:xfrm flipH="1">
            <a:off x="9501013" y="4400411"/>
            <a:ext cx="657574" cy="526059"/>
          </a:xfrm>
          <a:prstGeom prst="line">
            <a:avLst/>
          </a:prstGeom>
          <a:noFill/>
          <a:ln w="34925">
            <a:solidFill>
              <a:srgbClr val="111111"/>
            </a:solidFill>
            <a:prstDash val="solid"/>
            <a:tailEnd type="triangle"/>
          </a:ln>
        </p:spPr>
      </p:sp>
      <p:sp>
        <p:nvSpPr>
          <p:cNvPr id="28" name="Node Victim"/>
          <p:cNvSpPr/>
          <p:nvPr/>
        </p:nvSpPr>
        <p:spPr>
          <a:xfrm>
            <a:off x="6931152" y="1719072"/>
            <a:ext cx="768096" cy="768096"/>
          </a:xfrm>
          <a:prstGeom prst="ellipse">
            <a:avLst/>
          </a:prstGeom>
          <a:solidFill>
            <a:srgbClr val="111111"/>
          </a:solidFill>
          <a:ln w="31750">
            <a:solidFill>
              <a:srgbClr val="111111"/>
            </a:solidFill>
            <a:prstDash val="solid"/>
          </a:ln>
          <a:effectLst>
            <a:outerShdw blurRad="127000" dist="38100" dir="5400000" algn="bl" rotWithShape="0">
              <a:srgbClr val="000000">
                <a:alpha val="13000"/>
              </a:srgbClr>
            </a:outerShdw>
          </a:effectLst>
        </p:spPr>
      </p:sp>
      <p:sp>
        <p:nvSpPr>
          <p:cNvPr id="29" name="Label Victim"/>
          <p:cNvSpPr txBox="1"/>
          <p:nvPr/>
        </p:nvSpPr>
        <p:spPr>
          <a:xfrm>
            <a:off x="6766560" y="2532888"/>
            <a:ext cx="1097280" cy="274320"/>
          </a:xfrm>
          <a:prstGeom prst="rect">
            <a:avLst/>
          </a:prstGeom>
          <a:noFill/>
          <a:ln/>
        </p:spPr>
        <p:txBody>
          <a:bodyPr wrap="square" lIns="0" tIns="0" rIns="0" bIns="0" rtlCol="0" anchor="ctr"/>
          <a:lstStyle/>
          <a:p>
            <a:pPr marL="0" indent="0" algn="ctr">
              <a:buNone/>
            </a:pPr>
            <a:r>
              <a:rPr lang="en-US" sz="1200" b="1" dirty="0">
                <a:solidFill>
                  <a:srgbClr val="111111"/>
                </a:solidFill>
              </a:rPr>
              <a:t>Victim</a:t>
            </a:r>
            <a:endParaRPr lang="en-US" sz="1200" dirty="0"/>
          </a:p>
        </p:txBody>
      </p:sp>
      <p:sp>
        <p:nvSpPr>
          <p:cNvPr id="30" name="Node Account A"/>
          <p:cNvSpPr/>
          <p:nvPr/>
        </p:nvSpPr>
        <p:spPr>
          <a:xfrm>
            <a:off x="8394192" y="2816352"/>
            <a:ext cx="768096" cy="768096"/>
          </a:xfrm>
          <a:prstGeom prst="ellipse">
            <a:avLst/>
          </a:prstGeom>
          <a:solidFill>
            <a:srgbClr val="FFFFFF"/>
          </a:solidFill>
          <a:ln w="31750">
            <a:solidFill>
              <a:srgbClr val="111111"/>
            </a:solidFill>
            <a:prstDash val="solid"/>
          </a:ln>
          <a:effectLst>
            <a:outerShdw blurRad="127000" dist="38100" dir="5400000" algn="bl" rotWithShape="0">
              <a:srgbClr val="000000">
                <a:alpha val="13000"/>
              </a:srgbClr>
            </a:outerShdw>
          </a:effectLst>
        </p:spPr>
      </p:sp>
      <p:sp>
        <p:nvSpPr>
          <p:cNvPr id="31" name="Label Account A"/>
          <p:cNvSpPr txBox="1"/>
          <p:nvPr/>
        </p:nvSpPr>
        <p:spPr>
          <a:xfrm>
            <a:off x="8229600" y="3630168"/>
            <a:ext cx="1097280" cy="274320"/>
          </a:xfrm>
          <a:prstGeom prst="rect">
            <a:avLst/>
          </a:prstGeom>
          <a:noFill/>
          <a:ln/>
        </p:spPr>
        <p:txBody>
          <a:bodyPr wrap="square" lIns="0" tIns="0" rIns="0" bIns="0" rtlCol="0" anchor="ctr"/>
          <a:lstStyle/>
          <a:p>
            <a:pPr marL="0" indent="0" algn="ctr">
              <a:buNone/>
            </a:pPr>
            <a:r>
              <a:rPr lang="en-US" sz="1200" b="1" dirty="0">
                <a:solidFill>
                  <a:srgbClr val="111111"/>
                </a:solidFill>
              </a:rPr>
              <a:t>Account A</a:t>
            </a:r>
            <a:endParaRPr lang="en-US" sz="1200" dirty="0"/>
          </a:p>
        </p:txBody>
      </p:sp>
      <p:sp>
        <p:nvSpPr>
          <p:cNvPr id="32" name="Node Account B"/>
          <p:cNvSpPr/>
          <p:nvPr/>
        </p:nvSpPr>
        <p:spPr>
          <a:xfrm>
            <a:off x="9765792" y="1810512"/>
            <a:ext cx="768096" cy="768096"/>
          </a:xfrm>
          <a:prstGeom prst="ellipse">
            <a:avLst/>
          </a:prstGeom>
          <a:solidFill>
            <a:srgbClr val="FFFFFF"/>
          </a:solidFill>
          <a:ln w="31750">
            <a:solidFill>
              <a:srgbClr val="111111"/>
            </a:solidFill>
            <a:prstDash val="solid"/>
          </a:ln>
          <a:effectLst>
            <a:outerShdw blurRad="127000" dist="38100" dir="5400000" algn="bl" rotWithShape="0">
              <a:srgbClr val="000000">
                <a:alpha val="13000"/>
              </a:srgbClr>
            </a:outerShdw>
          </a:effectLst>
        </p:spPr>
      </p:sp>
      <p:sp>
        <p:nvSpPr>
          <p:cNvPr id="33" name="Label Account B"/>
          <p:cNvSpPr txBox="1"/>
          <p:nvPr/>
        </p:nvSpPr>
        <p:spPr>
          <a:xfrm>
            <a:off x="9601200" y="1490472"/>
            <a:ext cx="1097280" cy="274320"/>
          </a:xfrm>
          <a:prstGeom prst="rect">
            <a:avLst/>
          </a:prstGeom>
          <a:noFill/>
          <a:ln/>
        </p:spPr>
        <p:txBody>
          <a:bodyPr wrap="square" lIns="0" tIns="0" rIns="0" bIns="0" rtlCol="0" anchor="ctr"/>
          <a:lstStyle/>
          <a:p>
            <a:pPr marL="0" indent="0" algn="ctr">
              <a:buNone/>
            </a:pPr>
            <a:r>
              <a:rPr lang="en-US" sz="1200" b="1" dirty="0">
                <a:solidFill>
                  <a:srgbClr val="111111"/>
                </a:solidFill>
              </a:rPr>
              <a:t>Account B</a:t>
            </a:r>
            <a:endParaRPr lang="en-US" sz="1200" dirty="0"/>
          </a:p>
        </p:txBody>
      </p:sp>
      <p:sp>
        <p:nvSpPr>
          <p:cNvPr id="34" name="Node Account C"/>
          <p:cNvSpPr/>
          <p:nvPr/>
        </p:nvSpPr>
        <p:spPr>
          <a:xfrm>
            <a:off x="10131552" y="3730752"/>
            <a:ext cx="768096" cy="768096"/>
          </a:xfrm>
          <a:prstGeom prst="ellipse">
            <a:avLst/>
          </a:prstGeom>
          <a:solidFill>
            <a:srgbClr val="FFFFFF"/>
          </a:solidFill>
          <a:ln w="31750">
            <a:solidFill>
              <a:srgbClr val="111111"/>
            </a:solidFill>
            <a:prstDash val="solid"/>
          </a:ln>
          <a:effectLst>
            <a:outerShdw blurRad="127000" dist="38100" dir="5400000" algn="bl" rotWithShape="0">
              <a:srgbClr val="000000">
                <a:alpha val="13000"/>
              </a:srgbClr>
            </a:outerShdw>
          </a:effectLst>
        </p:spPr>
      </p:sp>
      <p:sp>
        <p:nvSpPr>
          <p:cNvPr id="35" name="Label Account C"/>
          <p:cNvSpPr txBox="1"/>
          <p:nvPr/>
        </p:nvSpPr>
        <p:spPr>
          <a:xfrm>
            <a:off x="9966960" y="4544568"/>
            <a:ext cx="1097280" cy="274320"/>
          </a:xfrm>
          <a:prstGeom prst="rect">
            <a:avLst/>
          </a:prstGeom>
          <a:noFill/>
          <a:ln/>
        </p:spPr>
        <p:txBody>
          <a:bodyPr wrap="square" lIns="0" tIns="0" rIns="0" bIns="0" rtlCol="0" anchor="ctr"/>
          <a:lstStyle/>
          <a:p>
            <a:pPr marL="0" indent="0" algn="ctr">
              <a:buNone/>
            </a:pPr>
            <a:r>
              <a:rPr lang="en-US" sz="1200" b="1" dirty="0">
                <a:solidFill>
                  <a:srgbClr val="111111"/>
                </a:solidFill>
              </a:rPr>
              <a:t>Account C</a:t>
            </a:r>
            <a:endParaRPr lang="en-US" sz="1200" dirty="0"/>
          </a:p>
        </p:txBody>
      </p:sp>
      <p:sp>
        <p:nvSpPr>
          <p:cNvPr id="36" name="Node Cash-out"/>
          <p:cNvSpPr/>
          <p:nvPr/>
        </p:nvSpPr>
        <p:spPr>
          <a:xfrm>
            <a:off x="8759952" y="4828032"/>
            <a:ext cx="768096" cy="768096"/>
          </a:xfrm>
          <a:prstGeom prst="ellipse">
            <a:avLst/>
          </a:prstGeom>
          <a:solidFill>
            <a:srgbClr val="7A0A12"/>
          </a:solidFill>
          <a:ln w="31750">
            <a:solidFill>
              <a:srgbClr val="FFFFFF"/>
            </a:solidFill>
            <a:prstDash val="solid"/>
          </a:ln>
          <a:effectLst>
            <a:outerShdw blurRad="127000" dist="38100" dir="5400000" algn="bl" rotWithShape="0">
              <a:srgbClr val="000000">
                <a:alpha val="13000"/>
              </a:srgbClr>
            </a:outerShdw>
          </a:effectLst>
        </p:spPr>
      </p:sp>
      <p:sp>
        <p:nvSpPr>
          <p:cNvPr id="37" name="Label Cash-out"/>
          <p:cNvSpPr txBox="1"/>
          <p:nvPr/>
        </p:nvSpPr>
        <p:spPr>
          <a:xfrm>
            <a:off x="8595360" y="5641848"/>
            <a:ext cx="1097280" cy="274320"/>
          </a:xfrm>
          <a:prstGeom prst="rect">
            <a:avLst/>
          </a:prstGeom>
          <a:noFill/>
          <a:ln/>
        </p:spPr>
        <p:txBody>
          <a:bodyPr wrap="square" lIns="0" tIns="0" rIns="0" bIns="0" rtlCol="0" anchor="ctr"/>
          <a:lstStyle/>
          <a:p>
            <a:pPr marL="0" indent="0" algn="ctr">
              <a:buNone/>
            </a:pPr>
            <a:r>
              <a:rPr lang="en-US" sz="1200" b="1" dirty="0">
                <a:solidFill>
                  <a:srgbClr val="111111"/>
                </a:solidFill>
              </a:rPr>
              <a:t>Cash-out</a:t>
            </a:r>
            <a:endParaRPr lang="en-US" sz="1200" dirty="0"/>
          </a:p>
        </p:txBody>
      </p:sp>
      <p:sp>
        <p:nvSpPr>
          <p:cNvPr id="38" name="Arrow badge"/>
          <p:cNvSpPr/>
          <p:nvPr/>
        </p:nvSpPr>
        <p:spPr>
          <a:xfrm>
            <a:off x="3337560" y="2834640"/>
            <a:ext cx="566928" cy="566928"/>
          </a:xfrm>
          <a:prstGeom prst="ellipse">
            <a:avLst/>
          </a:prstGeom>
          <a:solidFill>
            <a:srgbClr val="A30D1D"/>
          </a:solidFill>
          <a:ln w="12700">
            <a:solidFill>
              <a:srgbClr val="A30D1D"/>
            </a:solidFill>
            <a:prstDash val="solid"/>
          </a:ln>
        </p:spPr>
      </p:sp>
      <p:pic>
        <p:nvPicPr>
          <p:cNvPr id="39" name="Arrow badge icon" descr="Decorative arrow"/>
          <p:cNvPicPr>
            <a:picLocks noChangeAspect="1"/>
          </p:cNvPicPr>
          <p:nvPr/>
        </p:nvPicPr>
        <p:blipFill>
          <a:blip r:embed="rId3"/>
          <a:stretch>
            <a:fillRect/>
          </a:stretch>
        </p:blipFill>
        <p:spPr>
          <a:xfrm rot="2700000">
            <a:off x="3493008" y="2990088"/>
            <a:ext cx="256032" cy="2560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Problem </a:t>
            </a:r>
            <a:r>
              <a:rPr lang="en-US" sz="3600" b="1" dirty="0">
                <a:solidFill>
                  <a:srgbClr val="A30D1D"/>
                </a:solidFill>
                <a:latin typeface="Arial" pitchFamily="34" charset="0"/>
                <a:ea typeface="Arial" pitchFamily="34" charset="-122"/>
                <a:cs typeface="Arial" pitchFamily="34" charset="-120"/>
              </a:rPr>
              <a:t>Understanding</a:t>
            </a:r>
            <a:endParaRPr lang="en-US" sz="3600" dirty="0"/>
          </a:p>
        </p:txBody>
      </p:sp>
      <p:sp>
        <p:nvSpPr>
          <p:cNvPr id="3" name="FT-03 banner"/>
          <p:cNvSpPr/>
          <p:nvPr/>
        </p:nvSpPr>
        <p:spPr>
          <a:xfrm>
            <a:off x="548640" y="1325880"/>
            <a:ext cx="11064240" cy="640080"/>
          </a:xfrm>
          <a:prstGeom prst="roundRect">
            <a:avLst>
              <a:gd name="adj" fmla="val 15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 name="FT-03 chip"/>
          <p:cNvSpPr/>
          <p:nvPr/>
        </p:nvSpPr>
        <p:spPr>
          <a:xfrm>
            <a:off x="731520" y="1463040"/>
            <a:ext cx="960120" cy="365760"/>
          </a:xfrm>
          <a:prstGeom prst="roundRect">
            <a:avLst>
              <a:gd name="adj" fmla="val 30000"/>
            </a:avLst>
          </a:prstGeom>
          <a:solidFill>
            <a:srgbClr val="A30D1D"/>
          </a:solidFill>
          <a:ln w="12700">
            <a:solidFill>
              <a:srgbClr val="A30D1D"/>
            </a:solidFill>
            <a:prstDash val="solid"/>
          </a:ln>
        </p:spPr>
      </p:sp>
      <p:sp>
        <p:nvSpPr>
          <p:cNvPr id="5" name="FT-03 chip label"/>
          <p:cNvSpPr txBox="1"/>
          <p:nvPr/>
        </p:nvSpPr>
        <p:spPr>
          <a:xfrm>
            <a:off x="731520" y="1463040"/>
            <a:ext cx="960120" cy="365760"/>
          </a:xfrm>
          <a:prstGeom prst="rect">
            <a:avLst/>
          </a:prstGeom>
          <a:noFill/>
          <a:ln/>
        </p:spPr>
        <p:txBody>
          <a:bodyPr wrap="square" lIns="0" tIns="0" rIns="0" bIns="0" rtlCol="0" anchor="ctr"/>
          <a:lstStyle/>
          <a:p>
            <a:pPr marL="0" indent="0" algn="ctr">
              <a:buNone/>
            </a:pPr>
            <a:r>
              <a:rPr lang="en-US" sz="1600" b="1" dirty="0">
                <a:solidFill>
                  <a:srgbClr val="FFFFFF"/>
                </a:solidFill>
              </a:rPr>
              <a:t>FT-03</a:t>
            </a:r>
            <a:endParaRPr lang="en-US" sz="1600" dirty="0"/>
          </a:p>
        </p:txBody>
      </p:sp>
      <p:sp>
        <p:nvSpPr>
          <p:cNvPr id="6" name="Problem statement title"/>
          <p:cNvSpPr txBox="1"/>
          <p:nvPr/>
        </p:nvSpPr>
        <p:spPr>
          <a:xfrm>
            <a:off x="1874520" y="1325880"/>
            <a:ext cx="6400800" cy="640080"/>
          </a:xfrm>
          <a:prstGeom prst="rect">
            <a:avLst/>
          </a:prstGeom>
          <a:noFill/>
          <a:ln/>
        </p:spPr>
        <p:txBody>
          <a:bodyPr wrap="square" lIns="0" tIns="0" rIns="0" bIns="0" rtlCol="0" anchor="ctr"/>
          <a:lstStyle/>
          <a:p>
            <a:pPr marL="0" indent="0" algn="l">
              <a:buNone/>
            </a:pPr>
            <a:r>
              <a:rPr lang="en-US" sz="2000" b="1" dirty="0">
                <a:solidFill>
                  <a:srgbClr val="111111"/>
                </a:solidFill>
              </a:rPr>
              <a:t>Mule account money-trail hunter</a:t>
            </a:r>
            <a:endParaRPr lang="en-US" sz="2000" dirty="0"/>
          </a:p>
        </p:txBody>
      </p:sp>
      <p:sp>
        <p:nvSpPr>
          <p:cNvPr id="7" name="Event label"/>
          <p:cNvSpPr txBox="1"/>
          <p:nvPr/>
        </p:nvSpPr>
        <p:spPr>
          <a:xfrm>
            <a:off x="8321040" y="1325880"/>
            <a:ext cx="3108960" cy="640080"/>
          </a:xfrm>
          <a:prstGeom prst="rect">
            <a:avLst/>
          </a:prstGeom>
          <a:noFill/>
          <a:ln/>
        </p:spPr>
        <p:txBody>
          <a:bodyPr wrap="square" lIns="0" tIns="0" rIns="0" bIns="0" rtlCol="0" anchor="ctr"/>
          <a:lstStyle/>
          <a:p>
            <a:pPr marL="0" indent="0" algn="r">
              <a:buNone/>
            </a:pPr>
            <a:r>
              <a:rPr lang="en-US" sz="1200" dirty="0">
                <a:solidFill>
                  <a:srgbClr val="6B6B6B"/>
                </a:solidFill>
              </a:rPr>
              <a:t>Hackatopia 2026 · FinTech</a:t>
            </a:r>
            <a:endParaRPr lang="en-US" sz="1200" dirty="0"/>
          </a:p>
        </p:txBody>
      </p:sp>
      <p:sp>
        <p:nvSpPr>
          <p:cNvPr id="8" name="Problem card 1"/>
          <p:cNvSpPr/>
          <p:nvPr/>
        </p:nvSpPr>
        <p:spPr>
          <a:xfrm>
            <a:off x="548640" y="2103120"/>
            <a:ext cx="3505200" cy="21945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9" name="Problem card title 1"/>
          <p:cNvSpPr txBox="1"/>
          <p:nvPr/>
        </p:nvSpPr>
        <p:spPr>
          <a:xfrm>
            <a:off x="777240" y="2286000"/>
            <a:ext cx="3048000" cy="320040"/>
          </a:xfrm>
          <a:prstGeom prst="rect">
            <a:avLst/>
          </a:prstGeom>
          <a:noFill/>
          <a:ln/>
        </p:spPr>
        <p:txBody>
          <a:bodyPr wrap="square" lIns="0" tIns="0" rIns="0" bIns="0" rtlCol="0" anchor="t"/>
          <a:lstStyle/>
          <a:p>
            <a:pPr marL="0" indent="0" algn="l">
              <a:buNone/>
            </a:pPr>
            <a:r>
              <a:rPr lang="en-US" sz="1800" b="1" dirty="0">
                <a:solidFill>
                  <a:srgbClr val="A30D1D"/>
                </a:solidFill>
              </a:rPr>
              <a:t>What is the problem?</a:t>
            </a:r>
            <a:endParaRPr lang="en-US" sz="1800" dirty="0"/>
          </a:p>
        </p:txBody>
      </p:sp>
      <p:sp>
        <p:nvSpPr>
          <p:cNvPr id="10" name="Problem card text 1"/>
          <p:cNvSpPr txBox="1"/>
          <p:nvPr/>
        </p:nvSpPr>
        <p:spPr>
          <a:xfrm>
            <a:off x="777240" y="2697480"/>
            <a:ext cx="3048000" cy="1463040"/>
          </a:xfrm>
          <a:prstGeom prst="rect">
            <a:avLst/>
          </a:prstGeom>
          <a:noFill/>
          <a:ln/>
        </p:spPr>
        <p:txBody>
          <a:bodyPr wrap="square" lIns="0" tIns="0" rIns="0" bIns="0" rtlCol="0" anchor="t"/>
          <a:lstStyle/>
          <a:p>
            <a:pPr marL="0" indent="0" algn="l">
              <a:buNone/>
            </a:pPr>
            <a:r>
              <a:rPr lang="en-US" sz="1400" dirty="0">
                <a:solidFill>
                  <a:srgbClr val="3A3A3A"/>
                </a:solidFill>
              </a:rPr>
              <a:t>In “digital arrest” and investment scams, victims’ money moves within minutes through chains of rented “mule” bank accounts. Rule-based systems see one account at a time and miss the network.</a:t>
            </a:r>
            <a:endParaRPr lang="en-US" sz="1400" dirty="0"/>
          </a:p>
        </p:txBody>
      </p:sp>
      <p:sp>
        <p:nvSpPr>
          <p:cNvPr id="11" name="Problem card 2"/>
          <p:cNvSpPr/>
          <p:nvPr/>
        </p:nvSpPr>
        <p:spPr>
          <a:xfrm>
            <a:off x="4328160" y="2103120"/>
            <a:ext cx="3505200" cy="21945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2" name="Problem card title 2"/>
          <p:cNvSpPr txBox="1"/>
          <p:nvPr/>
        </p:nvSpPr>
        <p:spPr>
          <a:xfrm>
            <a:off x="4556760" y="2286000"/>
            <a:ext cx="3048000" cy="320040"/>
          </a:xfrm>
          <a:prstGeom prst="rect">
            <a:avLst/>
          </a:prstGeom>
          <a:noFill/>
          <a:ln/>
        </p:spPr>
        <p:txBody>
          <a:bodyPr wrap="square" lIns="0" tIns="0" rIns="0" bIns="0" rtlCol="0" anchor="t"/>
          <a:lstStyle/>
          <a:p>
            <a:pPr marL="0" indent="0" algn="l">
              <a:buNone/>
            </a:pPr>
            <a:r>
              <a:rPr lang="en-US" sz="1800" b="1" dirty="0">
                <a:solidFill>
                  <a:srgbClr val="A30D1D"/>
                </a:solidFill>
              </a:rPr>
              <a:t>Who is affected?</a:t>
            </a:r>
            <a:endParaRPr lang="en-US" sz="1800" dirty="0"/>
          </a:p>
        </p:txBody>
      </p:sp>
      <p:sp>
        <p:nvSpPr>
          <p:cNvPr id="13" name="Problem card text 2"/>
          <p:cNvSpPr txBox="1"/>
          <p:nvPr/>
        </p:nvSpPr>
        <p:spPr>
          <a:xfrm>
            <a:off x="4556760" y="2697480"/>
            <a:ext cx="3048000" cy="1463040"/>
          </a:xfrm>
          <a:prstGeom prst="rect">
            <a:avLst/>
          </a:prstGeom>
          <a:noFill/>
          <a:ln/>
        </p:spPr>
        <p:txBody>
          <a:bodyPr wrap="square" lIns="0" tIns="0" rIns="0" bIns="0" rtlCol="0" anchor="t"/>
          <a:lstStyle/>
          <a:p>
            <a:pPr marL="0" indent="0" algn="l">
              <a:buNone/>
            </a:pPr>
            <a:r>
              <a:rPr lang="en-US" sz="1400" dirty="0">
                <a:solidFill>
                  <a:srgbClr val="3A3A3A"/>
                </a:solidFill>
              </a:rPr>
              <a:t>Scam victims, including elderly people targeted in “digital arrest” scams, and the banks and investigators who must trace and stop the money.</a:t>
            </a:r>
            <a:endParaRPr lang="en-US" sz="1400" dirty="0"/>
          </a:p>
        </p:txBody>
      </p:sp>
      <p:sp>
        <p:nvSpPr>
          <p:cNvPr id="14" name="Problem card 3"/>
          <p:cNvSpPr/>
          <p:nvPr/>
        </p:nvSpPr>
        <p:spPr>
          <a:xfrm>
            <a:off x="8107680" y="2103120"/>
            <a:ext cx="3505200" cy="21945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5" name="Problem card title 3"/>
          <p:cNvSpPr txBox="1"/>
          <p:nvPr/>
        </p:nvSpPr>
        <p:spPr>
          <a:xfrm>
            <a:off x="8336280" y="2286000"/>
            <a:ext cx="3048000" cy="320040"/>
          </a:xfrm>
          <a:prstGeom prst="rect">
            <a:avLst/>
          </a:prstGeom>
          <a:noFill/>
          <a:ln/>
        </p:spPr>
        <p:txBody>
          <a:bodyPr wrap="square" lIns="0" tIns="0" rIns="0" bIns="0" rtlCol="0" anchor="t"/>
          <a:lstStyle/>
          <a:p>
            <a:pPr marL="0" indent="0" algn="l">
              <a:buNone/>
            </a:pPr>
            <a:r>
              <a:rPr lang="en-US" sz="1800" b="1" dirty="0">
                <a:solidFill>
                  <a:srgbClr val="A30D1D"/>
                </a:solidFill>
              </a:rPr>
              <a:t>Why does it matter?</a:t>
            </a:r>
            <a:endParaRPr lang="en-US" sz="1800" dirty="0"/>
          </a:p>
        </p:txBody>
      </p:sp>
      <p:sp>
        <p:nvSpPr>
          <p:cNvPr id="16" name="Problem card text 3"/>
          <p:cNvSpPr txBox="1"/>
          <p:nvPr/>
        </p:nvSpPr>
        <p:spPr>
          <a:xfrm>
            <a:off x="8336280" y="2697480"/>
            <a:ext cx="3048000" cy="1463040"/>
          </a:xfrm>
          <a:prstGeom prst="rect">
            <a:avLst/>
          </a:prstGeom>
          <a:noFill/>
          <a:ln/>
        </p:spPr>
        <p:txBody>
          <a:bodyPr wrap="square" lIns="0" tIns="0" rIns="0" bIns="0" rtlCol="0" anchor="t"/>
          <a:lstStyle/>
          <a:p>
            <a:pPr marL="0" indent="0" algn="l">
              <a:buNone/>
            </a:pPr>
            <a:r>
              <a:rPr lang="en-US" sz="1400" dirty="0">
                <a:solidFill>
                  <a:srgbClr val="3A3A3A"/>
                </a:solidFill>
              </a:rPr>
              <a:t>Once money has moved through the mule chain, it is hard to get back: about three in every four rupees lost to cyber fraud in India are not recovered.</a:t>
            </a:r>
            <a:endParaRPr lang="en-US" sz="1400" dirty="0"/>
          </a:p>
        </p:txBody>
      </p:sp>
      <p:sp>
        <p:nvSpPr>
          <p:cNvPr id="17" name="Statistic card 1"/>
          <p:cNvSpPr/>
          <p:nvPr/>
        </p:nvSpPr>
        <p:spPr>
          <a:xfrm>
            <a:off x="548640" y="4480560"/>
            <a:ext cx="5394960" cy="1188720"/>
          </a:xfrm>
          <a:prstGeom prst="roundRect">
            <a:avLst>
              <a:gd name="adj" fmla="val 8000"/>
            </a:avLst>
          </a:prstGeom>
          <a:solidFill>
            <a:srgbClr val="FFFFFF"/>
          </a:solidFill>
          <a:ln w="19050">
            <a:solidFill>
              <a:srgbClr val="A30D1D"/>
            </a:solidFill>
            <a:prstDash val="solid"/>
          </a:ln>
          <a:effectLst>
            <a:outerShdw blurRad="127000" dist="38100" dir="5400000" algn="bl" rotWithShape="0">
              <a:srgbClr val="000000">
                <a:alpha val="13000"/>
              </a:srgbClr>
            </a:outerShdw>
          </a:effectLst>
        </p:spPr>
      </p:sp>
      <p:sp>
        <p:nvSpPr>
          <p:cNvPr id="18" name="Statistic number 1"/>
          <p:cNvSpPr txBox="1"/>
          <p:nvPr/>
        </p:nvSpPr>
        <p:spPr>
          <a:xfrm>
            <a:off x="548640" y="4572000"/>
            <a:ext cx="5394960" cy="594360"/>
          </a:xfrm>
          <a:prstGeom prst="rect">
            <a:avLst/>
          </a:prstGeom>
          <a:noFill/>
          <a:ln/>
        </p:spPr>
        <p:txBody>
          <a:bodyPr wrap="square" lIns="0" tIns="0" rIns="0" bIns="0" rtlCol="0" anchor="ctr"/>
          <a:lstStyle/>
          <a:p>
            <a:pPr marL="0" indent="0" algn="ctr">
              <a:buNone/>
            </a:pPr>
            <a:r>
              <a:rPr lang="en-US" sz="3200" b="1" dirty="0">
                <a:solidFill>
                  <a:srgbClr val="111111"/>
                </a:solidFill>
              </a:rPr>
              <a:t>₹22,495 crore</a:t>
            </a:r>
            <a:endParaRPr lang="en-US" sz="3200" dirty="0"/>
          </a:p>
        </p:txBody>
      </p:sp>
      <p:sp>
        <p:nvSpPr>
          <p:cNvPr id="19" name="Statistic label 1"/>
          <p:cNvSpPr txBox="1"/>
          <p:nvPr/>
        </p:nvSpPr>
        <p:spPr>
          <a:xfrm>
            <a:off x="777240" y="5206365"/>
            <a:ext cx="4937760" cy="365760"/>
          </a:xfrm>
          <a:prstGeom prst="rect">
            <a:avLst/>
          </a:prstGeom>
          <a:noFill/>
          <a:ln/>
        </p:spPr>
        <p:txBody>
          <a:bodyPr wrap="square" lIns="0" tIns="0" rIns="0" bIns="0" rtlCol="0" anchor="t"/>
          <a:lstStyle/>
          <a:p>
            <a:pPr marL="0" indent="0" algn="ctr">
              <a:buNone/>
            </a:pPr>
            <a:r>
              <a:rPr lang="en-US" sz="1200" dirty="0">
                <a:solidFill>
                  <a:srgbClr val="3A3A3A"/>
                </a:solidFill>
              </a:rPr>
              <a:t>Reported cyber-fraud losses in India in 2025 (MHA / I4C)</a:t>
            </a:r>
            <a:endParaRPr lang="en-US" sz="1200" dirty="0"/>
          </a:p>
        </p:txBody>
      </p:sp>
      <p:sp>
        <p:nvSpPr>
          <p:cNvPr id="20" name="Statistic card 2"/>
          <p:cNvSpPr/>
          <p:nvPr/>
        </p:nvSpPr>
        <p:spPr>
          <a:xfrm>
            <a:off x="6217920" y="4480560"/>
            <a:ext cx="5394960" cy="1188720"/>
          </a:xfrm>
          <a:prstGeom prst="roundRect">
            <a:avLst>
              <a:gd name="adj" fmla="val 8000"/>
            </a:avLst>
          </a:prstGeom>
          <a:solidFill>
            <a:srgbClr val="FFFFFF"/>
          </a:solidFill>
          <a:ln w="19050">
            <a:solidFill>
              <a:srgbClr val="111111"/>
            </a:solidFill>
            <a:prstDash val="solid"/>
          </a:ln>
          <a:effectLst>
            <a:outerShdw blurRad="127000" dist="38100" dir="5400000" algn="bl" rotWithShape="0">
              <a:srgbClr val="000000">
                <a:alpha val="13000"/>
              </a:srgbClr>
            </a:outerShdw>
          </a:effectLst>
        </p:spPr>
      </p:sp>
      <p:sp>
        <p:nvSpPr>
          <p:cNvPr id="21" name="Statistic number 2"/>
          <p:cNvSpPr txBox="1"/>
          <p:nvPr/>
        </p:nvSpPr>
        <p:spPr>
          <a:xfrm>
            <a:off x="6217920" y="4572000"/>
            <a:ext cx="5394960" cy="594360"/>
          </a:xfrm>
          <a:prstGeom prst="rect">
            <a:avLst/>
          </a:prstGeom>
          <a:noFill/>
          <a:ln/>
        </p:spPr>
        <p:txBody>
          <a:bodyPr wrap="square" lIns="0" tIns="0" rIns="0" bIns="0" rtlCol="0" anchor="ctr"/>
          <a:lstStyle/>
          <a:p>
            <a:pPr marL="0" indent="0" algn="ctr">
              <a:buNone/>
            </a:pPr>
            <a:r>
              <a:rPr lang="en-US" sz="3200" b="1" dirty="0">
                <a:solidFill>
                  <a:srgbClr val="111111"/>
                </a:solidFill>
              </a:rPr>
              <a:t>₹1,918 crore</a:t>
            </a:r>
            <a:endParaRPr lang="en-US" sz="3200" dirty="0"/>
          </a:p>
        </p:txBody>
      </p:sp>
      <p:sp>
        <p:nvSpPr>
          <p:cNvPr id="22" name="Statistic label 2"/>
          <p:cNvSpPr txBox="1"/>
          <p:nvPr/>
        </p:nvSpPr>
        <p:spPr>
          <a:xfrm>
            <a:off x="6446520" y="5206365"/>
            <a:ext cx="4937760" cy="365760"/>
          </a:xfrm>
          <a:prstGeom prst="rect">
            <a:avLst/>
          </a:prstGeom>
          <a:noFill/>
          <a:ln/>
        </p:spPr>
        <p:txBody>
          <a:bodyPr wrap="square" lIns="0" tIns="0" rIns="0" bIns="0" rtlCol="0" anchor="t"/>
          <a:lstStyle/>
          <a:p>
            <a:pPr marL="0" indent="0" algn="ctr">
              <a:buNone/>
            </a:pPr>
            <a:r>
              <a:rPr lang="en-US" sz="1200" dirty="0">
                <a:solidFill>
                  <a:srgbClr val="3A3A3A"/>
                </a:solidFill>
              </a:rPr>
              <a:t>Lost to digital arrest scams in 2024 across 1,23,672 cases (I4C)</a:t>
            </a:r>
            <a:endParaRPr lang="en-US" sz="1200" dirty="0"/>
          </a:p>
        </p:txBody>
      </p:sp>
      <p:sp>
        <p:nvSpPr>
          <p:cNvPr id="23" name="Current situation"/>
          <p:cNvSpPr txBox="1"/>
          <p:nvPr/>
        </p:nvSpPr>
        <p:spPr>
          <a:xfrm>
            <a:off x="548640" y="5760720"/>
            <a:ext cx="11064240" cy="274320"/>
          </a:xfrm>
          <a:prstGeom prst="rect">
            <a:avLst/>
          </a:prstGeom>
          <a:noFill/>
          <a:ln/>
        </p:spPr>
        <p:txBody>
          <a:bodyPr wrap="square" lIns="0" tIns="0" rIns="0" bIns="0" rtlCol="0" anchor="ctr"/>
          <a:lstStyle/>
          <a:p>
            <a:pPr marL="0" indent="0" algn="l">
              <a:buNone/>
            </a:pPr>
            <a:r>
              <a:rPr lang="en-US" sz="1200" i="1" dirty="0">
                <a:solidFill>
                  <a:srgbClr val="B45309"/>
                </a:solidFill>
              </a:rPr>
              <a:t>Current situation: digital arrest cases fell to 17,264 in 2025 (₹644 crore), yet overall cyber-fraud losses stayed near ₹22,500 crore.</a:t>
            </a:r>
            <a:endParaRPr lang="en-US" sz="1200" dirty="0"/>
          </a:p>
        </p:txBody>
      </p:sp>
      <p:sp>
        <p:nvSpPr>
          <p:cNvPr id="24" name="Sources"/>
          <p:cNvSpPr txBox="1"/>
          <p:nvPr/>
        </p:nvSpPr>
        <p:spPr>
          <a:xfrm>
            <a:off x="548640" y="6080760"/>
            <a:ext cx="11064240" cy="228600"/>
          </a:xfrm>
          <a:prstGeom prst="rect">
            <a:avLst/>
          </a:prstGeom>
          <a:noFill/>
          <a:ln/>
        </p:spPr>
        <p:txBody>
          <a:bodyPr wrap="square" lIns="0" tIns="0" rIns="0" bIns="0" rtlCol="0" anchor="ctr"/>
          <a:lstStyle/>
          <a:p>
            <a:pPr marL="0" indent="0" algn="l">
              <a:buNone/>
            </a:pPr>
            <a:r>
              <a:rPr lang="en-US" sz="1000" dirty="0">
                <a:solidFill>
                  <a:srgbClr val="6B6B6B"/>
                </a:solidFill>
              </a:rPr>
              <a:t>Sources: MHA / I4C data reported by ThePrint (losses, digital arrest); Moneylife (recovery rate); Hackatopia 2026 problem statement FT-03.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Existing Solutions and </a:t>
            </a:r>
            <a:r>
              <a:rPr lang="en-US" sz="3600" b="1" dirty="0">
                <a:solidFill>
                  <a:srgbClr val="A30D1D"/>
                </a:solidFill>
                <a:latin typeface="Arial" pitchFamily="34" charset="0"/>
                <a:ea typeface="Arial" pitchFamily="34" charset="-122"/>
                <a:cs typeface="Arial" pitchFamily="34" charset="-120"/>
              </a:rPr>
              <a:t>Problem Gap</a:t>
            </a:r>
            <a:endParaRPr lang="en-US" sz="3600" dirty="0"/>
          </a:p>
        </p:txBody>
      </p:sp>
      <p:sp>
        <p:nvSpPr>
          <p:cNvPr id="3" name="Existing card 1"/>
          <p:cNvSpPr/>
          <p:nvPr/>
        </p:nvSpPr>
        <p:spPr>
          <a:xfrm>
            <a:off x="548640" y="1371600"/>
            <a:ext cx="5394960" cy="32918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 name="Existing card title 1"/>
          <p:cNvSpPr txBox="1"/>
          <p:nvPr/>
        </p:nvSpPr>
        <p:spPr>
          <a:xfrm>
            <a:off x="777240" y="1554480"/>
            <a:ext cx="4937760" cy="365760"/>
          </a:xfrm>
          <a:prstGeom prst="rect">
            <a:avLst/>
          </a:prstGeom>
          <a:noFill/>
          <a:ln/>
        </p:spPr>
        <p:txBody>
          <a:bodyPr wrap="square" lIns="0" tIns="0" rIns="0" bIns="0" rtlCol="0" anchor="t"/>
          <a:lstStyle/>
          <a:p>
            <a:pPr marL="0" indent="0" algn="l">
              <a:buNone/>
            </a:pPr>
            <a:r>
              <a:rPr lang="en-US" sz="1800" b="1" dirty="0">
                <a:solidFill>
                  <a:srgbClr val="111111"/>
                </a:solidFill>
              </a:rPr>
              <a:t>What is already being done</a:t>
            </a:r>
            <a:endParaRPr lang="en-US" sz="1800" dirty="0"/>
          </a:p>
        </p:txBody>
      </p:sp>
      <p:sp>
        <p:nvSpPr>
          <p:cNvPr id="5" name="Existing card list 1"/>
          <p:cNvSpPr txBox="1"/>
          <p:nvPr/>
        </p:nvSpPr>
        <p:spPr>
          <a:xfrm>
            <a:off x="777240" y="2011680"/>
            <a:ext cx="4937760" cy="2514600"/>
          </a:xfrm>
          <a:prstGeom prst="rect">
            <a:avLst/>
          </a:prstGeom>
          <a:noFill/>
          <a:ln/>
        </p:spPr>
        <p:txBody>
          <a:bodyPr wrap="square" lIns="0" tIns="0" rIns="0" bIns="0" rtlCol="0" anchor="t"/>
          <a:lstStyle/>
          <a:p>
            <a:pPr marL="228600" indent="-228600" algn="l">
              <a:spcAft>
                <a:spcPts val="400"/>
              </a:spcAft>
              <a:buSzPct val="100000"/>
              <a:buChar char="•"/>
            </a:pPr>
            <a:r>
              <a:rPr lang="en-US" sz="1400" dirty="0">
                <a:solidFill>
                  <a:srgbClr val="3A3A3A"/>
                </a:solidFill>
              </a:rPr>
              <a:t>I4C and MHA block SIM cards, WhatsApp accounts and IMEI numbers linked to digital arrest operations.</a:t>
            </a:r>
            <a:endParaRPr lang="en-US" sz="1400" dirty="0"/>
          </a:p>
          <a:p>
            <a:pPr marL="228600" indent="-228600" algn="l">
              <a:spcAft>
                <a:spcPts val="400"/>
              </a:spcAft>
              <a:buSzPct val="100000"/>
              <a:buChar char="•"/>
            </a:pPr>
            <a:r>
              <a:rPr lang="en-US" sz="1400" dirty="0">
                <a:solidFill>
                  <a:srgbClr val="3A3A3A"/>
                </a:solidFill>
              </a:rPr>
              <a:t>The 1930 helpline and cybercrime portal take complaints; the Cyber Fraud Mitigation Centre coordinates banks, telecoms and police.</a:t>
            </a:r>
            <a:endParaRPr lang="en-US" sz="1400" dirty="0"/>
          </a:p>
          <a:p>
            <a:pPr marL="228600" indent="-228600" algn="l">
              <a:spcAft>
                <a:spcPts val="400"/>
              </a:spcAft>
              <a:buSzPct val="100000"/>
              <a:buChar char="•"/>
            </a:pPr>
            <a:r>
              <a:rPr lang="en-US" sz="1400" dirty="0">
                <a:solidFill>
                  <a:srgbClr val="3A3A3A"/>
                </a:solidFill>
              </a:rPr>
              <a:t>Police and banks place holds on defrauded funds; Delhi held about 20% in 2025, up from about 10% in 2024.</a:t>
            </a:r>
            <a:endParaRPr lang="en-US" sz="1400" dirty="0"/>
          </a:p>
          <a:p>
            <a:pPr marL="228600" indent="-228600" algn="l">
              <a:spcAft>
                <a:spcPts val="400"/>
              </a:spcAft>
              <a:buSzPct val="100000"/>
              <a:buChar char="•"/>
            </a:pPr>
            <a:r>
              <a:rPr lang="en-US" sz="1400" dirty="0">
                <a:solidFill>
                  <a:srgbClr val="3A3A3A"/>
                </a:solidFill>
              </a:rPr>
              <a:t>Banks use rule-based systems to monitor transactions.</a:t>
            </a:r>
            <a:endParaRPr lang="en-US" sz="1400" dirty="0"/>
          </a:p>
        </p:txBody>
      </p:sp>
      <p:sp>
        <p:nvSpPr>
          <p:cNvPr id="6" name="Existing card 2"/>
          <p:cNvSpPr/>
          <p:nvPr/>
        </p:nvSpPr>
        <p:spPr>
          <a:xfrm>
            <a:off x="6217920" y="1371600"/>
            <a:ext cx="5394960" cy="32918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7" name="Existing card title 2"/>
          <p:cNvSpPr txBox="1"/>
          <p:nvPr/>
        </p:nvSpPr>
        <p:spPr>
          <a:xfrm>
            <a:off x="6446520" y="1554480"/>
            <a:ext cx="4937760" cy="365760"/>
          </a:xfrm>
          <a:prstGeom prst="rect">
            <a:avLst/>
          </a:prstGeom>
          <a:noFill/>
          <a:ln/>
        </p:spPr>
        <p:txBody>
          <a:bodyPr wrap="square" lIns="0" tIns="0" rIns="0" bIns="0" rtlCol="0" anchor="t"/>
          <a:lstStyle/>
          <a:p>
            <a:pPr marL="0" indent="0" algn="l">
              <a:buNone/>
            </a:pPr>
            <a:r>
              <a:rPr lang="en-US" sz="1800" b="1" dirty="0">
                <a:solidFill>
                  <a:srgbClr val="A30D1D"/>
                </a:solidFill>
              </a:rPr>
              <a:t>Where existing approaches fall short</a:t>
            </a:r>
            <a:endParaRPr lang="en-US" sz="1800" dirty="0"/>
          </a:p>
        </p:txBody>
      </p:sp>
      <p:sp>
        <p:nvSpPr>
          <p:cNvPr id="8" name="Existing card list 2"/>
          <p:cNvSpPr txBox="1"/>
          <p:nvPr/>
        </p:nvSpPr>
        <p:spPr>
          <a:xfrm>
            <a:off x="6446520" y="2011680"/>
            <a:ext cx="4937760" cy="2514600"/>
          </a:xfrm>
          <a:prstGeom prst="rect">
            <a:avLst/>
          </a:prstGeom>
          <a:noFill/>
          <a:ln/>
        </p:spPr>
        <p:txBody>
          <a:bodyPr wrap="square" lIns="0" tIns="0" rIns="0" bIns="0" rtlCol="0" anchor="t"/>
          <a:lstStyle/>
          <a:p>
            <a:pPr marL="228600" indent="-228600" algn="l">
              <a:spcAft>
                <a:spcPts val="400"/>
              </a:spcAft>
              <a:buSzPct val="100000"/>
              <a:buChar char="•"/>
            </a:pPr>
            <a:r>
              <a:rPr lang="en-US" sz="1400" dirty="0">
                <a:solidFill>
                  <a:srgbClr val="3A3A3A"/>
                </a:solidFill>
              </a:rPr>
              <a:t>Rule-based systems see one account at a time and miss the network.</a:t>
            </a:r>
            <a:endParaRPr lang="en-US" sz="1400" dirty="0"/>
          </a:p>
          <a:p>
            <a:pPr marL="228600" indent="-228600" algn="l">
              <a:spcAft>
                <a:spcPts val="400"/>
              </a:spcAft>
              <a:buSzPct val="100000"/>
              <a:buChar char="•"/>
            </a:pPr>
            <a:r>
              <a:rPr lang="en-US" sz="1400" dirty="0">
                <a:solidFill>
                  <a:srgbClr val="3A3A3A"/>
                </a:solidFill>
              </a:rPr>
              <a:t>Money moves within minutes through chains of mule accounts, so a response that starts after a complaint can arrive late.</a:t>
            </a:r>
            <a:endParaRPr lang="en-US" sz="1400" dirty="0"/>
          </a:p>
          <a:p>
            <a:pPr marL="228600" indent="-228600" algn="l">
              <a:spcAft>
                <a:spcPts val="400"/>
              </a:spcAft>
              <a:buSzPct val="100000"/>
              <a:buChar char="•"/>
            </a:pPr>
            <a:r>
              <a:rPr lang="en-US" sz="1400" dirty="0">
                <a:solidFill>
                  <a:srgbClr val="3A3A3A"/>
                </a:solidFill>
              </a:rPr>
              <a:t>Blocking SIMs and messaging accounts targets the scammer’s contact channel, not the path the money takes.</a:t>
            </a:r>
            <a:endParaRPr lang="en-US" sz="1400" dirty="0"/>
          </a:p>
          <a:p>
            <a:pPr marL="228600" indent="-228600" algn="l">
              <a:spcAft>
                <a:spcPts val="400"/>
              </a:spcAft>
              <a:buSzPct val="100000"/>
              <a:buChar char="•"/>
            </a:pPr>
            <a:r>
              <a:rPr lang="en-US" sz="1400" dirty="0">
                <a:solidFill>
                  <a:srgbClr val="3A3A3A"/>
                </a:solidFill>
              </a:rPr>
              <a:t>Held funds are released to victims only after a court order, and about three in four rupees lost are not recovered.</a:t>
            </a:r>
            <a:endParaRPr lang="en-US" sz="1400" dirty="0"/>
          </a:p>
        </p:txBody>
      </p:sp>
      <p:sp>
        <p:nvSpPr>
          <p:cNvPr id="9" name="Gap banner"/>
          <p:cNvSpPr/>
          <p:nvPr/>
        </p:nvSpPr>
        <p:spPr>
          <a:xfrm>
            <a:off x="548640" y="4846320"/>
            <a:ext cx="11064240" cy="1143000"/>
          </a:xfrm>
          <a:prstGeom prst="roundRect">
            <a:avLst>
              <a:gd name="adj" fmla="val 10000"/>
            </a:avLst>
          </a:prstGeom>
          <a:solidFill>
            <a:srgbClr val="A30D1D"/>
          </a:solidFill>
          <a:ln w="19050">
            <a:solidFill>
              <a:srgbClr val="A30D1D"/>
            </a:solidFill>
            <a:prstDash val="solid"/>
          </a:ln>
          <a:effectLst>
            <a:outerShdw blurRad="127000" dist="38100" dir="5400000" algn="bl" rotWithShape="0">
              <a:srgbClr val="000000">
                <a:alpha val="13000"/>
              </a:srgbClr>
            </a:outerShdw>
          </a:effectLst>
        </p:spPr>
      </p:sp>
      <p:sp>
        <p:nvSpPr>
          <p:cNvPr id="10" name="Gap label"/>
          <p:cNvSpPr txBox="1"/>
          <p:nvPr/>
        </p:nvSpPr>
        <p:spPr>
          <a:xfrm>
            <a:off x="777240" y="4937760"/>
            <a:ext cx="10607040" cy="228600"/>
          </a:xfrm>
          <a:prstGeom prst="rect">
            <a:avLst/>
          </a:prstGeom>
          <a:noFill/>
          <a:ln/>
        </p:spPr>
        <p:txBody>
          <a:bodyPr wrap="square" lIns="0" tIns="0" rIns="0" bIns="0" rtlCol="0" anchor="ctr"/>
          <a:lstStyle/>
          <a:p>
            <a:pPr marL="0" indent="0" algn="l">
              <a:buNone/>
            </a:pPr>
            <a:r>
              <a:rPr lang="en-US" sz="1200" b="1" dirty="0">
                <a:solidFill>
                  <a:srgbClr val="FFFFFF"/>
                </a:solidFill>
              </a:rPr>
              <a:t>THE GAP</a:t>
            </a:r>
            <a:endParaRPr lang="en-US" sz="1200" dirty="0"/>
          </a:p>
        </p:txBody>
      </p:sp>
      <p:sp>
        <p:nvSpPr>
          <p:cNvPr id="11" name="Gap statement"/>
          <p:cNvSpPr txBox="1"/>
          <p:nvPr/>
        </p:nvSpPr>
        <p:spPr>
          <a:xfrm>
            <a:off x="777240" y="5212080"/>
            <a:ext cx="10607040" cy="685800"/>
          </a:xfrm>
          <a:prstGeom prst="rect">
            <a:avLst/>
          </a:prstGeom>
          <a:noFill/>
          <a:ln/>
        </p:spPr>
        <p:txBody>
          <a:bodyPr wrap="square" lIns="0" tIns="0" rIns="0" bIns="0" rtlCol="0" anchor="t"/>
          <a:lstStyle/>
          <a:p>
            <a:pPr marL="0" indent="0" algn="l">
              <a:buNone/>
            </a:pPr>
            <a:r>
              <a:rPr lang="en-US" sz="1800" b="1" dirty="0">
                <a:solidFill>
                  <a:srgbClr val="FFFFFF"/>
                </a:solidFill>
              </a:rPr>
              <a:t>These approaches do not follow a reported scam payment hop by hop through the whole mule-account network, or rank the likely next account early enough for a bank to freeze it.</a:t>
            </a:r>
            <a:endParaRPr lang="en-US" sz="1800" dirty="0"/>
          </a:p>
        </p:txBody>
      </p:sp>
      <p:sp>
        <p:nvSpPr>
          <p:cNvPr id="12" name="Sources"/>
          <p:cNvSpPr txBox="1"/>
          <p:nvPr/>
        </p:nvSpPr>
        <p:spPr>
          <a:xfrm>
            <a:off x="548640" y="6080760"/>
            <a:ext cx="11064240" cy="228600"/>
          </a:xfrm>
          <a:prstGeom prst="rect">
            <a:avLst/>
          </a:prstGeom>
          <a:noFill/>
          <a:ln/>
        </p:spPr>
        <p:txBody>
          <a:bodyPr wrap="square" lIns="0" tIns="0" rIns="0" bIns="0" rtlCol="0" anchor="ctr"/>
          <a:lstStyle/>
          <a:p>
            <a:pPr marL="0" indent="0" algn="l">
              <a:buNone/>
            </a:pPr>
            <a:r>
              <a:rPr lang="en-US" sz="1000" dirty="0">
                <a:solidFill>
                  <a:srgbClr val="6B6B6B"/>
                </a:solidFill>
              </a:rPr>
              <a:t>Sources: ORF (Jul 2026) and ThePrint (I4C / MHA data); Tribune India (Delhi Police); Moneylife; Hackatopia 2026 problem statement FT-03.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Proposed </a:t>
            </a:r>
            <a:r>
              <a:rPr lang="en-US" sz="3600" b="1" dirty="0">
                <a:solidFill>
                  <a:srgbClr val="A30D1D"/>
                </a:solidFill>
                <a:latin typeface="Arial" pitchFamily="34" charset="0"/>
                <a:ea typeface="Arial" pitchFamily="34" charset="-122"/>
                <a:cs typeface="Arial" pitchFamily="34" charset="-120"/>
              </a:rPr>
              <a:t>Solution</a:t>
            </a:r>
            <a:endParaRPr lang="en-US" sz="3600" dirty="0"/>
          </a:p>
        </p:txBody>
      </p:sp>
      <p:sp>
        <p:nvSpPr>
          <p:cNvPr id="3" name="Overview"/>
          <p:cNvSpPr txBox="1"/>
          <p:nvPr/>
        </p:nvSpPr>
        <p:spPr>
          <a:xfrm>
            <a:off x="548640" y="1234440"/>
            <a:ext cx="11064240" cy="594360"/>
          </a:xfrm>
          <a:prstGeom prst="rect">
            <a:avLst/>
          </a:prstGeom>
          <a:noFill/>
          <a:ln/>
        </p:spPr>
        <p:txBody>
          <a:bodyPr wrap="square" lIns="0" tIns="0" rIns="0" bIns="0" rtlCol="0" anchor="t"/>
          <a:lstStyle/>
          <a:p>
            <a:pPr marL="0" indent="0" algn="l">
              <a:buNone/>
            </a:pPr>
            <a:r>
              <a:rPr lang="en-US" sz="1600" dirty="0">
                <a:solidFill>
                  <a:srgbClr val="3A3A3A"/>
                </a:solidFill>
              </a:rPr>
              <a:t>Money Trail Hunter is a graph-based investigation prototype: it follows a reported scam payment through the account network, estimates which accounts deserve a closer look, and ranks the likely next hop.</a:t>
            </a:r>
            <a:endParaRPr lang="en-US" sz="1600" dirty="0"/>
          </a:p>
        </p:txBody>
      </p:sp>
      <p:sp>
        <p:nvSpPr>
          <p:cNvPr id="4" name="Input card"/>
          <p:cNvSpPr/>
          <p:nvPr/>
        </p:nvSpPr>
        <p:spPr>
          <a:xfrm>
            <a:off x="548640" y="1965960"/>
            <a:ext cx="2926080" cy="2880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5" name="Input title"/>
          <p:cNvSpPr txBox="1"/>
          <p:nvPr/>
        </p:nvSpPr>
        <p:spPr>
          <a:xfrm>
            <a:off x="777240" y="2148840"/>
            <a:ext cx="2468880" cy="365760"/>
          </a:xfrm>
          <a:prstGeom prst="rect">
            <a:avLst/>
          </a:prstGeom>
          <a:noFill/>
          <a:ln/>
        </p:spPr>
        <p:txBody>
          <a:bodyPr wrap="square" lIns="0" tIns="0" rIns="0" bIns="0" rtlCol="0" anchor="t"/>
          <a:lstStyle/>
          <a:p>
            <a:pPr marL="0" indent="0" algn="l">
              <a:buNone/>
            </a:pPr>
            <a:r>
              <a:rPr lang="en-US" sz="1800" b="1" dirty="0">
                <a:solidFill>
                  <a:srgbClr val="A30D1D"/>
                </a:solidFill>
              </a:rPr>
              <a:t>Input</a:t>
            </a:r>
            <a:endParaRPr lang="en-US" sz="1800" dirty="0"/>
          </a:p>
        </p:txBody>
      </p:sp>
      <p:sp>
        <p:nvSpPr>
          <p:cNvPr id="6" name="Input list"/>
          <p:cNvSpPr txBox="1"/>
          <p:nvPr/>
        </p:nvSpPr>
        <p:spPr>
          <a:xfrm>
            <a:off x="777240" y="2606040"/>
            <a:ext cx="2468880" cy="1737360"/>
          </a:xfrm>
          <a:prstGeom prst="rect">
            <a:avLst/>
          </a:prstGeom>
          <a:noFill/>
          <a:ln/>
        </p:spPr>
        <p:txBody>
          <a:bodyPr wrap="square" lIns="0" tIns="0" rIns="0" bIns="0" rtlCol="0" anchor="t"/>
          <a:lstStyle/>
          <a:p>
            <a:pPr marL="228600" indent="-228600" algn="l">
              <a:spcAft>
                <a:spcPts val="400"/>
              </a:spcAft>
              <a:buSzPct val="100000"/>
              <a:buChar char="•"/>
            </a:pPr>
            <a:r>
              <a:rPr lang="en-US" sz="1400" dirty="0">
                <a:solidFill>
                  <a:srgbClr val="3A3A3A"/>
                </a:solidFill>
              </a:rPr>
              <a:t>Transaction records between accounts</a:t>
            </a:r>
            <a:endParaRPr lang="en-US" sz="1400" dirty="0"/>
          </a:p>
          <a:p>
            <a:pPr marL="228600" indent="-228600" algn="l">
              <a:spcAft>
                <a:spcPts val="400"/>
              </a:spcAft>
              <a:buSzPct val="100000"/>
              <a:buChar char="•"/>
            </a:pPr>
            <a:r>
              <a:rPr lang="en-US" sz="1400" dirty="0">
                <a:solidFill>
                  <a:srgbClr val="3A3A3A"/>
                </a:solidFill>
              </a:rPr>
              <a:t>A reported scam payment as the starting point</a:t>
            </a:r>
            <a:endParaRPr lang="en-US" sz="1400" dirty="0"/>
          </a:p>
        </p:txBody>
      </p:sp>
      <p:sp>
        <p:nvSpPr>
          <p:cNvPr id="7" name="Input note"/>
          <p:cNvSpPr txBox="1"/>
          <p:nvPr/>
        </p:nvSpPr>
        <p:spPr>
          <a:xfrm>
            <a:off x="777240" y="4251960"/>
            <a:ext cx="2468880" cy="457200"/>
          </a:xfrm>
          <a:prstGeom prst="rect">
            <a:avLst/>
          </a:prstGeom>
          <a:noFill/>
          <a:ln/>
        </p:spPr>
        <p:txBody>
          <a:bodyPr wrap="square" lIns="0" tIns="0" rIns="0" bIns="0" rtlCol="0" anchor="t"/>
          <a:lstStyle/>
          <a:p>
            <a:pPr marL="0" indent="0" algn="l">
              <a:buNone/>
            </a:pPr>
            <a:r>
              <a:rPr lang="en-US" sz="1100" i="1" dirty="0">
                <a:solidFill>
                  <a:srgbClr val="B45309"/>
                </a:solidFill>
              </a:rPr>
              <a:t>Synthetic data in the prototype</a:t>
            </a:r>
            <a:endParaRPr lang="en-US" sz="1100" dirty="0"/>
          </a:p>
        </p:txBody>
      </p:sp>
      <p:sp>
        <p:nvSpPr>
          <p:cNvPr id="8" name="Arrow input to processing"/>
          <p:cNvSpPr/>
          <p:nvPr/>
        </p:nvSpPr>
        <p:spPr>
          <a:xfrm>
            <a:off x="3520440" y="3406140"/>
            <a:ext cx="320040" cy="0"/>
          </a:xfrm>
          <a:prstGeom prst="line">
            <a:avLst/>
          </a:prstGeom>
          <a:noFill/>
          <a:ln w="38100">
            <a:solidFill>
              <a:srgbClr val="A30D1D"/>
            </a:solidFill>
            <a:prstDash val="solid"/>
            <a:tailEnd type="triangle"/>
          </a:ln>
        </p:spPr>
      </p:sp>
      <p:sp>
        <p:nvSpPr>
          <p:cNvPr id="9" name="Processing card"/>
          <p:cNvSpPr/>
          <p:nvPr/>
        </p:nvSpPr>
        <p:spPr>
          <a:xfrm>
            <a:off x="3886200" y="1965960"/>
            <a:ext cx="4389120" cy="2880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0" name="Processing title"/>
          <p:cNvSpPr txBox="1"/>
          <p:nvPr/>
        </p:nvSpPr>
        <p:spPr>
          <a:xfrm>
            <a:off x="4114800" y="2148840"/>
            <a:ext cx="3931920" cy="365760"/>
          </a:xfrm>
          <a:prstGeom prst="rect">
            <a:avLst/>
          </a:prstGeom>
          <a:noFill/>
          <a:ln/>
        </p:spPr>
        <p:txBody>
          <a:bodyPr wrap="square" lIns="0" tIns="0" rIns="0" bIns="0" rtlCol="0" anchor="t"/>
          <a:lstStyle/>
          <a:p>
            <a:pPr marL="0" indent="0" algn="l">
              <a:buNone/>
            </a:pPr>
            <a:r>
              <a:rPr lang="en-US" sz="1800" b="1" dirty="0">
                <a:solidFill>
                  <a:srgbClr val="A30D1D"/>
                </a:solidFill>
              </a:rPr>
              <a:t>Processing</a:t>
            </a:r>
            <a:endParaRPr lang="en-US" sz="1800" dirty="0"/>
          </a:p>
        </p:txBody>
      </p:sp>
      <p:sp>
        <p:nvSpPr>
          <p:cNvPr id="11" name="Processing tile 1"/>
          <p:cNvSpPr/>
          <p:nvPr/>
        </p:nvSpPr>
        <p:spPr>
          <a:xfrm>
            <a:off x="4023360" y="2697480"/>
            <a:ext cx="2011680" cy="868680"/>
          </a:xfrm>
          <a:prstGeom prst="roundRect">
            <a:avLst>
              <a:gd name="adj" fmla="val 8000"/>
            </a:avLst>
          </a:prstGeom>
          <a:solidFill>
            <a:srgbClr val="FFFFFF"/>
          </a:solidFill>
          <a:ln w="15875">
            <a:solidFill>
              <a:srgbClr val="111111"/>
            </a:solidFill>
            <a:prstDash val="solid"/>
          </a:ln>
        </p:spPr>
      </p:sp>
      <p:sp>
        <p:nvSpPr>
          <p:cNvPr id="12" name="Processing tile text 1"/>
          <p:cNvSpPr txBox="1"/>
          <p:nvPr/>
        </p:nvSpPr>
        <p:spPr>
          <a:xfrm>
            <a:off x="4114800" y="2743200"/>
            <a:ext cx="1828800" cy="777240"/>
          </a:xfrm>
          <a:prstGeom prst="rect">
            <a:avLst/>
          </a:prstGeom>
          <a:noFill/>
          <a:ln/>
        </p:spPr>
        <p:txBody>
          <a:bodyPr wrap="square" lIns="0" tIns="0" rIns="0" bIns="0" rtlCol="0" anchor="ctr"/>
          <a:lstStyle/>
          <a:p>
            <a:pPr marL="0" indent="0" algn="l">
              <a:buNone/>
            </a:pPr>
            <a:r>
              <a:rPr lang="en-US" sz="1200" b="1" dirty="0">
                <a:solidFill>
                  <a:srgbClr val="111111"/>
                </a:solidFill>
              </a:rPr>
              <a:t>Temporal BFS tracing</a:t>
            </a:r>
            <a:endParaRPr lang="en-US" sz="1200" dirty="0"/>
          </a:p>
          <a:p>
            <a:pPr marL="0" indent="0" algn="l">
              <a:buNone/>
            </a:pPr>
            <a:r>
              <a:rPr lang="en-US" sz="1000" b="1" dirty="0">
                <a:solidFill>
                  <a:srgbClr val="111111"/>
                </a:solidFill>
              </a:rPr>
              <a:t>GRAPH ALGORITHM</a:t>
            </a:r>
            <a:endParaRPr lang="en-US" sz="1000" dirty="0"/>
          </a:p>
        </p:txBody>
      </p:sp>
      <p:sp>
        <p:nvSpPr>
          <p:cNvPr id="13" name="Processing tile 2"/>
          <p:cNvSpPr/>
          <p:nvPr/>
        </p:nvSpPr>
        <p:spPr>
          <a:xfrm>
            <a:off x="6126480" y="2697480"/>
            <a:ext cx="2011680" cy="868680"/>
          </a:xfrm>
          <a:prstGeom prst="roundRect">
            <a:avLst>
              <a:gd name="adj" fmla="val 8000"/>
            </a:avLst>
          </a:prstGeom>
          <a:solidFill>
            <a:srgbClr val="FFFFFF"/>
          </a:solidFill>
          <a:ln w="15875">
            <a:solidFill>
              <a:srgbClr val="A30D1D"/>
            </a:solidFill>
            <a:prstDash val="solid"/>
          </a:ln>
        </p:spPr>
      </p:sp>
      <p:sp>
        <p:nvSpPr>
          <p:cNvPr id="14" name="Processing tile text 2"/>
          <p:cNvSpPr txBox="1"/>
          <p:nvPr/>
        </p:nvSpPr>
        <p:spPr>
          <a:xfrm>
            <a:off x="6217920" y="2743200"/>
            <a:ext cx="1828800" cy="777240"/>
          </a:xfrm>
          <a:prstGeom prst="rect">
            <a:avLst/>
          </a:prstGeom>
          <a:noFill/>
          <a:ln/>
        </p:spPr>
        <p:txBody>
          <a:bodyPr wrap="square" lIns="0" tIns="0" rIns="0" bIns="0" rtlCol="0" anchor="ctr"/>
          <a:lstStyle/>
          <a:p>
            <a:pPr marL="0" indent="0" algn="l">
              <a:buNone/>
            </a:pPr>
            <a:r>
              <a:rPr lang="en-US" sz="1200" b="1" dirty="0">
                <a:solidFill>
                  <a:srgbClr val="111111"/>
                </a:solidFill>
              </a:rPr>
              <a:t>Account-risk model (Random Forest)</a:t>
            </a:r>
            <a:endParaRPr lang="en-US" sz="1200" dirty="0"/>
          </a:p>
          <a:p>
            <a:pPr marL="0" indent="0" algn="l">
              <a:buNone/>
            </a:pPr>
            <a:r>
              <a:rPr lang="en-US" sz="1000" b="1" dirty="0">
                <a:solidFill>
                  <a:srgbClr val="A30D1D"/>
                </a:solidFill>
              </a:rPr>
              <a:t>MACHINE LEARNING</a:t>
            </a:r>
            <a:endParaRPr lang="en-US" sz="1000" dirty="0"/>
          </a:p>
        </p:txBody>
      </p:sp>
      <p:sp>
        <p:nvSpPr>
          <p:cNvPr id="15" name="Processing tile 3"/>
          <p:cNvSpPr/>
          <p:nvPr/>
        </p:nvSpPr>
        <p:spPr>
          <a:xfrm>
            <a:off x="4023360" y="3703320"/>
            <a:ext cx="2011680" cy="868680"/>
          </a:xfrm>
          <a:prstGeom prst="roundRect">
            <a:avLst>
              <a:gd name="adj" fmla="val 8000"/>
            </a:avLst>
          </a:prstGeom>
          <a:solidFill>
            <a:srgbClr val="FFFFFF"/>
          </a:solidFill>
          <a:ln w="15875">
            <a:solidFill>
              <a:srgbClr val="A30D1D"/>
            </a:solidFill>
            <a:prstDash val="solid"/>
          </a:ln>
        </p:spPr>
      </p:sp>
      <p:sp>
        <p:nvSpPr>
          <p:cNvPr id="16" name="Processing tile text 3"/>
          <p:cNvSpPr txBox="1"/>
          <p:nvPr/>
        </p:nvSpPr>
        <p:spPr>
          <a:xfrm>
            <a:off x="4114800" y="3749040"/>
            <a:ext cx="1828800" cy="777240"/>
          </a:xfrm>
          <a:prstGeom prst="rect">
            <a:avLst/>
          </a:prstGeom>
          <a:noFill/>
          <a:ln/>
        </p:spPr>
        <p:txBody>
          <a:bodyPr wrap="square" lIns="0" tIns="0" rIns="0" bIns="0" rtlCol="0" anchor="ctr"/>
          <a:lstStyle/>
          <a:p>
            <a:pPr marL="0" indent="0" algn="l">
              <a:buNone/>
            </a:pPr>
            <a:r>
              <a:rPr lang="en-US" sz="1200" b="1" dirty="0">
                <a:solidFill>
                  <a:srgbClr val="111111"/>
                </a:solidFill>
              </a:rPr>
              <a:t>Next-hop model (Random Forest)</a:t>
            </a:r>
            <a:endParaRPr lang="en-US" sz="1200" dirty="0"/>
          </a:p>
          <a:p>
            <a:pPr marL="0" indent="0" algn="l">
              <a:buNone/>
            </a:pPr>
            <a:r>
              <a:rPr lang="en-US" sz="1000" b="1" dirty="0">
                <a:solidFill>
                  <a:srgbClr val="A30D1D"/>
                </a:solidFill>
              </a:rPr>
              <a:t>MACHINE LEARNING</a:t>
            </a:r>
            <a:endParaRPr lang="en-US" sz="1000" dirty="0"/>
          </a:p>
        </p:txBody>
      </p:sp>
      <p:sp>
        <p:nvSpPr>
          <p:cNvPr id="17" name="Processing tile 4"/>
          <p:cNvSpPr/>
          <p:nvPr/>
        </p:nvSpPr>
        <p:spPr>
          <a:xfrm>
            <a:off x="6126480" y="3703320"/>
            <a:ext cx="2011680" cy="868680"/>
          </a:xfrm>
          <a:prstGeom prst="roundRect">
            <a:avLst>
              <a:gd name="adj" fmla="val 8000"/>
            </a:avLst>
          </a:prstGeom>
          <a:solidFill>
            <a:srgbClr val="FFFFFF"/>
          </a:solidFill>
          <a:ln w="15875">
            <a:solidFill>
              <a:srgbClr val="111111"/>
            </a:solidFill>
            <a:prstDash val="solid"/>
          </a:ln>
        </p:spPr>
      </p:sp>
      <p:sp>
        <p:nvSpPr>
          <p:cNvPr id="18" name="Processing tile text 4"/>
          <p:cNvSpPr txBox="1"/>
          <p:nvPr/>
        </p:nvSpPr>
        <p:spPr>
          <a:xfrm>
            <a:off x="6217920" y="3749040"/>
            <a:ext cx="1828800" cy="777240"/>
          </a:xfrm>
          <a:prstGeom prst="rect">
            <a:avLst/>
          </a:prstGeom>
          <a:noFill/>
          <a:ln/>
        </p:spPr>
        <p:txBody>
          <a:bodyPr wrap="square" lIns="0" tIns="0" rIns="0" bIns="0" rtlCol="0" anchor="ctr"/>
          <a:lstStyle/>
          <a:p>
            <a:pPr marL="0" indent="0" algn="l">
              <a:buNone/>
            </a:pPr>
            <a:r>
              <a:rPr lang="en-US" sz="1200" b="1" dirty="0">
                <a:solidFill>
                  <a:srgbClr val="111111"/>
                </a:solidFill>
              </a:rPr>
              <a:t>Louvain community detection</a:t>
            </a:r>
            <a:endParaRPr lang="en-US" sz="1200" dirty="0"/>
          </a:p>
          <a:p>
            <a:pPr marL="0" indent="0" algn="l">
              <a:buNone/>
            </a:pPr>
            <a:r>
              <a:rPr lang="en-US" sz="1000" b="1" dirty="0">
                <a:solidFill>
                  <a:srgbClr val="111111"/>
                </a:solidFill>
              </a:rPr>
              <a:t>GRAPH ALGORITHM</a:t>
            </a:r>
            <a:endParaRPr lang="en-US" sz="1000" dirty="0"/>
          </a:p>
        </p:txBody>
      </p:sp>
      <p:sp>
        <p:nvSpPr>
          <p:cNvPr id="19" name="Arrow processing to output"/>
          <p:cNvSpPr/>
          <p:nvPr/>
        </p:nvSpPr>
        <p:spPr>
          <a:xfrm>
            <a:off x="8321040" y="3406140"/>
            <a:ext cx="320040" cy="0"/>
          </a:xfrm>
          <a:prstGeom prst="line">
            <a:avLst/>
          </a:prstGeom>
          <a:noFill/>
          <a:ln w="38100">
            <a:solidFill>
              <a:srgbClr val="A30D1D"/>
            </a:solidFill>
            <a:prstDash val="solid"/>
            <a:tailEnd type="triangle"/>
          </a:ln>
        </p:spPr>
      </p:sp>
      <p:sp>
        <p:nvSpPr>
          <p:cNvPr id="20" name="Output card"/>
          <p:cNvSpPr/>
          <p:nvPr/>
        </p:nvSpPr>
        <p:spPr>
          <a:xfrm>
            <a:off x="8686800" y="1965960"/>
            <a:ext cx="2926080" cy="2880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1" name="Output title"/>
          <p:cNvSpPr txBox="1"/>
          <p:nvPr/>
        </p:nvSpPr>
        <p:spPr>
          <a:xfrm>
            <a:off x="8915400" y="2148840"/>
            <a:ext cx="2468880" cy="365760"/>
          </a:xfrm>
          <a:prstGeom prst="rect">
            <a:avLst/>
          </a:prstGeom>
          <a:noFill/>
          <a:ln/>
        </p:spPr>
        <p:txBody>
          <a:bodyPr wrap="square" lIns="0" tIns="0" rIns="0" bIns="0" rtlCol="0" anchor="t"/>
          <a:lstStyle/>
          <a:p>
            <a:pPr marL="0" indent="0" algn="l">
              <a:buNone/>
            </a:pPr>
            <a:r>
              <a:rPr lang="en-US" sz="1800" b="1" dirty="0">
                <a:solidFill>
                  <a:srgbClr val="A30D1D"/>
                </a:solidFill>
              </a:rPr>
              <a:t>Output</a:t>
            </a:r>
            <a:endParaRPr lang="en-US" sz="1800" dirty="0"/>
          </a:p>
        </p:txBody>
      </p:sp>
      <p:sp>
        <p:nvSpPr>
          <p:cNvPr id="22" name="Output list"/>
          <p:cNvSpPr txBox="1"/>
          <p:nvPr/>
        </p:nvSpPr>
        <p:spPr>
          <a:xfrm>
            <a:off x="8915400" y="2606040"/>
            <a:ext cx="2468880" cy="1737360"/>
          </a:xfrm>
          <a:prstGeom prst="rect">
            <a:avLst/>
          </a:prstGeom>
          <a:noFill/>
          <a:ln/>
        </p:spPr>
        <p:txBody>
          <a:bodyPr wrap="square" lIns="0" tIns="0" rIns="0" bIns="0" rtlCol="0" anchor="t"/>
          <a:lstStyle/>
          <a:p>
            <a:pPr marL="228600" indent="-228600" algn="l">
              <a:spcAft>
                <a:spcPts val="300"/>
              </a:spcAft>
              <a:buSzPct val="100000"/>
              <a:buChar char="•"/>
            </a:pPr>
            <a:r>
              <a:rPr lang="en-US" sz="1400" dirty="0">
                <a:solidFill>
                  <a:srgbClr val="3A3A3A"/>
                </a:solidFill>
              </a:rPr>
              <a:t>Traced money trail</a:t>
            </a:r>
            <a:endParaRPr lang="en-US" sz="1400" dirty="0"/>
          </a:p>
          <a:p>
            <a:pPr marL="228600" indent="-228600" algn="l">
              <a:spcAft>
                <a:spcPts val="300"/>
              </a:spcAft>
              <a:buSzPct val="100000"/>
              <a:buChar char="•"/>
            </a:pPr>
            <a:r>
              <a:rPr lang="en-US" sz="1400" dirty="0">
                <a:solidFill>
                  <a:srgbClr val="3A3A3A"/>
                </a:solidFill>
              </a:rPr>
              <a:t>Account-risk scores</a:t>
            </a:r>
            <a:endParaRPr lang="en-US" sz="1400" dirty="0"/>
          </a:p>
          <a:p>
            <a:pPr marL="228600" indent="-228600" algn="l">
              <a:spcAft>
                <a:spcPts val="300"/>
              </a:spcAft>
              <a:buSzPct val="100000"/>
              <a:buChar char="•"/>
            </a:pPr>
            <a:r>
              <a:rPr lang="en-US" sz="1400" dirty="0">
                <a:solidFill>
                  <a:srgbClr val="3A3A3A"/>
                </a:solidFill>
              </a:rPr>
              <a:t>Ranked next-hop candidates</a:t>
            </a:r>
            <a:endParaRPr lang="en-US" sz="1400" dirty="0"/>
          </a:p>
          <a:p>
            <a:pPr marL="228600" indent="-228600" algn="l">
              <a:spcAft>
                <a:spcPts val="300"/>
              </a:spcAft>
              <a:buSzPct val="100000"/>
              <a:buChar char="•"/>
            </a:pPr>
            <a:r>
              <a:rPr lang="en-US" sz="1400" dirty="0">
                <a:solidFill>
                  <a:srgbClr val="3A3A3A"/>
                </a:solidFill>
              </a:rPr>
              <a:t>Groups of connected accounts</a:t>
            </a:r>
            <a:endParaRPr lang="en-US" sz="1400" dirty="0"/>
          </a:p>
        </p:txBody>
      </p:sp>
      <p:sp>
        <p:nvSpPr>
          <p:cNvPr id="23" name="Output note"/>
          <p:cNvSpPr txBox="1"/>
          <p:nvPr/>
        </p:nvSpPr>
        <p:spPr>
          <a:xfrm>
            <a:off x="8915400" y="4251960"/>
            <a:ext cx="2468880" cy="457200"/>
          </a:xfrm>
          <a:prstGeom prst="rect">
            <a:avLst/>
          </a:prstGeom>
          <a:noFill/>
          <a:ln/>
        </p:spPr>
        <p:txBody>
          <a:bodyPr wrap="square" lIns="0" tIns="0" rIns="0" bIns="0" rtlCol="0" anchor="t"/>
          <a:lstStyle/>
          <a:p>
            <a:pPr marL="0" indent="0" algn="l">
              <a:buNone/>
            </a:pPr>
            <a:r>
              <a:rPr lang="en-US" sz="1100" i="1" dirty="0">
                <a:solidFill>
                  <a:srgbClr val="B45309"/>
                </a:solidFill>
              </a:rPr>
              <a:t>Reviewed in the investigator dashboard</a:t>
            </a:r>
            <a:endParaRPr lang="en-US" sz="1100" dirty="0"/>
          </a:p>
        </p:txBody>
      </p:sp>
      <p:sp>
        <p:nvSpPr>
          <p:cNvPr id="24" name="Solves banner"/>
          <p:cNvSpPr/>
          <p:nvPr/>
        </p:nvSpPr>
        <p:spPr>
          <a:xfrm>
            <a:off x="548640" y="5029200"/>
            <a:ext cx="11064240" cy="960120"/>
          </a:xfrm>
          <a:prstGeom prst="roundRect">
            <a:avLst>
              <a:gd name="adj" fmla="val 10000"/>
            </a:avLst>
          </a:prstGeom>
          <a:solidFill>
            <a:srgbClr val="A30D1D"/>
          </a:solidFill>
          <a:ln w="19050">
            <a:solidFill>
              <a:srgbClr val="A30D1D"/>
            </a:solidFill>
            <a:prstDash val="solid"/>
          </a:ln>
          <a:effectLst>
            <a:outerShdw blurRad="127000" dist="38100" dir="5400000" algn="bl" rotWithShape="0">
              <a:srgbClr val="000000">
                <a:alpha val="13000"/>
              </a:srgbClr>
            </a:outerShdw>
          </a:effectLst>
        </p:spPr>
      </p:sp>
      <p:sp>
        <p:nvSpPr>
          <p:cNvPr id="25" name="Solves label"/>
          <p:cNvSpPr txBox="1"/>
          <p:nvPr/>
        </p:nvSpPr>
        <p:spPr>
          <a:xfrm>
            <a:off x="777240" y="5120640"/>
            <a:ext cx="10607040" cy="228600"/>
          </a:xfrm>
          <a:prstGeom prst="rect">
            <a:avLst/>
          </a:prstGeom>
          <a:noFill/>
          <a:ln/>
        </p:spPr>
        <p:txBody>
          <a:bodyPr wrap="square" lIns="0" tIns="0" rIns="0" bIns="0" rtlCol="0" anchor="ctr"/>
          <a:lstStyle/>
          <a:p>
            <a:pPr marL="0" indent="0" algn="l">
              <a:buNone/>
            </a:pPr>
            <a:r>
              <a:rPr lang="en-US" sz="1200" b="1" dirty="0">
                <a:solidFill>
                  <a:srgbClr val="FFFFFF"/>
                </a:solidFill>
              </a:rPr>
              <a:t>HOW IT SOLVES THE PROBLEM</a:t>
            </a:r>
            <a:endParaRPr lang="en-US" sz="1200" dirty="0"/>
          </a:p>
        </p:txBody>
      </p:sp>
      <p:sp>
        <p:nvSpPr>
          <p:cNvPr id="26" name="Solves statement"/>
          <p:cNvSpPr txBox="1"/>
          <p:nvPr/>
        </p:nvSpPr>
        <p:spPr>
          <a:xfrm>
            <a:off x="777240" y="5394960"/>
            <a:ext cx="10607040" cy="548640"/>
          </a:xfrm>
          <a:prstGeom prst="rect">
            <a:avLst/>
          </a:prstGeom>
          <a:noFill/>
          <a:ln/>
        </p:spPr>
        <p:txBody>
          <a:bodyPr wrap="square" lIns="0" tIns="0" rIns="0" bIns="0" rtlCol="0" anchor="t"/>
          <a:lstStyle/>
          <a:p>
            <a:pPr marL="0" indent="0" algn="l">
              <a:buNone/>
            </a:pPr>
            <a:r>
              <a:rPr lang="en-US" sz="1600" b="1" dirty="0">
                <a:solidFill>
                  <a:srgbClr val="FFFFFF"/>
                </a:solidFill>
              </a:rPr>
              <a:t>It connects transactions into a network, so investigators follow the money hop by hop and check the most likely next account first, instead of seeing one account at a time.</a:t>
            </a:r>
            <a:endParaRPr lang="en-US" sz="1600" dirty="0"/>
          </a:p>
        </p:txBody>
      </p:sp>
      <p:sp>
        <p:nvSpPr>
          <p:cNvPr id="27" name="Disclosure"/>
          <p:cNvSpPr txBox="1"/>
          <p:nvPr/>
        </p:nvSpPr>
        <p:spPr>
          <a:xfrm>
            <a:off x="548640" y="6080760"/>
            <a:ext cx="11064240" cy="228600"/>
          </a:xfrm>
          <a:prstGeom prst="rect">
            <a:avLst/>
          </a:prstGeom>
          <a:noFill/>
          <a:ln/>
        </p:spPr>
        <p:txBody>
          <a:bodyPr wrap="square" lIns="0" tIns="0" rIns="0" bIns="0" rtlCol="0" anchor="ctr"/>
          <a:lstStyle/>
          <a:p>
            <a:pPr marL="0" indent="0" algn="l">
              <a:buNone/>
            </a:pPr>
            <a:r>
              <a:rPr lang="en-US" sz="1000" dirty="0">
                <a:solidFill>
                  <a:srgbClr val="6B6B6B"/>
                </a:solidFill>
              </a:rPr>
              <a:t>Prototype runs on synthetic data; the freeze action is simulated. Not connected to live banking systems.</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Innovation and </a:t>
            </a:r>
            <a:r>
              <a:rPr lang="en-US" sz="3600" b="1" dirty="0">
                <a:solidFill>
                  <a:srgbClr val="A30D1D"/>
                </a:solidFill>
                <a:latin typeface="Arial" pitchFamily="34" charset="0"/>
                <a:ea typeface="Arial" pitchFamily="34" charset="-122"/>
                <a:cs typeface="Arial" pitchFamily="34" charset="-120"/>
              </a:rPr>
              <a:t>Unique Value Proposition</a:t>
            </a:r>
            <a:endParaRPr lang="en-US" sz="3600" dirty="0"/>
          </a:p>
        </p:txBody>
      </p:sp>
      <p:sp>
        <p:nvSpPr>
          <p:cNvPr id="3" name="Innovation card 1"/>
          <p:cNvSpPr/>
          <p:nvPr/>
        </p:nvSpPr>
        <p:spPr>
          <a:xfrm>
            <a:off x="548640" y="1371600"/>
            <a:ext cx="5394960" cy="228600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 name="Innovation card title 1"/>
          <p:cNvSpPr txBox="1"/>
          <p:nvPr/>
        </p:nvSpPr>
        <p:spPr>
          <a:xfrm>
            <a:off x="777240" y="1554480"/>
            <a:ext cx="4937760" cy="365760"/>
          </a:xfrm>
          <a:prstGeom prst="rect">
            <a:avLst/>
          </a:prstGeom>
          <a:noFill/>
          <a:ln/>
        </p:spPr>
        <p:txBody>
          <a:bodyPr wrap="square" lIns="0" tIns="0" rIns="0" bIns="0" rtlCol="0" anchor="t"/>
          <a:lstStyle/>
          <a:p>
            <a:pPr marL="0" indent="0" algn="l">
              <a:buNone/>
            </a:pPr>
            <a:r>
              <a:rPr lang="en-US" sz="1800" b="1" dirty="0">
                <a:solidFill>
                  <a:srgbClr val="111111"/>
                </a:solidFill>
              </a:rPr>
              <a:t>What is new or improved</a:t>
            </a:r>
            <a:endParaRPr lang="en-US" sz="1800" dirty="0"/>
          </a:p>
        </p:txBody>
      </p:sp>
      <p:sp>
        <p:nvSpPr>
          <p:cNvPr id="5" name="Innovation card list 1"/>
          <p:cNvSpPr txBox="1"/>
          <p:nvPr/>
        </p:nvSpPr>
        <p:spPr>
          <a:xfrm>
            <a:off x="777240" y="2011680"/>
            <a:ext cx="4937760" cy="1554480"/>
          </a:xfrm>
          <a:prstGeom prst="rect">
            <a:avLst/>
          </a:prstGeom>
          <a:noFill/>
          <a:ln/>
        </p:spPr>
        <p:txBody>
          <a:bodyPr wrap="square" lIns="0" tIns="0" rIns="0" bIns="0" rtlCol="0" anchor="t"/>
          <a:lstStyle/>
          <a:p>
            <a:pPr marL="228600" indent="-228600" algn="l">
              <a:spcAft>
                <a:spcPts val="400"/>
              </a:spcAft>
              <a:buSzPct val="100000"/>
              <a:buChar char="•"/>
            </a:pPr>
            <a:r>
              <a:rPr lang="en-US" sz="1400" dirty="0">
                <a:solidFill>
                  <a:srgbClr val="3A3A3A"/>
                </a:solidFill>
              </a:rPr>
              <a:t>Treats the scam trail as a network: accounts are nodes and transactions are edges.</a:t>
            </a:r>
            <a:endParaRPr lang="en-US" sz="1400" dirty="0"/>
          </a:p>
          <a:p>
            <a:pPr marL="228600" indent="-228600" algn="l">
              <a:spcAft>
                <a:spcPts val="400"/>
              </a:spcAft>
              <a:buSzPct val="100000"/>
              <a:buChar char="•"/>
            </a:pPr>
            <a:r>
              <a:rPr lang="en-US" sz="1400" dirty="0">
                <a:solidFill>
                  <a:srgbClr val="3A3A3A"/>
                </a:solidFill>
              </a:rPr>
              <a:t>Follows transfers in time order (Temporal BFS), so the trail matches the real sequence.</a:t>
            </a:r>
            <a:endParaRPr lang="en-US" sz="1400" dirty="0"/>
          </a:p>
          <a:p>
            <a:pPr marL="228600" indent="-228600" algn="l">
              <a:spcAft>
                <a:spcPts val="400"/>
              </a:spcAft>
              <a:buSzPct val="100000"/>
              <a:buChar char="•"/>
            </a:pPr>
            <a:r>
              <a:rPr lang="en-US" sz="1400" dirty="0">
                <a:solidFill>
                  <a:srgbClr val="3A3A3A"/>
                </a:solidFill>
              </a:rPr>
              <a:t>Ranks the likely next hop with a Random Forest and groups connected accounts with Louvain.</a:t>
            </a:r>
            <a:endParaRPr lang="en-US" sz="1400" dirty="0"/>
          </a:p>
        </p:txBody>
      </p:sp>
      <p:sp>
        <p:nvSpPr>
          <p:cNvPr id="6" name="Innovation card 2"/>
          <p:cNvSpPr/>
          <p:nvPr/>
        </p:nvSpPr>
        <p:spPr>
          <a:xfrm>
            <a:off x="6217920" y="1371600"/>
            <a:ext cx="5394960" cy="228600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7" name="Innovation card title 2"/>
          <p:cNvSpPr txBox="1"/>
          <p:nvPr/>
        </p:nvSpPr>
        <p:spPr>
          <a:xfrm>
            <a:off x="6446520" y="1554480"/>
            <a:ext cx="4937760" cy="365760"/>
          </a:xfrm>
          <a:prstGeom prst="rect">
            <a:avLst/>
          </a:prstGeom>
          <a:noFill/>
          <a:ln/>
        </p:spPr>
        <p:txBody>
          <a:bodyPr wrap="square" lIns="0" tIns="0" rIns="0" bIns="0" rtlCol="0" anchor="t"/>
          <a:lstStyle/>
          <a:p>
            <a:pPr marL="0" indent="0" algn="l">
              <a:buNone/>
            </a:pPr>
            <a:r>
              <a:rPr lang="en-US" sz="1800" b="1" dirty="0">
                <a:solidFill>
                  <a:srgbClr val="A30D1D"/>
                </a:solidFill>
              </a:rPr>
              <a:t>What makes it different</a:t>
            </a:r>
            <a:endParaRPr lang="en-US" sz="1800" dirty="0"/>
          </a:p>
        </p:txBody>
      </p:sp>
      <p:sp>
        <p:nvSpPr>
          <p:cNvPr id="8" name="Innovation card list 2"/>
          <p:cNvSpPr txBox="1"/>
          <p:nvPr/>
        </p:nvSpPr>
        <p:spPr>
          <a:xfrm>
            <a:off x="6446520" y="2011680"/>
            <a:ext cx="4937760" cy="1554480"/>
          </a:xfrm>
          <a:prstGeom prst="rect">
            <a:avLst/>
          </a:prstGeom>
          <a:noFill/>
          <a:ln/>
        </p:spPr>
        <p:txBody>
          <a:bodyPr wrap="square" lIns="0" tIns="0" rIns="0" bIns="0" rtlCol="0" anchor="t"/>
          <a:lstStyle/>
          <a:p>
            <a:pPr marL="228600" indent="-228600" algn="l">
              <a:spcAft>
                <a:spcPts val="400"/>
              </a:spcAft>
              <a:buSzPct val="100000"/>
              <a:buChar char="•"/>
            </a:pPr>
            <a:r>
              <a:rPr lang="en-US" sz="1400" dirty="0">
                <a:solidFill>
                  <a:srgbClr val="3A3A3A"/>
                </a:solidFill>
              </a:rPr>
              <a:t>Rule-based systems see one account at a time; this follows the whole chain.</a:t>
            </a:r>
            <a:endParaRPr lang="en-US" sz="1400" dirty="0"/>
          </a:p>
          <a:p>
            <a:pPr marL="228600" indent="-228600" algn="l">
              <a:spcAft>
                <a:spcPts val="400"/>
              </a:spcAft>
              <a:buSzPct val="100000"/>
              <a:buChar char="•"/>
            </a:pPr>
            <a:r>
              <a:rPr lang="en-US" sz="1400" dirty="0">
                <a:solidFill>
                  <a:srgbClr val="3A3A3A"/>
                </a:solidFill>
              </a:rPr>
              <a:t>Blocking SIMs and messaging accounts targets contact channels; this follows the money itself.</a:t>
            </a:r>
            <a:endParaRPr lang="en-US" sz="1400" dirty="0"/>
          </a:p>
          <a:p>
            <a:pPr marL="228600" indent="-228600" algn="l">
              <a:spcAft>
                <a:spcPts val="400"/>
              </a:spcAft>
              <a:buSzPct val="100000"/>
              <a:buChar char="•"/>
            </a:pPr>
            <a:r>
              <a:rPr lang="en-US" sz="1400" dirty="0">
                <a:solidFill>
                  <a:srgbClr val="3A3A3A"/>
                </a:solidFill>
              </a:rPr>
              <a:t>Looks ahead: shows the likeliest next account so a bank could act before the money leaves.</a:t>
            </a:r>
            <a:endParaRPr lang="en-US" sz="1400" dirty="0"/>
          </a:p>
        </p:txBody>
      </p:sp>
      <p:sp>
        <p:nvSpPr>
          <p:cNvPr id="9" name="USP banner"/>
          <p:cNvSpPr/>
          <p:nvPr/>
        </p:nvSpPr>
        <p:spPr>
          <a:xfrm>
            <a:off x="548640" y="3794760"/>
            <a:ext cx="11064240" cy="1051560"/>
          </a:xfrm>
          <a:prstGeom prst="roundRect">
            <a:avLst>
              <a:gd name="adj" fmla="val 10000"/>
            </a:avLst>
          </a:prstGeom>
          <a:solidFill>
            <a:srgbClr val="A30D1D"/>
          </a:solidFill>
          <a:ln w="19050">
            <a:solidFill>
              <a:srgbClr val="A30D1D"/>
            </a:solidFill>
            <a:prstDash val="solid"/>
          </a:ln>
          <a:effectLst>
            <a:outerShdw blurRad="127000" dist="38100" dir="5400000" algn="bl" rotWithShape="0">
              <a:srgbClr val="000000">
                <a:alpha val="13000"/>
              </a:srgbClr>
            </a:outerShdw>
          </a:effectLst>
        </p:spPr>
      </p:sp>
      <p:sp>
        <p:nvSpPr>
          <p:cNvPr id="10" name="USP label"/>
          <p:cNvSpPr txBox="1"/>
          <p:nvPr/>
        </p:nvSpPr>
        <p:spPr>
          <a:xfrm>
            <a:off x="777240" y="3886200"/>
            <a:ext cx="10607040" cy="228600"/>
          </a:xfrm>
          <a:prstGeom prst="rect">
            <a:avLst/>
          </a:prstGeom>
          <a:noFill/>
          <a:ln/>
        </p:spPr>
        <p:txBody>
          <a:bodyPr wrap="square" lIns="0" tIns="0" rIns="0" bIns="0" rtlCol="0" anchor="ctr"/>
          <a:lstStyle/>
          <a:p>
            <a:pPr marL="0" indent="0" algn="l">
              <a:buNone/>
            </a:pPr>
            <a:r>
              <a:rPr lang="en-US" sz="1200" b="1" dirty="0">
                <a:solidFill>
                  <a:srgbClr val="FFFFFF"/>
                </a:solidFill>
              </a:rPr>
              <a:t>UNIQUE VALUE PROPOSITION</a:t>
            </a:r>
            <a:endParaRPr lang="en-US" sz="1200" dirty="0"/>
          </a:p>
        </p:txBody>
      </p:sp>
      <p:sp>
        <p:nvSpPr>
          <p:cNvPr id="11" name="USP statement"/>
          <p:cNvSpPr txBox="1"/>
          <p:nvPr/>
        </p:nvSpPr>
        <p:spPr>
          <a:xfrm>
            <a:off x="777240" y="4160520"/>
            <a:ext cx="10607040" cy="594360"/>
          </a:xfrm>
          <a:prstGeom prst="rect">
            <a:avLst/>
          </a:prstGeom>
          <a:noFill/>
          <a:ln/>
        </p:spPr>
        <p:txBody>
          <a:bodyPr wrap="square" lIns="0" tIns="0" rIns="0" bIns="0" rtlCol="0" anchor="t"/>
          <a:lstStyle/>
          <a:p>
            <a:pPr marL="0" indent="0" algn="l">
              <a:buNone/>
            </a:pPr>
            <a:r>
              <a:rPr lang="en-US" sz="1800" b="1" dirty="0">
                <a:solidFill>
                  <a:srgbClr val="FFFFFF"/>
                </a:solidFill>
              </a:rPr>
              <a:t>Follow the money, not just the account: trace a reported scam payment through the mule network and see the likely next hop to check first.</a:t>
            </a:r>
            <a:endParaRPr lang="en-US" sz="1800" dirty="0"/>
          </a:p>
        </p:txBody>
      </p:sp>
      <p:sp>
        <p:nvSpPr>
          <p:cNvPr id="12" name="Why choose label"/>
          <p:cNvSpPr txBox="1"/>
          <p:nvPr/>
        </p:nvSpPr>
        <p:spPr>
          <a:xfrm>
            <a:off x="548640" y="4937760"/>
            <a:ext cx="11064240" cy="274320"/>
          </a:xfrm>
          <a:prstGeom prst="rect">
            <a:avLst/>
          </a:prstGeom>
          <a:noFill/>
          <a:ln/>
        </p:spPr>
        <p:txBody>
          <a:bodyPr wrap="square" lIns="0" tIns="0" rIns="0" bIns="0" rtlCol="0" anchor="ctr"/>
          <a:lstStyle/>
          <a:p>
            <a:pPr marL="0" indent="0" algn="l">
              <a:buNone/>
            </a:pPr>
            <a:r>
              <a:rPr lang="en-US" sz="1400" b="1" dirty="0">
                <a:solidFill>
                  <a:srgbClr val="111111"/>
                </a:solidFill>
              </a:rPr>
              <a:t>Why investigators should choose it</a:t>
            </a:r>
            <a:endParaRPr lang="en-US" sz="1400" dirty="0"/>
          </a:p>
        </p:txBody>
      </p:sp>
      <p:sp>
        <p:nvSpPr>
          <p:cNvPr id="13" name="Reason card 1"/>
          <p:cNvSpPr/>
          <p:nvPr/>
        </p:nvSpPr>
        <p:spPr>
          <a:xfrm>
            <a:off x="548640" y="5257800"/>
            <a:ext cx="3505200" cy="86868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4" name="Reason title 1"/>
          <p:cNvSpPr txBox="1"/>
          <p:nvPr/>
        </p:nvSpPr>
        <p:spPr>
          <a:xfrm>
            <a:off x="731520" y="5330952"/>
            <a:ext cx="3139440" cy="274320"/>
          </a:xfrm>
          <a:prstGeom prst="rect">
            <a:avLst/>
          </a:prstGeom>
          <a:noFill/>
          <a:ln/>
        </p:spPr>
        <p:txBody>
          <a:bodyPr wrap="square" lIns="0" tIns="0" rIns="0" bIns="0" rtlCol="0" anchor="t"/>
          <a:lstStyle/>
          <a:p>
            <a:pPr marL="0" indent="0" algn="l">
              <a:buNone/>
            </a:pPr>
            <a:r>
              <a:rPr lang="en-US" sz="1400" b="1" dirty="0">
                <a:solidFill>
                  <a:srgbClr val="A30D1D"/>
                </a:solidFill>
              </a:rPr>
              <a:t>One workspace</a:t>
            </a:r>
            <a:endParaRPr lang="en-US" sz="1400" dirty="0"/>
          </a:p>
        </p:txBody>
      </p:sp>
      <p:sp>
        <p:nvSpPr>
          <p:cNvPr id="15" name="Reason text 1"/>
          <p:cNvSpPr txBox="1"/>
          <p:nvPr/>
        </p:nvSpPr>
        <p:spPr>
          <a:xfrm>
            <a:off x="731520" y="5605272"/>
            <a:ext cx="3139440" cy="420624"/>
          </a:xfrm>
          <a:prstGeom prst="rect">
            <a:avLst/>
          </a:prstGeom>
          <a:noFill/>
          <a:ln/>
        </p:spPr>
        <p:txBody>
          <a:bodyPr wrap="square" lIns="0" tIns="0" rIns="0" bIns="0" rtlCol="0" anchor="t"/>
          <a:lstStyle/>
          <a:p>
            <a:pPr marL="0" indent="0" algn="l">
              <a:buNone/>
            </a:pPr>
            <a:r>
              <a:rPr lang="en-US" sz="1200" dirty="0">
                <a:solidFill>
                  <a:srgbClr val="3A3A3A"/>
                </a:solidFill>
              </a:rPr>
              <a:t>Tracing, risk scores, next-hop ranking and a network view together.</a:t>
            </a:r>
            <a:endParaRPr lang="en-US" sz="1200" dirty="0"/>
          </a:p>
        </p:txBody>
      </p:sp>
      <p:sp>
        <p:nvSpPr>
          <p:cNvPr id="16" name="Reason card 2"/>
          <p:cNvSpPr/>
          <p:nvPr/>
        </p:nvSpPr>
        <p:spPr>
          <a:xfrm>
            <a:off x="4328160" y="5257800"/>
            <a:ext cx="3505200" cy="86868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7" name="Reason title 2"/>
          <p:cNvSpPr txBox="1"/>
          <p:nvPr/>
        </p:nvSpPr>
        <p:spPr>
          <a:xfrm>
            <a:off x="4511040" y="5330952"/>
            <a:ext cx="3139440" cy="274320"/>
          </a:xfrm>
          <a:prstGeom prst="rect">
            <a:avLst/>
          </a:prstGeom>
          <a:noFill/>
          <a:ln/>
        </p:spPr>
        <p:txBody>
          <a:bodyPr wrap="square" lIns="0" tIns="0" rIns="0" bIns="0" rtlCol="0" anchor="t"/>
          <a:lstStyle/>
          <a:p>
            <a:pPr marL="0" indent="0" algn="l">
              <a:buNone/>
            </a:pPr>
            <a:r>
              <a:rPr lang="en-US" sz="1400" b="1" dirty="0">
                <a:solidFill>
                  <a:srgbClr val="A30D1D"/>
                </a:solidFill>
              </a:rPr>
              <a:t>Clear priorities</a:t>
            </a:r>
            <a:endParaRPr lang="en-US" sz="1400" dirty="0"/>
          </a:p>
        </p:txBody>
      </p:sp>
      <p:sp>
        <p:nvSpPr>
          <p:cNvPr id="18" name="Reason text 2"/>
          <p:cNvSpPr txBox="1"/>
          <p:nvPr/>
        </p:nvSpPr>
        <p:spPr>
          <a:xfrm>
            <a:off x="4511040" y="5605272"/>
            <a:ext cx="3139440" cy="420624"/>
          </a:xfrm>
          <a:prstGeom prst="rect">
            <a:avLst/>
          </a:prstGeom>
          <a:noFill/>
          <a:ln/>
        </p:spPr>
        <p:txBody>
          <a:bodyPr wrap="square" lIns="0" tIns="0" rIns="0" bIns="0" rtlCol="0" anchor="t"/>
          <a:lstStyle/>
          <a:p>
            <a:pPr marL="0" indent="0" algn="l">
              <a:buNone/>
            </a:pPr>
            <a:r>
              <a:rPr lang="en-US" sz="1200" dirty="0">
                <a:solidFill>
                  <a:srgbClr val="3A3A3A"/>
                </a:solidFill>
              </a:rPr>
              <a:t>Higher-risk accounts and likelier next hops are surfaced first.</a:t>
            </a:r>
            <a:endParaRPr lang="en-US" sz="1200" dirty="0"/>
          </a:p>
        </p:txBody>
      </p:sp>
      <p:sp>
        <p:nvSpPr>
          <p:cNvPr id="19" name="Reason card 3"/>
          <p:cNvSpPr/>
          <p:nvPr/>
        </p:nvSpPr>
        <p:spPr>
          <a:xfrm>
            <a:off x="8107680" y="5257800"/>
            <a:ext cx="3505200" cy="86868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0" name="Reason title 3"/>
          <p:cNvSpPr txBox="1"/>
          <p:nvPr/>
        </p:nvSpPr>
        <p:spPr>
          <a:xfrm>
            <a:off x="8290560" y="5330952"/>
            <a:ext cx="3139440" cy="274320"/>
          </a:xfrm>
          <a:prstGeom prst="rect">
            <a:avLst/>
          </a:prstGeom>
          <a:noFill/>
          <a:ln/>
        </p:spPr>
        <p:txBody>
          <a:bodyPr wrap="square" lIns="0" tIns="0" rIns="0" bIns="0" rtlCol="0" anchor="t"/>
          <a:lstStyle/>
          <a:p>
            <a:pPr marL="0" indent="0" algn="l">
              <a:buNone/>
            </a:pPr>
            <a:r>
              <a:rPr lang="en-US" sz="1400" b="1" dirty="0">
                <a:solidFill>
                  <a:srgbClr val="A30D1D"/>
                </a:solidFill>
              </a:rPr>
              <a:t>Responsible by design</a:t>
            </a:r>
            <a:endParaRPr lang="en-US" sz="1400" dirty="0"/>
          </a:p>
        </p:txBody>
      </p:sp>
      <p:sp>
        <p:nvSpPr>
          <p:cNvPr id="21" name="Reason text 3"/>
          <p:cNvSpPr txBox="1"/>
          <p:nvPr/>
        </p:nvSpPr>
        <p:spPr>
          <a:xfrm>
            <a:off x="8290560" y="5605272"/>
            <a:ext cx="3139440" cy="420624"/>
          </a:xfrm>
          <a:prstGeom prst="rect">
            <a:avLst/>
          </a:prstGeom>
          <a:noFill/>
          <a:ln/>
        </p:spPr>
        <p:txBody>
          <a:bodyPr wrap="square" lIns="0" tIns="0" rIns="0" bIns="0" rtlCol="0" anchor="t"/>
          <a:lstStyle/>
          <a:p>
            <a:pPr marL="0" indent="0" algn="l">
              <a:buNone/>
            </a:pPr>
            <a:r>
              <a:rPr lang="en-US" sz="1200" dirty="0">
                <a:solidFill>
                  <a:srgbClr val="3A3A3A"/>
                </a:solidFill>
              </a:rPr>
              <a:t>Scores are indicators, not verdicts; the investigator stays in control.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How the Solution </a:t>
            </a:r>
            <a:r>
              <a:rPr lang="en-US" sz="3600" b="1" dirty="0">
                <a:solidFill>
                  <a:srgbClr val="A30D1D"/>
                </a:solidFill>
                <a:latin typeface="Arial" pitchFamily="34" charset="0"/>
                <a:ea typeface="Arial" pitchFamily="34" charset="-122"/>
                <a:cs typeface="Arial" pitchFamily="34" charset="-120"/>
              </a:rPr>
              <a:t>Works</a:t>
            </a:r>
            <a:endParaRPr lang="en-US" sz="3600" dirty="0"/>
          </a:p>
        </p:txBody>
      </p:sp>
      <p:sp>
        <p:nvSpPr>
          <p:cNvPr id="3" name="Stage box 1"/>
          <p:cNvSpPr/>
          <p:nvPr/>
        </p:nvSpPr>
        <p:spPr>
          <a:xfrm>
            <a:off x="548640" y="1371600"/>
            <a:ext cx="1306285" cy="2240280"/>
          </a:xfrm>
          <a:prstGeom prst="roundRect">
            <a:avLst>
              <a:gd name="adj" fmla="val 6000"/>
            </a:avLst>
          </a:prstGeom>
          <a:solidFill>
            <a:srgbClr val="111111"/>
          </a:solidFill>
          <a:ln w="12700">
            <a:solidFill>
              <a:srgbClr val="111111"/>
            </a:solidFill>
            <a:prstDash val="solid"/>
          </a:ln>
          <a:effectLst>
            <a:outerShdw blurRad="127000" dist="38100" dir="5400000" algn="bl" rotWithShape="0">
              <a:srgbClr val="000000">
                <a:alpha val="13000"/>
              </a:srgbClr>
            </a:outerShdw>
          </a:effectLst>
        </p:spPr>
      </p:sp>
      <p:sp>
        <p:nvSpPr>
          <p:cNvPr id="4" name="Stage label 1"/>
          <p:cNvSpPr txBox="1"/>
          <p:nvPr/>
        </p:nvSpPr>
        <p:spPr>
          <a:xfrm>
            <a:off x="640080" y="1508760"/>
            <a:ext cx="1123405" cy="228600"/>
          </a:xfrm>
          <a:prstGeom prst="rect">
            <a:avLst/>
          </a:prstGeom>
          <a:noFill/>
          <a:ln/>
        </p:spPr>
        <p:txBody>
          <a:bodyPr wrap="square" lIns="0" tIns="0" rIns="0" bIns="0" rtlCol="0" anchor="t"/>
          <a:lstStyle/>
          <a:p>
            <a:pPr marL="0" indent="0" algn="l">
              <a:buNone/>
            </a:pPr>
            <a:r>
              <a:rPr lang="en-US" sz="1000" b="1" dirty="0">
                <a:solidFill>
                  <a:srgbClr val="FFFFFF"/>
                </a:solidFill>
              </a:rPr>
              <a:t>USER</a:t>
            </a:r>
            <a:endParaRPr lang="en-US" sz="1000" dirty="0"/>
          </a:p>
        </p:txBody>
      </p:sp>
      <p:sp>
        <p:nvSpPr>
          <p:cNvPr id="5" name="Stage heading 1"/>
          <p:cNvSpPr txBox="1"/>
          <p:nvPr/>
        </p:nvSpPr>
        <p:spPr>
          <a:xfrm>
            <a:off x="640080" y="1783080"/>
            <a:ext cx="1123405" cy="457200"/>
          </a:xfrm>
          <a:prstGeom prst="rect">
            <a:avLst/>
          </a:prstGeom>
          <a:noFill/>
          <a:ln/>
        </p:spPr>
        <p:txBody>
          <a:bodyPr wrap="square" lIns="0" tIns="0" rIns="0" bIns="0" rtlCol="0" anchor="t"/>
          <a:lstStyle/>
          <a:p>
            <a:pPr marL="0" indent="0" algn="l">
              <a:buNone/>
            </a:pPr>
            <a:r>
              <a:rPr lang="en-US" sz="1300" b="1" dirty="0">
                <a:solidFill>
                  <a:srgbClr val="FFFFFF"/>
                </a:solidFill>
              </a:rPr>
              <a:t>Investigator</a:t>
            </a:r>
            <a:endParaRPr lang="en-US" sz="1300" dirty="0"/>
          </a:p>
        </p:txBody>
      </p:sp>
      <p:sp>
        <p:nvSpPr>
          <p:cNvPr id="6" name="Stage text 1"/>
          <p:cNvSpPr txBox="1"/>
          <p:nvPr/>
        </p:nvSpPr>
        <p:spPr>
          <a:xfrm>
            <a:off x="640080" y="2286000"/>
            <a:ext cx="1123405" cy="1234440"/>
          </a:xfrm>
          <a:prstGeom prst="rect">
            <a:avLst/>
          </a:prstGeom>
          <a:noFill/>
          <a:ln/>
        </p:spPr>
        <p:txBody>
          <a:bodyPr wrap="square" lIns="0" tIns="0" rIns="0" bIns="0" rtlCol="0" anchor="t"/>
          <a:lstStyle/>
          <a:p>
            <a:pPr marL="0" indent="0" algn="l">
              <a:buNone/>
            </a:pPr>
            <a:r>
              <a:rPr lang="en-US" sz="1200" dirty="0">
                <a:solidFill>
                  <a:srgbClr val="FFFFFF"/>
                </a:solidFill>
              </a:rPr>
              <a:t>Reviews dashboard alerts</a:t>
            </a:r>
            <a:endParaRPr lang="en-US" sz="1200" dirty="0"/>
          </a:p>
        </p:txBody>
      </p:sp>
      <p:sp>
        <p:nvSpPr>
          <p:cNvPr id="7" name="Stage arrow 1"/>
          <p:cNvSpPr/>
          <p:nvPr/>
        </p:nvSpPr>
        <p:spPr>
          <a:xfrm>
            <a:off x="1877785" y="2491740"/>
            <a:ext cx="274320" cy="0"/>
          </a:xfrm>
          <a:prstGeom prst="line">
            <a:avLst/>
          </a:prstGeom>
          <a:noFill/>
          <a:ln w="38100">
            <a:solidFill>
              <a:srgbClr val="A30D1D"/>
            </a:solidFill>
            <a:prstDash val="solid"/>
            <a:tailEnd type="triangle"/>
          </a:ln>
        </p:spPr>
      </p:sp>
      <p:sp>
        <p:nvSpPr>
          <p:cNvPr id="8" name="Stage box 2"/>
          <p:cNvSpPr/>
          <p:nvPr/>
        </p:nvSpPr>
        <p:spPr>
          <a:xfrm>
            <a:off x="2174965" y="1371600"/>
            <a:ext cx="1306285" cy="2240280"/>
          </a:xfrm>
          <a:prstGeom prst="roundRect">
            <a:avLst>
              <a:gd name="adj" fmla="val 6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9" name="Stage label 2"/>
          <p:cNvSpPr txBox="1"/>
          <p:nvPr/>
        </p:nvSpPr>
        <p:spPr>
          <a:xfrm>
            <a:off x="2266405" y="1508760"/>
            <a:ext cx="1123405" cy="228600"/>
          </a:xfrm>
          <a:prstGeom prst="rect">
            <a:avLst/>
          </a:prstGeom>
          <a:noFill/>
          <a:ln/>
        </p:spPr>
        <p:txBody>
          <a:bodyPr wrap="square" lIns="0" tIns="0" rIns="0" bIns="0" rtlCol="0" anchor="t"/>
          <a:lstStyle/>
          <a:p>
            <a:pPr marL="0" indent="0" algn="l">
              <a:buNone/>
            </a:pPr>
            <a:r>
              <a:rPr lang="en-US" sz="1000" b="1" dirty="0">
                <a:solidFill>
                  <a:srgbClr val="A30D1D"/>
                </a:solidFill>
              </a:rPr>
              <a:t>INPUT</a:t>
            </a:r>
            <a:endParaRPr lang="en-US" sz="1000" dirty="0"/>
          </a:p>
        </p:txBody>
      </p:sp>
      <p:sp>
        <p:nvSpPr>
          <p:cNvPr id="10" name="Stage heading 2"/>
          <p:cNvSpPr txBox="1"/>
          <p:nvPr/>
        </p:nvSpPr>
        <p:spPr>
          <a:xfrm>
            <a:off x="2266405" y="1783080"/>
            <a:ext cx="1123405" cy="457200"/>
          </a:xfrm>
          <a:prstGeom prst="rect">
            <a:avLst/>
          </a:prstGeom>
          <a:noFill/>
          <a:ln/>
        </p:spPr>
        <p:txBody>
          <a:bodyPr wrap="square" lIns="0" tIns="0" rIns="0" bIns="0" rtlCol="0" anchor="t"/>
          <a:lstStyle/>
          <a:p>
            <a:pPr marL="0" indent="0" algn="l">
              <a:buNone/>
            </a:pPr>
            <a:r>
              <a:rPr lang="en-US" sz="1300" b="1" dirty="0">
                <a:solidFill>
                  <a:srgbClr val="111111"/>
                </a:solidFill>
              </a:rPr>
              <a:t>Scam payment</a:t>
            </a:r>
            <a:endParaRPr lang="en-US" sz="1300" dirty="0"/>
          </a:p>
        </p:txBody>
      </p:sp>
      <p:sp>
        <p:nvSpPr>
          <p:cNvPr id="11" name="Stage text 2"/>
          <p:cNvSpPr txBox="1"/>
          <p:nvPr/>
        </p:nvSpPr>
        <p:spPr>
          <a:xfrm>
            <a:off x="2266405" y="2286000"/>
            <a:ext cx="1123405" cy="1234440"/>
          </a:xfrm>
          <a:prstGeom prst="rect">
            <a:avLst/>
          </a:prstGeom>
          <a:noFill/>
          <a:ln/>
        </p:spPr>
        <p:txBody>
          <a:bodyPr wrap="square" lIns="0" tIns="0" rIns="0" bIns="0" rtlCol="0" anchor="t"/>
          <a:lstStyle/>
          <a:p>
            <a:pPr marL="0" indent="0" algn="l">
              <a:buNone/>
            </a:pPr>
            <a:r>
              <a:rPr lang="en-US" sz="1200" dirty="0">
                <a:solidFill>
                  <a:srgbClr val="3A3A3A"/>
                </a:solidFill>
              </a:rPr>
              <a:t>Reported payment or suspicious account, with transaction records</a:t>
            </a:r>
            <a:endParaRPr lang="en-US" sz="1200" dirty="0"/>
          </a:p>
        </p:txBody>
      </p:sp>
      <p:sp>
        <p:nvSpPr>
          <p:cNvPr id="12" name="Stage arrow 2"/>
          <p:cNvSpPr/>
          <p:nvPr/>
        </p:nvSpPr>
        <p:spPr>
          <a:xfrm>
            <a:off x="3504110" y="2491740"/>
            <a:ext cx="274320" cy="0"/>
          </a:xfrm>
          <a:prstGeom prst="line">
            <a:avLst/>
          </a:prstGeom>
          <a:noFill/>
          <a:ln w="38100">
            <a:solidFill>
              <a:srgbClr val="A30D1D"/>
            </a:solidFill>
            <a:prstDash val="solid"/>
            <a:tailEnd type="triangle"/>
          </a:ln>
        </p:spPr>
      </p:sp>
      <p:sp>
        <p:nvSpPr>
          <p:cNvPr id="13" name="Stage box 3"/>
          <p:cNvSpPr/>
          <p:nvPr/>
        </p:nvSpPr>
        <p:spPr>
          <a:xfrm>
            <a:off x="3801290" y="1371600"/>
            <a:ext cx="1306285" cy="2240280"/>
          </a:xfrm>
          <a:prstGeom prst="roundRect">
            <a:avLst>
              <a:gd name="adj" fmla="val 6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4" name="Stage label 3"/>
          <p:cNvSpPr txBox="1"/>
          <p:nvPr/>
        </p:nvSpPr>
        <p:spPr>
          <a:xfrm>
            <a:off x="3892730" y="1508760"/>
            <a:ext cx="1123405" cy="228600"/>
          </a:xfrm>
          <a:prstGeom prst="rect">
            <a:avLst/>
          </a:prstGeom>
          <a:noFill/>
          <a:ln/>
        </p:spPr>
        <p:txBody>
          <a:bodyPr wrap="square" lIns="0" tIns="0" rIns="0" bIns="0" rtlCol="0" anchor="t"/>
          <a:lstStyle/>
          <a:p>
            <a:pPr marL="0" indent="0" algn="l">
              <a:buNone/>
            </a:pPr>
            <a:r>
              <a:rPr lang="en-US" sz="1000" b="1" dirty="0">
                <a:solidFill>
                  <a:srgbClr val="A30D1D"/>
                </a:solidFill>
              </a:rPr>
              <a:t>PROCESSING</a:t>
            </a:r>
            <a:endParaRPr lang="en-US" sz="1000" dirty="0"/>
          </a:p>
        </p:txBody>
      </p:sp>
      <p:sp>
        <p:nvSpPr>
          <p:cNvPr id="15" name="Stage heading 3"/>
          <p:cNvSpPr txBox="1"/>
          <p:nvPr/>
        </p:nvSpPr>
        <p:spPr>
          <a:xfrm>
            <a:off x="3892730" y="1783080"/>
            <a:ext cx="1123405" cy="457200"/>
          </a:xfrm>
          <a:prstGeom prst="rect">
            <a:avLst/>
          </a:prstGeom>
          <a:noFill/>
          <a:ln/>
        </p:spPr>
        <p:txBody>
          <a:bodyPr wrap="square" lIns="0" tIns="0" rIns="0" bIns="0" rtlCol="0" anchor="t"/>
          <a:lstStyle/>
          <a:p>
            <a:pPr marL="0" indent="0" algn="l">
              <a:buNone/>
            </a:pPr>
            <a:r>
              <a:rPr lang="en-US" sz="1300" b="1" dirty="0">
                <a:solidFill>
                  <a:srgbClr val="111111"/>
                </a:solidFill>
              </a:rPr>
              <a:t>Backend API</a:t>
            </a:r>
            <a:endParaRPr lang="en-US" sz="1300" dirty="0"/>
          </a:p>
        </p:txBody>
      </p:sp>
      <p:sp>
        <p:nvSpPr>
          <p:cNvPr id="16" name="Stage text 3"/>
          <p:cNvSpPr txBox="1"/>
          <p:nvPr/>
        </p:nvSpPr>
        <p:spPr>
          <a:xfrm>
            <a:off x="3892730" y="2286000"/>
            <a:ext cx="1123405" cy="1234440"/>
          </a:xfrm>
          <a:prstGeom prst="rect">
            <a:avLst/>
          </a:prstGeom>
          <a:noFill/>
          <a:ln/>
        </p:spPr>
        <p:txBody>
          <a:bodyPr wrap="square" lIns="0" tIns="0" rIns="0" bIns="0" rtlCol="0" anchor="t"/>
          <a:lstStyle/>
          <a:p>
            <a:pPr marL="0" indent="0" algn="l">
              <a:buNone/>
            </a:pPr>
            <a:r>
              <a:rPr lang="en-US" sz="1200" dirty="0">
                <a:solidFill>
                  <a:srgbClr val="3A3A3A"/>
                </a:solidFill>
              </a:rPr>
              <a:t>Receives the request and runs the analysis</a:t>
            </a:r>
            <a:endParaRPr lang="en-US" sz="1200" dirty="0"/>
          </a:p>
        </p:txBody>
      </p:sp>
      <p:sp>
        <p:nvSpPr>
          <p:cNvPr id="17" name="Stage arrow 3"/>
          <p:cNvSpPr/>
          <p:nvPr/>
        </p:nvSpPr>
        <p:spPr>
          <a:xfrm>
            <a:off x="5130435" y="2491740"/>
            <a:ext cx="274320" cy="0"/>
          </a:xfrm>
          <a:prstGeom prst="line">
            <a:avLst/>
          </a:prstGeom>
          <a:noFill/>
          <a:ln w="38100">
            <a:solidFill>
              <a:srgbClr val="A30D1D"/>
            </a:solidFill>
            <a:prstDash val="solid"/>
            <a:tailEnd type="triangle"/>
          </a:ln>
        </p:spPr>
      </p:sp>
      <p:sp>
        <p:nvSpPr>
          <p:cNvPr id="18" name="Stage box 4"/>
          <p:cNvSpPr/>
          <p:nvPr/>
        </p:nvSpPr>
        <p:spPr>
          <a:xfrm>
            <a:off x="5427615" y="1371600"/>
            <a:ext cx="1306285" cy="2240280"/>
          </a:xfrm>
          <a:prstGeom prst="roundRect">
            <a:avLst>
              <a:gd name="adj" fmla="val 6000"/>
            </a:avLst>
          </a:prstGeom>
          <a:solidFill>
            <a:srgbClr val="A30D1D"/>
          </a:solidFill>
          <a:ln w="12700">
            <a:solidFill>
              <a:srgbClr val="A30D1D"/>
            </a:solidFill>
            <a:prstDash val="solid"/>
          </a:ln>
          <a:effectLst>
            <a:outerShdw blurRad="127000" dist="38100" dir="5400000" algn="bl" rotWithShape="0">
              <a:srgbClr val="000000">
                <a:alpha val="13000"/>
              </a:srgbClr>
            </a:outerShdw>
          </a:effectLst>
        </p:spPr>
      </p:sp>
      <p:sp>
        <p:nvSpPr>
          <p:cNvPr id="19" name="Stage label 4"/>
          <p:cNvSpPr txBox="1"/>
          <p:nvPr/>
        </p:nvSpPr>
        <p:spPr>
          <a:xfrm>
            <a:off x="5519055" y="1508760"/>
            <a:ext cx="1123405" cy="228600"/>
          </a:xfrm>
          <a:prstGeom prst="rect">
            <a:avLst/>
          </a:prstGeom>
          <a:noFill/>
          <a:ln/>
        </p:spPr>
        <p:txBody>
          <a:bodyPr wrap="square" lIns="0" tIns="0" rIns="0" bIns="0" rtlCol="0" anchor="t"/>
          <a:lstStyle/>
          <a:p>
            <a:pPr marL="0" indent="0" algn="l">
              <a:buNone/>
            </a:pPr>
            <a:r>
              <a:rPr lang="en-US" sz="1000" b="1" dirty="0">
                <a:solidFill>
                  <a:srgbClr val="FFFFFF"/>
                </a:solidFill>
              </a:rPr>
              <a:t>AI / LOGIC</a:t>
            </a:r>
            <a:endParaRPr lang="en-US" sz="1000" dirty="0"/>
          </a:p>
        </p:txBody>
      </p:sp>
      <p:sp>
        <p:nvSpPr>
          <p:cNvPr id="20" name="Stage heading 4"/>
          <p:cNvSpPr txBox="1"/>
          <p:nvPr/>
        </p:nvSpPr>
        <p:spPr>
          <a:xfrm>
            <a:off x="5519055" y="1783080"/>
            <a:ext cx="1123405" cy="457200"/>
          </a:xfrm>
          <a:prstGeom prst="rect">
            <a:avLst/>
          </a:prstGeom>
          <a:noFill/>
          <a:ln/>
        </p:spPr>
        <p:txBody>
          <a:bodyPr wrap="square" lIns="0" tIns="0" rIns="0" bIns="0" rtlCol="0" anchor="t"/>
          <a:lstStyle/>
          <a:p>
            <a:pPr marL="0" indent="0" algn="l">
              <a:buNone/>
            </a:pPr>
            <a:r>
              <a:rPr lang="en-US" sz="1300" b="1" dirty="0">
                <a:solidFill>
                  <a:srgbClr val="FFFFFF"/>
                </a:solidFill>
              </a:rPr>
              <a:t>Four components</a:t>
            </a:r>
            <a:endParaRPr lang="en-US" sz="1300" dirty="0"/>
          </a:p>
        </p:txBody>
      </p:sp>
      <p:sp>
        <p:nvSpPr>
          <p:cNvPr id="21" name="Stage text 4"/>
          <p:cNvSpPr txBox="1"/>
          <p:nvPr/>
        </p:nvSpPr>
        <p:spPr>
          <a:xfrm>
            <a:off x="5519055" y="2286000"/>
            <a:ext cx="1123405" cy="1234440"/>
          </a:xfrm>
          <a:prstGeom prst="rect">
            <a:avLst/>
          </a:prstGeom>
          <a:noFill/>
          <a:ln/>
        </p:spPr>
        <p:txBody>
          <a:bodyPr wrap="square" lIns="0" tIns="0" rIns="0" bIns="0" rtlCol="0" anchor="t"/>
          <a:lstStyle/>
          <a:p>
            <a:pPr marL="0" indent="0" algn="l">
              <a:buNone/>
            </a:pPr>
            <a:r>
              <a:rPr lang="en-US" sz="1200" dirty="0">
                <a:solidFill>
                  <a:srgbClr val="FFFFFF"/>
                </a:solidFill>
              </a:rPr>
              <a:t>Temporal BFS, Random Forest risk and next-hop models, Louvain</a:t>
            </a:r>
            <a:endParaRPr lang="en-US" sz="1200" dirty="0"/>
          </a:p>
        </p:txBody>
      </p:sp>
      <p:sp>
        <p:nvSpPr>
          <p:cNvPr id="22" name="Stage arrow 4"/>
          <p:cNvSpPr/>
          <p:nvPr/>
        </p:nvSpPr>
        <p:spPr>
          <a:xfrm>
            <a:off x="6756760" y="2491740"/>
            <a:ext cx="274320" cy="0"/>
          </a:xfrm>
          <a:prstGeom prst="line">
            <a:avLst/>
          </a:prstGeom>
          <a:noFill/>
          <a:ln w="38100">
            <a:solidFill>
              <a:srgbClr val="A30D1D"/>
            </a:solidFill>
            <a:prstDash val="solid"/>
            <a:tailEnd type="triangle"/>
          </a:ln>
        </p:spPr>
      </p:sp>
      <p:sp>
        <p:nvSpPr>
          <p:cNvPr id="23" name="Stage box 5"/>
          <p:cNvSpPr/>
          <p:nvPr/>
        </p:nvSpPr>
        <p:spPr>
          <a:xfrm>
            <a:off x="7053940" y="1371600"/>
            <a:ext cx="1306285" cy="2240280"/>
          </a:xfrm>
          <a:prstGeom prst="roundRect">
            <a:avLst>
              <a:gd name="adj" fmla="val 6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4" name="Stage label 5"/>
          <p:cNvSpPr txBox="1"/>
          <p:nvPr/>
        </p:nvSpPr>
        <p:spPr>
          <a:xfrm>
            <a:off x="7145380" y="1508760"/>
            <a:ext cx="1123405" cy="228600"/>
          </a:xfrm>
          <a:prstGeom prst="rect">
            <a:avLst/>
          </a:prstGeom>
          <a:noFill/>
          <a:ln/>
        </p:spPr>
        <p:txBody>
          <a:bodyPr wrap="square" lIns="0" tIns="0" rIns="0" bIns="0" rtlCol="0" anchor="t"/>
          <a:lstStyle/>
          <a:p>
            <a:pPr marL="0" indent="0" algn="l">
              <a:buNone/>
            </a:pPr>
            <a:r>
              <a:rPr lang="en-US" sz="1000" b="1" dirty="0">
                <a:solidFill>
                  <a:srgbClr val="A30D1D"/>
                </a:solidFill>
              </a:rPr>
              <a:t>DATA / API</a:t>
            </a:r>
            <a:endParaRPr lang="en-US" sz="1000" dirty="0"/>
          </a:p>
        </p:txBody>
      </p:sp>
      <p:sp>
        <p:nvSpPr>
          <p:cNvPr id="25" name="Stage heading 5"/>
          <p:cNvSpPr txBox="1"/>
          <p:nvPr/>
        </p:nvSpPr>
        <p:spPr>
          <a:xfrm>
            <a:off x="7145380" y="1783080"/>
            <a:ext cx="1123405" cy="457200"/>
          </a:xfrm>
          <a:prstGeom prst="rect">
            <a:avLst/>
          </a:prstGeom>
          <a:noFill/>
          <a:ln/>
        </p:spPr>
        <p:txBody>
          <a:bodyPr wrap="square" lIns="0" tIns="0" rIns="0" bIns="0" rtlCol="0" anchor="t"/>
          <a:lstStyle/>
          <a:p>
            <a:pPr marL="0" indent="0" algn="l">
              <a:buNone/>
            </a:pPr>
            <a:r>
              <a:rPr lang="en-US" sz="1300" b="1" dirty="0">
                <a:solidFill>
                  <a:srgbClr val="111111"/>
                </a:solidFill>
              </a:rPr>
              <a:t>Transaction data</a:t>
            </a:r>
            <a:endParaRPr lang="en-US" sz="1300" dirty="0"/>
          </a:p>
        </p:txBody>
      </p:sp>
      <p:sp>
        <p:nvSpPr>
          <p:cNvPr id="26" name="Stage text 5"/>
          <p:cNvSpPr txBox="1"/>
          <p:nvPr/>
        </p:nvSpPr>
        <p:spPr>
          <a:xfrm>
            <a:off x="7145380" y="2286000"/>
            <a:ext cx="1123405" cy="1234440"/>
          </a:xfrm>
          <a:prstGeom prst="rect">
            <a:avLst/>
          </a:prstGeom>
          <a:noFill/>
          <a:ln/>
        </p:spPr>
        <p:txBody>
          <a:bodyPr wrap="square" lIns="0" tIns="0" rIns="0" bIns="0" rtlCol="0" anchor="t"/>
          <a:lstStyle/>
          <a:p>
            <a:pPr marL="0" indent="0" algn="l">
              <a:buNone/>
            </a:pPr>
            <a:r>
              <a:rPr lang="en-US" sz="1200" dirty="0">
                <a:solidFill>
                  <a:srgbClr val="3A3A3A"/>
                </a:solidFill>
              </a:rPr>
              <a:t>Synthetic records; results returned through the API</a:t>
            </a:r>
            <a:endParaRPr lang="en-US" sz="1200" dirty="0"/>
          </a:p>
        </p:txBody>
      </p:sp>
      <p:sp>
        <p:nvSpPr>
          <p:cNvPr id="27" name="Stage arrow 5"/>
          <p:cNvSpPr/>
          <p:nvPr/>
        </p:nvSpPr>
        <p:spPr>
          <a:xfrm>
            <a:off x="8383085" y="2491740"/>
            <a:ext cx="274320" cy="0"/>
          </a:xfrm>
          <a:prstGeom prst="line">
            <a:avLst/>
          </a:prstGeom>
          <a:noFill/>
          <a:ln w="38100">
            <a:solidFill>
              <a:srgbClr val="A30D1D"/>
            </a:solidFill>
            <a:prstDash val="solid"/>
            <a:tailEnd type="triangle"/>
          </a:ln>
        </p:spPr>
      </p:sp>
      <p:sp>
        <p:nvSpPr>
          <p:cNvPr id="28" name="Stage box 6"/>
          <p:cNvSpPr/>
          <p:nvPr/>
        </p:nvSpPr>
        <p:spPr>
          <a:xfrm>
            <a:off x="8680265" y="1371600"/>
            <a:ext cx="1306285" cy="2240280"/>
          </a:xfrm>
          <a:prstGeom prst="roundRect">
            <a:avLst>
              <a:gd name="adj" fmla="val 6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9" name="Stage label 6"/>
          <p:cNvSpPr txBox="1"/>
          <p:nvPr/>
        </p:nvSpPr>
        <p:spPr>
          <a:xfrm>
            <a:off x="8771705" y="1508760"/>
            <a:ext cx="1123405" cy="228600"/>
          </a:xfrm>
          <a:prstGeom prst="rect">
            <a:avLst/>
          </a:prstGeom>
          <a:noFill/>
          <a:ln/>
        </p:spPr>
        <p:txBody>
          <a:bodyPr wrap="square" lIns="0" tIns="0" rIns="0" bIns="0" rtlCol="0" anchor="t"/>
          <a:lstStyle/>
          <a:p>
            <a:pPr marL="0" indent="0" algn="l">
              <a:buNone/>
            </a:pPr>
            <a:r>
              <a:rPr lang="en-US" sz="1000" b="1" dirty="0">
                <a:solidFill>
                  <a:srgbClr val="A30D1D"/>
                </a:solidFill>
              </a:rPr>
              <a:t>RESULT</a:t>
            </a:r>
            <a:endParaRPr lang="en-US" sz="1000" dirty="0"/>
          </a:p>
        </p:txBody>
      </p:sp>
      <p:sp>
        <p:nvSpPr>
          <p:cNvPr id="30" name="Stage heading 6"/>
          <p:cNvSpPr txBox="1"/>
          <p:nvPr/>
        </p:nvSpPr>
        <p:spPr>
          <a:xfrm>
            <a:off x="8771705" y="1783080"/>
            <a:ext cx="1123405" cy="457200"/>
          </a:xfrm>
          <a:prstGeom prst="rect">
            <a:avLst/>
          </a:prstGeom>
          <a:noFill/>
          <a:ln/>
        </p:spPr>
        <p:txBody>
          <a:bodyPr wrap="square" lIns="0" tIns="0" rIns="0" bIns="0" rtlCol="0" anchor="t"/>
          <a:lstStyle/>
          <a:p>
            <a:pPr marL="0" indent="0" algn="l">
              <a:buNone/>
            </a:pPr>
            <a:r>
              <a:rPr lang="en-US" sz="1300" b="1" dirty="0">
                <a:solidFill>
                  <a:srgbClr val="111111"/>
                </a:solidFill>
              </a:rPr>
              <a:t>Findings</a:t>
            </a:r>
            <a:endParaRPr lang="en-US" sz="1300" dirty="0"/>
          </a:p>
        </p:txBody>
      </p:sp>
      <p:sp>
        <p:nvSpPr>
          <p:cNvPr id="31" name="Stage text 6"/>
          <p:cNvSpPr txBox="1"/>
          <p:nvPr/>
        </p:nvSpPr>
        <p:spPr>
          <a:xfrm>
            <a:off x="8771705" y="2286000"/>
            <a:ext cx="1123405" cy="1234440"/>
          </a:xfrm>
          <a:prstGeom prst="rect">
            <a:avLst/>
          </a:prstGeom>
          <a:noFill/>
          <a:ln/>
        </p:spPr>
        <p:txBody>
          <a:bodyPr wrap="square" lIns="0" tIns="0" rIns="0" bIns="0" rtlCol="0" anchor="t"/>
          <a:lstStyle/>
          <a:p>
            <a:pPr marL="0" indent="0" algn="l">
              <a:buNone/>
            </a:pPr>
            <a:r>
              <a:rPr lang="en-US" sz="1200" dirty="0">
                <a:solidFill>
                  <a:srgbClr val="3A3A3A"/>
                </a:solidFill>
              </a:rPr>
              <a:t>Trail, risk scores, next-hop ranking and account groups</a:t>
            </a:r>
            <a:endParaRPr lang="en-US" sz="1200" dirty="0"/>
          </a:p>
        </p:txBody>
      </p:sp>
      <p:sp>
        <p:nvSpPr>
          <p:cNvPr id="32" name="Stage arrow 6"/>
          <p:cNvSpPr/>
          <p:nvPr/>
        </p:nvSpPr>
        <p:spPr>
          <a:xfrm>
            <a:off x="10009410" y="2491740"/>
            <a:ext cx="274320" cy="0"/>
          </a:xfrm>
          <a:prstGeom prst="line">
            <a:avLst/>
          </a:prstGeom>
          <a:noFill/>
          <a:ln w="38100">
            <a:solidFill>
              <a:srgbClr val="A30D1D"/>
            </a:solidFill>
            <a:prstDash val="solid"/>
            <a:tailEnd type="triangle"/>
          </a:ln>
        </p:spPr>
      </p:sp>
      <p:sp>
        <p:nvSpPr>
          <p:cNvPr id="33" name="Stage box 7"/>
          <p:cNvSpPr/>
          <p:nvPr/>
        </p:nvSpPr>
        <p:spPr>
          <a:xfrm>
            <a:off x="10306590" y="1371600"/>
            <a:ext cx="1306285" cy="2240280"/>
          </a:xfrm>
          <a:prstGeom prst="roundRect">
            <a:avLst>
              <a:gd name="adj" fmla="val 6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34" name="Stage label 7"/>
          <p:cNvSpPr txBox="1"/>
          <p:nvPr/>
        </p:nvSpPr>
        <p:spPr>
          <a:xfrm>
            <a:off x="10398030" y="1508760"/>
            <a:ext cx="1123405" cy="228600"/>
          </a:xfrm>
          <a:prstGeom prst="rect">
            <a:avLst/>
          </a:prstGeom>
          <a:noFill/>
          <a:ln/>
        </p:spPr>
        <p:txBody>
          <a:bodyPr wrap="square" lIns="0" tIns="0" rIns="0" bIns="0" rtlCol="0" anchor="t"/>
          <a:lstStyle/>
          <a:p>
            <a:pPr marL="0" indent="0" algn="l">
              <a:buNone/>
            </a:pPr>
            <a:r>
              <a:rPr lang="en-US" sz="1000" b="1" dirty="0">
                <a:solidFill>
                  <a:srgbClr val="A30D1D"/>
                </a:solidFill>
              </a:rPr>
              <a:t>ACTION</a:t>
            </a:r>
            <a:endParaRPr lang="en-US" sz="1000" dirty="0"/>
          </a:p>
        </p:txBody>
      </p:sp>
      <p:sp>
        <p:nvSpPr>
          <p:cNvPr id="35" name="Stage heading 7"/>
          <p:cNvSpPr txBox="1"/>
          <p:nvPr/>
        </p:nvSpPr>
        <p:spPr>
          <a:xfrm>
            <a:off x="10398030" y="1783080"/>
            <a:ext cx="1123405" cy="457200"/>
          </a:xfrm>
          <a:prstGeom prst="rect">
            <a:avLst/>
          </a:prstGeom>
          <a:noFill/>
          <a:ln/>
        </p:spPr>
        <p:txBody>
          <a:bodyPr wrap="square" lIns="0" tIns="0" rIns="0" bIns="0" rtlCol="0" anchor="t"/>
          <a:lstStyle/>
          <a:p>
            <a:pPr marL="0" indent="0" algn="l">
              <a:buNone/>
            </a:pPr>
            <a:r>
              <a:rPr lang="en-US" sz="1300" b="1" dirty="0">
                <a:solidFill>
                  <a:srgbClr val="111111"/>
                </a:solidFill>
              </a:rPr>
              <a:t>Investigator acts</a:t>
            </a:r>
            <a:endParaRPr lang="en-US" sz="1300" dirty="0"/>
          </a:p>
        </p:txBody>
      </p:sp>
      <p:sp>
        <p:nvSpPr>
          <p:cNvPr id="36" name="Stage text 7"/>
          <p:cNvSpPr txBox="1"/>
          <p:nvPr/>
        </p:nvSpPr>
        <p:spPr>
          <a:xfrm>
            <a:off x="10398030" y="2286000"/>
            <a:ext cx="1123405" cy="1234440"/>
          </a:xfrm>
          <a:prstGeom prst="rect">
            <a:avLst/>
          </a:prstGeom>
          <a:noFill/>
          <a:ln/>
        </p:spPr>
        <p:txBody>
          <a:bodyPr wrap="square" lIns="0" tIns="0" rIns="0" bIns="0" rtlCol="0" anchor="t"/>
          <a:lstStyle/>
          <a:p>
            <a:pPr marL="0" indent="0" algn="l">
              <a:buNone/>
            </a:pPr>
            <a:r>
              <a:rPr lang="en-US" sz="1200" dirty="0">
                <a:solidFill>
                  <a:srgbClr val="3A3A3A"/>
                </a:solidFill>
              </a:rPr>
              <a:t>Creates a case, reviews reports or tries the simulated freeze</a:t>
            </a:r>
            <a:endParaRPr lang="en-US" sz="1200" dirty="0"/>
          </a:p>
        </p:txBody>
      </p:sp>
      <p:sp>
        <p:nvSpPr>
          <p:cNvPr id="37" name="Decision card 1"/>
          <p:cNvSpPr/>
          <p:nvPr/>
        </p:nvSpPr>
        <p:spPr>
          <a:xfrm>
            <a:off x="548640" y="3886200"/>
            <a:ext cx="5394960" cy="137160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38" name="Decision marker 1"/>
          <p:cNvSpPr/>
          <p:nvPr/>
        </p:nvSpPr>
        <p:spPr>
          <a:xfrm>
            <a:off x="777240" y="4114800"/>
            <a:ext cx="502920" cy="502920"/>
          </a:xfrm>
          <a:prstGeom prst="diamond">
            <a:avLst/>
          </a:prstGeom>
          <a:solidFill>
            <a:srgbClr val="A30D1D"/>
          </a:solidFill>
          <a:ln w="12700">
            <a:solidFill>
              <a:srgbClr val="A30D1D"/>
            </a:solidFill>
            <a:prstDash val="solid"/>
          </a:ln>
        </p:spPr>
      </p:sp>
      <p:sp>
        <p:nvSpPr>
          <p:cNvPr id="39" name="Decision marker 1 label"/>
          <p:cNvSpPr txBox="1"/>
          <p:nvPr/>
        </p:nvSpPr>
        <p:spPr>
          <a:xfrm>
            <a:off x="777240" y="4114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40" name="Decision text 1"/>
          <p:cNvSpPr txBox="1"/>
          <p:nvPr/>
        </p:nvSpPr>
        <p:spPr>
          <a:xfrm>
            <a:off x="1463040" y="4023360"/>
            <a:ext cx="4251960" cy="1143000"/>
          </a:xfrm>
          <a:prstGeom prst="rect">
            <a:avLst/>
          </a:prstGeom>
          <a:noFill/>
          <a:ln/>
        </p:spPr>
        <p:txBody>
          <a:bodyPr wrap="square" lIns="0" tIns="0" rIns="0" bIns="0" rtlCol="0" anchor="t"/>
          <a:lstStyle/>
          <a:p>
            <a:pPr marL="0" indent="0" algn="l">
              <a:buNone/>
            </a:pPr>
            <a:r>
              <a:rPr lang="en-US" sz="1400" b="1" dirty="0">
                <a:solidFill>
                  <a:srgbClr val="A30D1D"/>
                </a:solidFill>
              </a:rPr>
              <a:t>Decision point 1</a:t>
            </a:r>
            <a:endParaRPr lang="en-US" sz="1400" dirty="0"/>
          </a:p>
          <a:p>
            <a:pPr marL="0" indent="0" algn="l">
              <a:buNone/>
            </a:pPr>
            <a:r>
              <a:rPr lang="en-US" sz="1400" b="1" dirty="0">
                <a:solidFill>
                  <a:srgbClr val="111111"/>
                </a:solidFill>
              </a:rPr>
              <a:t>Is this alert or account worth a closer look?</a:t>
            </a:r>
            <a:endParaRPr lang="en-US" sz="1400" dirty="0"/>
          </a:p>
          <a:p>
            <a:pPr marL="0" indent="0" algn="l">
              <a:buNone/>
            </a:pPr>
            <a:r>
              <a:rPr lang="en-US" sz="1200" dirty="0">
                <a:solidFill>
                  <a:srgbClr val="3A3A3A"/>
                </a:solidFill>
              </a:rPr>
              <a:t>Yes: open the account and inspect the network view and transaction paths.</a:t>
            </a:r>
            <a:endParaRPr lang="en-US" sz="1200" dirty="0"/>
          </a:p>
          <a:p>
            <a:pPr marL="0" indent="0" algn="l">
              <a:buNone/>
            </a:pPr>
            <a:r>
              <a:rPr lang="en-US" sz="1200" dirty="0">
                <a:solidFill>
                  <a:srgbClr val="3A3A3A"/>
                </a:solidFill>
              </a:rPr>
              <a:t>No: return to the dashboard alerts.</a:t>
            </a:r>
            <a:endParaRPr lang="en-US" sz="1200" dirty="0"/>
          </a:p>
        </p:txBody>
      </p:sp>
      <p:sp>
        <p:nvSpPr>
          <p:cNvPr id="41" name="Decision card 2"/>
          <p:cNvSpPr/>
          <p:nvPr/>
        </p:nvSpPr>
        <p:spPr>
          <a:xfrm>
            <a:off x="6217920" y="3886200"/>
            <a:ext cx="5394960" cy="137160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2" name="Decision marker 2"/>
          <p:cNvSpPr/>
          <p:nvPr/>
        </p:nvSpPr>
        <p:spPr>
          <a:xfrm>
            <a:off x="6446520" y="4114800"/>
            <a:ext cx="502920" cy="502920"/>
          </a:xfrm>
          <a:prstGeom prst="diamond">
            <a:avLst/>
          </a:prstGeom>
          <a:solidFill>
            <a:srgbClr val="A30D1D"/>
          </a:solidFill>
          <a:ln w="12700">
            <a:solidFill>
              <a:srgbClr val="A30D1D"/>
            </a:solidFill>
            <a:prstDash val="solid"/>
          </a:ln>
        </p:spPr>
      </p:sp>
      <p:sp>
        <p:nvSpPr>
          <p:cNvPr id="43" name="Decision marker 2 label"/>
          <p:cNvSpPr txBox="1"/>
          <p:nvPr/>
        </p:nvSpPr>
        <p:spPr>
          <a:xfrm>
            <a:off x="6446520" y="4114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44" name="Decision text 2"/>
          <p:cNvSpPr txBox="1"/>
          <p:nvPr/>
        </p:nvSpPr>
        <p:spPr>
          <a:xfrm>
            <a:off x="7132320" y="4023360"/>
            <a:ext cx="4251960" cy="1143000"/>
          </a:xfrm>
          <a:prstGeom prst="rect">
            <a:avLst/>
          </a:prstGeom>
          <a:noFill/>
          <a:ln/>
        </p:spPr>
        <p:txBody>
          <a:bodyPr wrap="square" lIns="0" tIns="0" rIns="0" bIns="0" rtlCol="0" anchor="t"/>
          <a:lstStyle/>
          <a:p>
            <a:pPr marL="0" indent="0" algn="l">
              <a:buNone/>
            </a:pPr>
            <a:r>
              <a:rPr lang="en-US" sz="1400" b="1" dirty="0">
                <a:solidFill>
                  <a:srgbClr val="A30D1D"/>
                </a:solidFill>
              </a:rPr>
              <a:t>Decision point 2</a:t>
            </a:r>
            <a:endParaRPr lang="en-US" sz="1400" dirty="0"/>
          </a:p>
          <a:p>
            <a:pPr marL="0" indent="0" algn="l">
              <a:buNone/>
            </a:pPr>
            <a:r>
              <a:rPr lang="en-US" sz="1400" b="1" dirty="0">
                <a:solidFill>
                  <a:srgbClr val="111111"/>
                </a:solidFill>
              </a:rPr>
              <a:t>Do the risk indicators and next-hop suggestions support action?</a:t>
            </a:r>
            <a:endParaRPr lang="en-US" sz="1400" dirty="0"/>
          </a:p>
          <a:p>
            <a:pPr marL="0" indent="0" algn="l">
              <a:buNone/>
            </a:pPr>
            <a:r>
              <a:rPr lang="en-US" sz="1200" dirty="0">
                <a:solidFill>
                  <a:srgbClr val="3A3A3A"/>
                </a:solidFill>
              </a:rPr>
              <a:t>Yes: create or manage a case, or try the simulated freeze.</a:t>
            </a:r>
            <a:endParaRPr lang="en-US" sz="1200" dirty="0"/>
          </a:p>
          <a:p>
            <a:pPr marL="0" indent="0" algn="l">
              <a:buNone/>
            </a:pPr>
            <a:r>
              <a:rPr lang="en-US" sz="1200" dirty="0">
                <a:solidFill>
                  <a:srgbClr val="3A3A3A"/>
                </a:solidFill>
              </a:rPr>
              <a:t>Not yet: keep following the trail; scores are indicators, not proof.</a:t>
            </a:r>
            <a:endParaRPr lang="en-US" sz="1200" dirty="0"/>
          </a:p>
        </p:txBody>
      </p:sp>
      <p:sp>
        <p:nvSpPr>
          <p:cNvPr id="45" name="Prototype note"/>
          <p:cNvSpPr txBox="1"/>
          <p:nvPr/>
        </p:nvSpPr>
        <p:spPr>
          <a:xfrm>
            <a:off x="548640" y="5440680"/>
            <a:ext cx="11064240" cy="274320"/>
          </a:xfrm>
          <a:prstGeom prst="rect">
            <a:avLst/>
          </a:prstGeom>
          <a:noFill/>
          <a:ln/>
        </p:spPr>
        <p:txBody>
          <a:bodyPr wrap="square" lIns="0" tIns="0" rIns="0" bIns="0" rtlCol="0" anchor="ctr"/>
          <a:lstStyle/>
          <a:p>
            <a:pPr marL="0" indent="0" algn="l">
              <a:buNone/>
            </a:pPr>
            <a:r>
              <a:rPr lang="en-US" sz="1200" i="1" dirty="0">
                <a:solidFill>
                  <a:srgbClr val="B45309"/>
                </a:solidFill>
              </a:rPr>
              <a:t>Prototype: synthetic data; the freeze action is simulated and no real bank account is frozen.</a:t>
            </a:r>
            <a:endParaRPr lang="en-US" sz="1200" dirty="0"/>
          </a:p>
        </p:txBody>
      </p:sp>
      <p:sp>
        <p:nvSpPr>
          <p:cNvPr id="4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Technology </a:t>
            </a:r>
            <a:r>
              <a:rPr lang="en-US" sz="3600" b="1" dirty="0">
                <a:solidFill>
                  <a:srgbClr val="A30D1D"/>
                </a:solidFill>
                <a:latin typeface="Arial" pitchFamily="34" charset="0"/>
                <a:ea typeface="Arial" pitchFamily="34" charset="-122"/>
                <a:cs typeface="Arial" pitchFamily="34" charset="-120"/>
              </a:rPr>
              <a:t>Stack</a:t>
            </a:r>
            <a:endParaRPr lang="en-US" sz="3600" dirty="0"/>
          </a:p>
        </p:txBody>
      </p:sp>
      <p:sp>
        <p:nvSpPr>
          <p:cNvPr id="3" name="Header layer"/>
          <p:cNvSpPr txBox="1"/>
          <p:nvPr/>
        </p:nvSpPr>
        <p:spPr>
          <a:xfrm>
            <a:off x="548640" y="1371600"/>
            <a:ext cx="1645920" cy="274320"/>
          </a:xfrm>
          <a:prstGeom prst="rect">
            <a:avLst/>
          </a:prstGeom>
          <a:noFill/>
          <a:ln/>
        </p:spPr>
        <p:txBody>
          <a:bodyPr wrap="square" lIns="0" tIns="0" rIns="0" bIns="0" rtlCol="0" anchor="ctr"/>
          <a:lstStyle/>
          <a:p>
            <a:pPr marL="0" indent="0" algn="l">
              <a:buNone/>
            </a:pPr>
            <a:r>
              <a:rPr lang="en-US" sz="1200" b="1" dirty="0">
                <a:solidFill>
                  <a:srgbClr val="6B6B6B"/>
                </a:solidFill>
              </a:rPr>
              <a:t>Layer</a:t>
            </a:r>
            <a:endParaRPr lang="en-US" sz="1200" dirty="0"/>
          </a:p>
        </p:txBody>
      </p:sp>
      <p:sp>
        <p:nvSpPr>
          <p:cNvPr id="4" name="Header tech"/>
          <p:cNvSpPr txBox="1"/>
          <p:nvPr/>
        </p:nvSpPr>
        <p:spPr>
          <a:xfrm>
            <a:off x="2377440" y="1371600"/>
            <a:ext cx="3200400" cy="274320"/>
          </a:xfrm>
          <a:prstGeom prst="rect">
            <a:avLst/>
          </a:prstGeom>
          <a:noFill/>
          <a:ln/>
        </p:spPr>
        <p:txBody>
          <a:bodyPr wrap="square" lIns="0" tIns="0" rIns="0" bIns="0" rtlCol="0" anchor="ctr"/>
          <a:lstStyle/>
          <a:p>
            <a:pPr marL="0" indent="0" algn="l">
              <a:buNone/>
            </a:pPr>
            <a:r>
              <a:rPr lang="en-US" sz="1200" b="1" dirty="0">
                <a:solidFill>
                  <a:srgbClr val="6B6B6B"/>
                </a:solidFill>
              </a:rPr>
              <a:t>Technology</a:t>
            </a:r>
            <a:endParaRPr lang="en-US" sz="1200" dirty="0"/>
          </a:p>
        </p:txBody>
      </p:sp>
      <p:sp>
        <p:nvSpPr>
          <p:cNvPr id="5" name="Header why"/>
          <p:cNvSpPr txBox="1"/>
          <p:nvPr/>
        </p:nvSpPr>
        <p:spPr>
          <a:xfrm>
            <a:off x="5760720" y="1371600"/>
            <a:ext cx="5852160" cy="274320"/>
          </a:xfrm>
          <a:prstGeom prst="rect">
            <a:avLst/>
          </a:prstGeom>
          <a:noFill/>
          <a:ln/>
        </p:spPr>
        <p:txBody>
          <a:bodyPr wrap="square" lIns="0" tIns="0" rIns="0" bIns="0" rtlCol="0" anchor="ctr"/>
          <a:lstStyle/>
          <a:p>
            <a:pPr marL="0" indent="0" algn="l">
              <a:buNone/>
            </a:pPr>
            <a:r>
              <a:rPr lang="en-US" sz="1200" b="1" dirty="0">
                <a:solidFill>
                  <a:srgbClr val="6B6B6B"/>
                </a:solidFill>
              </a:rPr>
              <a:t>Why this choice</a:t>
            </a:r>
            <a:endParaRPr lang="en-US" sz="1200" dirty="0"/>
          </a:p>
        </p:txBody>
      </p:sp>
      <p:sp>
        <p:nvSpPr>
          <p:cNvPr id="6" name="Stack row 1"/>
          <p:cNvSpPr/>
          <p:nvPr/>
        </p:nvSpPr>
        <p:spPr>
          <a:xfrm>
            <a:off x="548640" y="1691640"/>
            <a:ext cx="11064240" cy="77724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7" name="Stack chip 1"/>
          <p:cNvSpPr/>
          <p:nvPr/>
        </p:nvSpPr>
        <p:spPr>
          <a:xfrm>
            <a:off x="731520" y="1882140"/>
            <a:ext cx="1645920" cy="396240"/>
          </a:xfrm>
          <a:prstGeom prst="roundRect">
            <a:avLst>
              <a:gd name="adj" fmla="val 30000"/>
            </a:avLst>
          </a:prstGeom>
          <a:solidFill>
            <a:srgbClr val="A30D1D"/>
          </a:solidFill>
          <a:ln w="12700">
            <a:solidFill>
              <a:srgbClr val="A30D1D"/>
            </a:solidFill>
            <a:prstDash val="solid"/>
          </a:ln>
        </p:spPr>
      </p:sp>
      <p:sp>
        <p:nvSpPr>
          <p:cNvPr id="8" name="Stack chip label 1"/>
          <p:cNvSpPr txBox="1"/>
          <p:nvPr/>
        </p:nvSpPr>
        <p:spPr>
          <a:xfrm>
            <a:off x="731520" y="1882140"/>
            <a:ext cx="1645920" cy="396240"/>
          </a:xfrm>
          <a:prstGeom prst="rect">
            <a:avLst/>
          </a:prstGeom>
          <a:noFill/>
          <a:ln/>
        </p:spPr>
        <p:txBody>
          <a:bodyPr wrap="square" lIns="0" tIns="0" rIns="0" bIns="0" rtlCol="0" anchor="ctr"/>
          <a:lstStyle/>
          <a:p>
            <a:pPr marL="0" indent="0" algn="ctr">
              <a:buNone/>
            </a:pPr>
            <a:r>
              <a:rPr lang="en-US" sz="1200" b="1" dirty="0">
                <a:solidFill>
                  <a:srgbClr val="FFFFFF"/>
                </a:solidFill>
              </a:rPr>
              <a:t>Frontend</a:t>
            </a:r>
            <a:endParaRPr lang="en-US" sz="1200" dirty="0"/>
          </a:p>
        </p:txBody>
      </p:sp>
      <p:sp>
        <p:nvSpPr>
          <p:cNvPr id="9" name="Stack tech 1"/>
          <p:cNvSpPr txBox="1"/>
          <p:nvPr/>
        </p:nvSpPr>
        <p:spPr>
          <a:xfrm>
            <a:off x="2651760" y="1691640"/>
            <a:ext cx="2926080" cy="777240"/>
          </a:xfrm>
          <a:prstGeom prst="rect">
            <a:avLst/>
          </a:prstGeom>
          <a:noFill/>
          <a:ln/>
        </p:spPr>
        <p:txBody>
          <a:bodyPr wrap="square" lIns="0" tIns="0" rIns="0" bIns="0" rtlCol="0" anchor="ctr"/>
          <a:lstStyle/>
          <a:p>
            <a:pPr marL="0" indent="0" algn="l">
              <a:buNone/>
            </a:pPr>
            <a:r>
              <a:rPr lang="en-US" sz="1400" b="1" dirty="0">
                <a:solidFill>
                  <a:srgbClr val="111111"/>
                </a:solidFill>
              </a:rPr>
              <a:t>React + Vite</a:t>
            </a:r>
            <a:endParaRPr lang="en-US" sz="1400" dirty="0"/>
          </a:p>
        </p:txBody>
      </p:sp>
      <p:sp>
        <p:nvSpPr>
          <p:cNvPr id="10" name="Stack why 1"/>
          <p:cNvSpPr txBox="1"/>
          <p:nvPr/>
        </p:nvSpPr>
        <p:spPr>
          <a:xfrm>
            <a:off x="5760720" y="1691640"/>
            <a:ext cx="5669280" cy="777240"/>
          </a:xfrm>
          <a:prstGeom prst="rect">
            <a:avLst/>
          </a:prstGeom>
          <a:noFill/>
          <a:ln/>
        </p:spPr>
        <p:txBody>
          <a:bodyPr wrap="square" lIns="0" tIns="0" rIns="0" bIns="0" rtlCol="0" anchor="ctr"/>
          <a:lstStyle/>
          <a:p>
            <a:pPr marL="0" indent="0" algn="l">
              <a:buNone/>
            </a:pPr>
            <a:r>
              <a:rPr lang="en-US" sz="1200" dirty="0">
                <a:solidFill>
                  <a:srgbClr val="3A3A3A"/>
                </a:solidFill>
              </a:rPr>
              <a:t>A fast, component-based interface for the investigator’s workspace and network view.</a:t>
            </a:r>
            <a:endParaRPr lang="en-US" sz="1200" dirty="0"/>
          </a:p>
        </p:txBody>
      </p:sp>
      <p:sp>
        <p:nvSpPr>
          <p:cNvPr id="11" name="Stack row 2"/>
          <p:cNvSpPr/>
          <p:nvPr/>
        </p:nvSpPr>
        <p:spPr>
          <a:xfrm>
            <a:off x="548640" y="2560320"/>
            <a:ext cx="11064240" cy="77724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2" name="Stack chip 2"/>
          <p:cNvSpPr/>
          <p:nvPr/>
        </p:nvSpPr>
        <p:spPr>
          <a:xfrm>
            <a:off x="731520" y="2750820"/>
            <a:ext cx="1645920" cy="396240"/>
          </a:xfrm>
          <a:prstGeom prst="roundRect">
            <a:avLst>
              <a:gd name="adj" fmla="val 30000"/>
            </a:avLst>
          </a:prstGeom>
          <a:solidFill>
            <a:srgbClr val="A30D1D"/>
          </a:solidFill>
          <a:ln w="12700">
            <a:solidFill>
              <a:srgbClr val="A30D1D"/>
            </a:solidFill>
            <a:prstDash val="solid"/>
          </a:ln>
        </p:spPr>
      </p:sp>
      <p:sp>
        <p:nvSpPr>
          <p:cNvPr id="13" name="Stack chip label 2"/>
          <p:cNvSpPr txBox="1"/>
          <p:nvPr/>
        </p:nvSpPr>
        <p:spPr>
          <a:xfrm>
            <a:off x="731520" y="2750820"/>
            <a:ext cx="1645920" cy="396240"/>
          </a:xfrm>
          <a:prstGeom prst="rect">
            <a:avLst/>
          </a:prstGeom>
          <a:noFill/>
          <a:ln/>
        </p:spPr>
        <p:txBody>
          <a:bodyPr wrap="square" lIns="0" tIns="0" rIns="0" bIns="0" rtlCol="0" anchor="ctr"/>
          <a:lstStyle/>
          <a:p>
            <a:pPr marL="0" indent="0" algn="ctr">
              <a:buNone/>
            </a:pPr>
            <a:r>
              <a:rPr lang="en-US" sz="1200" b="1" dirty="0">
                <a:solidFill>
                  <a:srgbClr val="FFFFFF"/>
                </a:solidFill>
              </a:rPr>
              <a:t>Backend</a:t>
            </a:r>
            <a:endParaRPr lang="en-US" sz="1200" dirty="0"/>
          </a:p>
        </p:txBody>
      </p:sp>
      <p:sp>
        <p:nvSpPr>
          <p:cNvPr id="14" name="Stack tech 2"/>
          <p:cNvSpPr txBox="1"/>
          <p:nvPr/>
        </p:nvSpPr>
        <p:spPr>
          <a:xfrm>
            <a:off x="2651760" y="2560320"/>
            <a:ext cx="2926080" cy="777240"/>
          </a:xfrm>
          <a:prstGeom prst="rect">
            <a:avLst/>
          </a:prstGeom>
          <a:noFill/>
          <a:ln/>
        </p:spPr>
        <p:txBody>
          <a:bodyPr wrap="square" lIns="0" tIns="0" rIns="0" bIns="0" rtlCol="0" anchor="ctr"/>
          <a:lstStyle/>
          <a:p>
            <a:pPr marL="0" indent="0" algn="l">
              <a:buNone/>
            </a:pPr>
            <a:r>
              <a:rPr lang="en-US" sz="1400" b="1" dirty="0">
                <a:solidFill>
                  <a:srgbClr val="111111"/>
                </a:solidFill>
              </a:rPr>
              <a:t>Python + FastAPI</a:t>
            </a:r>
            <a:endParaRPr lang="en-US" sz="1400" dirty="0"/>
          </a:p>
        </p:txBody>
      </p:sp>
      <p:sp>
        <p:nvSpPr>
          <p:cNvPr id="15" name="Stack why 2"/>
          <p:cNvSpPr txBox="1"/>
          <p:nvPr/>
        </p:nvSpPr>
        <p:spPr>
          <a:xfrm>
            <a:off x="5760720" y="2560320"/>
            <a:ext cx="5669280" cy="777240"/>
          </a:xfrm>
          <a:prstGeom prst="rect">
            <a:avLst/>
          </a:prstGeom>
          <a:noFill/>
          <a:ln/>
        </p:spPr>
        <p:txBody>
          <a:bodyPr wrap="square" lIns="0" tIns="0" rIns="0" bIns="0" rtlCol="0" anchor="ctr"/>
          <a:lstStyle/>
          <a:p>
            <a:pPr marL="0" indent="0" algn="l">
              <a:buNone/>
            </a:pPr>
            <a:r>
              <a:rPr lang="en-US" sz="1200" dirty="0">
                <a:solidFill>
                  <a:srgbClr val="3A3A3A"/>
                </a:solidFill>
              </a:rPr>
              <a:t>Python keeps the API in the same language as the analysis; FastAPI handles requests and runs it.</a:t>
            </a:r>
            <a:endParaRPr lang="en-US" sz="1200" dirty="0"/>
          </a:p>
        </p:txBody>
      </p:sp>
      <p:sp>
        <p:nvSpPr>
          <p:cNvPr id="16" name="Stack row 3"/>
          <p:cNvSpPr/>
          <p:nvPr/>
        </p:nvSpPr>
        <p:spPr>
          <a:xfrm>
            <a:off x="548640" y="3429000"/>
            <a:ext cx="11064240" cy="77724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7" name="Stack chip 3"/>
          <p:cNvSpPr/>
          <p:nvPr/>
        </p:nvSpPr>
        <p:spPr>
          <a:xfrm>
            <a:off x="731520" y="3619500"/>
            <a:ext cx="1645920" cy="396240"/>
          </a:xfrm>
          <a:prstGeom prst="roundRect">
            <a:avLst>
              <a:gd name="adj" fmla="val 30000"/>
            </a:avLst>
          </a:prstGeom>
          <a:solidFill>
            <a:srgbClr val="A30D1D"/>
          </a:solidFill>
          <a:ln w="12700">
            <a:solidFill>
              <a:srgbClr val="A30D1D"/>
            </a:solidFill>
            <a:prstDash val="solid"/>
          </a:ln>
        </p:spPr>
      </p:sp>
      <p:sp>
        <p:nvSpPr>
          <p:cNvPr id="18" name="Stack chip label 3"/>
          <p:cNvSpPr txBox="1"/>
          <p:nvPr/>
        </p:nvSpPr>
        <p:spPr>
          <a:xfrm>
            <a:off x="731520" y="3619500"/>
            <a:ext cx="1645920" cy="396240"/>
          </a:xfrm>
          <a:prstGeom prst="rect">
            <a:avLst/>
          </a:prstGeom>
          <a:noFill/>
          <a:ln/>
        </p:spPr>
        <p:txBody>
          <a:bodyPr wrap="square" lIns="0" tIns="0" rIns="0" bIns="0" rtlCol="0" anchor="ctr"/>
          <a:lstStyle/>
          <a:p>
            <a:pPr marL="0" indent="0" algn="ctr">
              <a:buNone/>
            </a:pPr>
            <a:r>
              <a:rPr lang="en-US" sz="1200" b="1" dirty="0">
                <a:solidFill>
                  <a:srgbClr val="FFFFFF"/>
                </a:solidFill>
              </a:rPr>
              <a:t>AI / ML and graph logic</a:t>
            </a:r>
            <a:endParaRPr lang="en-US" sz="1200" dirty="0"/>
          </a:p>
        </p:txBody>
      </p:sp>
      <p:sp>
        <p:nvSpPr>
          <p:cNvPr id="19" name="Stack tech 3"/>
          <p:cNvSpPr txBox="1"/>
          <p:nvPr/>
        </p:nvSpPr>
        <p:spPr>
          <a:xfrm>
            <a:off x="2651760" y="3429000"/>
            <a:ext cx="2926080" cy="777240"/>
          </a:xfrm>
          <a:prstGeom prst="rect">
            <a:avLst/>
          </a:prstGeom>
          <a:noFill/>
          <a:ln/>
        </p:spPr>
        <p:txBody>
          <a:bodyPr wrap="square" lIns="0" tIns="0" rIns="0" bIns="0" rtlCol="0" anchor="ctr"/>
          <a:lstStyle/>
          <a:p>
            <a:pPr marL="0" indent="0" algn="l">
              <a:buNone/>
            </a:pPr>
            <a:r>
              <a:rPr lang="en-US" sz="1400" b="1" dirty="0">
                <a:solidFill>
                  <a:srgbClr val="111111"/>
                </a:solidFill>
              </a:rPr>
              <a:t>Random Forest (risk, next hop)</a:t>
            </a:r>
            <a:endParaRPr lang="en-US" sz="1400" dirty="0"/>
          </a:p>
          <a:p>
            <a:pPr marL="0" indent="0" algn="l">
              <a:buNone/>
            </a:pPr>
            <a:r>
              <a:rPr lang="en-US" sz="1400" b="1" dirty="0">
                <a:solidFill>
                  <a:srgbClr val="111111"/>
                </a:solidFill>
              </a:rPr>
              <a:t>Temporal BFS, Louvain</a:t>
            </a:r>
            <a:endParaRPr lang="en-US" sz="1400" dirty="0"/>
          </a:p>
        </p:txBody>
      </p:sp>
      <p:sp>
        <p:nvSpPr>
          <p:cNvPr id="20" name="Stack why 3"/>
          <p:cNvSpPr txBox="1"/>
          <p:nvPr/>
        </p:nvSpPr>
        <p:spPr>
          <a:xfrm>
            <a:off x="5760720" y="3429000"/>
            <a:ext cx="5669280" cy="777240"/>
          </a:xfrm>
          <a:prstGeom prst="rect">
            <a:avLst/>
          </a:prstGeom>
          <a:noFill/>
          <a:ln/>
        </p:spPr>
        <p:txBody>
          <a:bodyPr wrap="square" lIns="0" tIns="0" rIns="0" bIns="0" rtlCol="0" anchor="ctr"/>
          <a:lstStyle/>
          <a:p>
            <a:pPr marL="0" indent="0" algn="l">
              <a:buNone/>
            </a:pPr>
            <a:r>
              <a:rPr lang="en-US" sz="1200" dirty="0">
                <a:solidFill>
                  <a:srgbClr val="3A3A3A"/>
                </a:solidFill>
              </a:rPr>
              <a:t>Random Forest suits tabular account features; Temporal BFS respects time order; Louvain finds connected groups.</a:t>
            </a:r>
            <a:endParaRPr lang="en-US" sz="1200" dirty="0"/>
          </a:p>
        </p:txBody>
      </p:sp>
      <p:sp>
        <p:nvSpPr>
          <p:cNvPr id="21" name="Stack row 4"/>
          <p:cNvSpPr/>
          <p:nvPr/>
        </p:nvSpPr>
        <p:spPr>
          <a:xfrm>
            <a:off x="548640" y="4297680"/>
            <a:ext cx="11064240" cy="77724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2" name="Stack chip 4"/>
          <p:cNvSpPr/>
          <p:nvPr/>
        </p:nvSpPr>
        <p:spPr>
          <a:xfrm>
            <a:off x="731520" y="4488180"/>
            <a:ext cx="1645920" cy="396240"/>
          </a:xfrm>
          <a:prstGeom prst="roundRect">
            <a:avLst>
              <a:gd name="adj" fmla="val 30000"/>
            </a:avLst>
          </a:prstGeom>
          <a:solidFill>
            <a:srgbClr val="A30D1D"/>
          </a:solidFill>
          <a:ln w="12700">
            <a:solidFill>
              <a:srgbClr val="A30D1D"/>
            </a:solidFill>
            <a:prstDash val="solid"/>
          </a:ln>
        </p:spPr>
      </p:sp>
      <p:sp>
        <p:nvSpPr>
          <p:cNvPr id="23" name="Stack chip label 4"/>
          <p:cNvSpPr txBox="1"/>
          <p:nvPr/>
        </p:nvSpPr>
        <p:spPr>
          <a:xfrm>
            <a:off x="731520" y="4488180"/>
            <a:ext cx="1645920" cy="396240"/>
          </a:xfrm>
          <a:prstGeom prst="rect">
            <a:avLst/>
          </a:prstGeom>
          <a:noFill/>
          <a:ln/>
        </p:spPr>
        <p:txBody>
          <a:bodyPr wrap="square" lIns="0" tIns="0" rIns="0" bIns="0" rtlCol="0" anchor="ctr"/>
          <a:lstStyle/>
          <a:p>
            <a:pPr marL="0" indent="0" algn="ctr">
              <a:buNone/>
            </a:pPr>
            <a:r>
              <a:rPr lang="en-US" sz="1200" b="1" dirty="0">
                <a:solidFill>
                  <a:srgbClr val="FFFFFF"/>
                </a:solidFill>
              </a:rPr>
              <a:t>Database</a:t>
            </a:r>
            <a:endParaRPr lang="en-US" sz="1200" dirty="0"/>
          </a:p>
        </p:txBody>
      </p:sp>
      <p:sp>
        <p:nvSpPr>
          <p:cNvPr id="24" name="Stack tech 4"/>
          <p:cNvSpPr txBox="1"/>
          <p:nvPr/>
        </p:nvSpPr>
        <p:spPr>
          <a:xfrm>
            <a:off x="2651760" y="4297680"/>
            <a:ext cx="2926080" cy="777240"/>
          </a:xfrm>
          <a:prstGeom prst="rect">
            <a:avLst/>
          </a:prstGeom>
          <a:noFill/>
          <a:ln/>
        </p:spPr>
        <p:txBody>
          <a:bodyPr wrap="square" lIns="0" tIns="0" rIns="0" bIns="0" rtlCol="0" anchor="ctr"/>
          <a:lstStyle/>
          <a:p>
            <a:pPr marL="0" indent="0" algn="l">
              <a:buNone/>
            </a:pPr>
            <a:r>
              <a:rPr lang="en-US" sz="1400" b="1" dirty="0">
                <a:solidFill>
                  <a:srgbClr val="111111"/>
                </a:solidFill>
              </a:rPr>
              <a:t>Synthetic transaction dataset</a:t>
            </a:r>
            <a:endParaRPr lang="en-US" sz="1400" dirty="0"/>
          </a:p>
          <a:p>
            <a:pPr marL="0" indent="0" algn="l">
              <a:buNone/>
            </a:pPr>
            <a:r>
              <a:rPr lang="en-US" sz="1200" i="1" dirty="0">
                <a:solidFill>
                  <a:srgbClr val="B45309"/>
                </a:solidFill>
              </a:rPr>
              <a:t>To confirm: storage used</a:t>
            </a:r>
            <a:endParaRPr lang="en-US" sz="1200" dirty="0"/>
          </a:p>
        </p:txBody>
      </p:sp>
      <p:sp>
        <p:nvSpPr>
          <p:cNvPr id="25" name="Stack why 4"/>
          <p:cNvSpPr txBox="1"/>
          <p:nvPr/>
        </p:nvSpPr>
        <p:spPr>
          <a:xfrm>
            <a:off x="5760720" y="4297680"/>
            <a:ext cx="5669280" cy="777240"/>
          </a:xfrm>
          <a:prstGeom prst="rect">
            <a:avLst/>
          </a:prstGeom>
          <a:noFill/>
          <a:ln/>
        </p:spPr>
        <p:txBody>
          <a:bodyPr wrap="square" lIns="0" tIns="0" rIns="0" bIns="0" rtlCol="0" anchor="ctr"/>
          <a:lstStyle/>
          <a:p>
            <a:pPr marL="0" indent="0" algn="l">
              <a:buNone/>
            </a:pPr>
            <a:r>
              <a:rPr lang="en-US" sz="1200" dirty="0">
                <a:solidFill>
                  <a:srgbClr val="3A3A3A"/>
                </a:solidFill>
              </a:rPr>
              <a:t>Synthetic data keeps the prototype free of real customer records.</a:t>
            </a:r>
            <a:endParaRPr lang="en-US" sz="1200" dirty="0"/>
          </a:p>
        </p:txBody>
      </p:sp>
      <p:sp>
        <p:nvSpPr>
          <p:cNvPr id="26" name="Stack row 5"/>
          <p:cNvSpPr/>
          <p:nvPr/>
        </p:nvSpPr>
        <p:spPr>
          <a:xfrm>
            <a:off x="548640" y="5166360"/>
            <a:ext cx="11064240" cy="777240"/>
          </a:xfrm>
          <a:prstGeom prst="roundRect">
            <a:avLst>
              <a:gd name="adj" fmla="val 8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7" name="Stack chip 5"/>
          <p:cNvSpPr/>
          <p:nvPr/>
        </p:nvSpPr>
        <p:spPr>
          <a:xfrm>
            <a:off x="731520" y="5356860"/>
            <a:ext cx="1645920" cy="396240"/>
          </a:xfrm>
          <a:prstGeom prst="roundRect">
            <a:avLst>
              <a:gd name="adj" fmla="val 30000"/>
            </a:avLst>
          </a:prstGeom>
          <a:solidFill>
            <a:srgbClr val="A30D1D"/>
          </a:solidFill>
          <a:ln w="12700">
            <a:solidFill>
              <a:srgbClr val="A30D1D"/>
            </a:solidFill>
            <a:prstDash val="solid"/>
          </a:ln>
        </p:spPr>
      </p:sp>
      <p:sp>
        <p:nvSpPr>
          <p:cNvPr id="28" name="Stack chip label 5"/>
          <p:cNvSpPr txBox="1"/>
          <p:nvPr/>
        </p:nvSpPr>
        <p:spPr>
          <a:xfrm>
            <a:off x="731520" y="5356860"/>
            <a:ext cx="1645920" cy="396240"/>
          </a:xfrm>
          <a:prstGeom prst="rect">
            <a:avLst/>
          </a:prstGeom>
          <a:noFill/>
          <a:ln/>
        </p:spPr>
        <p:txBody>
          <a:bodyPr wrap="square" lIns="0" tIns="0" rIns="0" bIns="0" rtlCol="0" anchor="ctr"/>
          <a:lstStyle/>
          <a:p>
            <a:pPr marL="0" indent="0" algn="ctr">
              <a:buNone/>
            </a:pPr>
            <a:r>
              <a:rPr lang="en-US" sz="1200" b="1" dirty="0">
                <a:solidFill>
                  <a:srgbClr val="FFFFFF"/>
                </a:solidFill>
              </a:rPr>
              <a:t>Cloud / APIs</a:t>
            </a:r>
            <a:endParaRPr lang="en-US" sz="1200" dirty="0"/>
          </a:p>
        </p:txBody>
      </p:sp>
      <p:sp>
        <p:nvSpPr>
          <p:cNvPr id="29" name="Stack tech 5"/>
          <p:cNvSpPr txBox="1"/>
          <p:nvPr/>
        </p:nvSpPr>
        <p:spPr>
          <a:xfrm>
            <a:off x="2651760" y="5166360"/>
            <a:ext cx="2926080" cy="777240"/>
          </a:xfrm>
          <a:prstGeom prst="rect">
            <a:avLst/>
          </a:prstGeom>
          <a:noFill/>
          <a:ln/>
        </p:spPr>
        <p:txBody>
          <a:bodyPr wrap="square" lIns="0" tIns="0" rIns="0" bIns="0" rtlCol="0" anchor="ctr"/>
          <a:lstStyle/>
          <a:p>
            <a:pPr marL="0" indent="0" algn="l">
              <a:buNone/>
            </a:pPr>
            <a:r>
              <a:rPr lang="en-US" sz="1400" b="1" dirty="0">
                <a:solidFill>
                  <a:srgbClr val="111111"/>
                </a:solidFill>
              </a:rPr>
              <a:t>Backend API (FastAPI)</a:t>
            </a:r>
            <a:endParaRPr lang="en-US" sz="1400" dirty="0"/>
          </a:p>
          <a:p>
            <a:pPr marL="0" indent="0" algn="l">
              <a:buNone/>
            </a:pPr>
            <a:r>
              <a:rPr lang="en-US" sz="1200" i="1" dirty="0">
                <a:solidFill>
                  <a:srgbClr val="B45309"/>
                </a:solidFill>
              </a:rPr>
              <a:t>To confirm: hosting</a:t>
            </a:r>
            <a:endParaRPr lang="en-US" sz="1200" dirty="0"/>
          </a:p>
        </p:txBody>
      </p:sp>
      <p:sp>
        <p:nvSpPr>
          <p:cNvPr id="30" name="Stack why 5"/>
          <p:cNvSpPr txBox="1"/>
          <p:nvPr/>
        </p:nvSpPr>
        <p:spPr>
          <a:xfrm>
            <a:off x="5760720" y="5166360"/>
            <a:ext cx="5669280" cy="777240"/>
          </a:xfrm>
          <a:prstGeom prst="rect">
            <a:avLst/>
          </a:prstGeom>
          <a:noFill/>
          <a:ln/>
        </p:spPr>
        <p:txBody>
          <a:bodyPr wrap="square" lIns="0" tIns="0" rIns="0" bIns="0" rtlCol="0" anchor="ctr"/>
          <a:lstStyle/>
          <a:p>
            <a:pPr marL="0" indent="0" algn="l">
              <a:buNone/>
            </a:pPr>
            <a:r>
              <a:rPr lang="en-US" sz="1200" dirty="0">
                <a:solidFill>
                  <a:srgbClr val="3A3A3A"/>
                </a:solidFill>
              </a:rPr>
              <a:t>No external banking or payment APIs in the prototype; secure integrations are future scope.</a:t>
            </a:r>
            <a:endParaRPr lang="en-US" sz="12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System Architecture </a:t>
            </a:r>
            <a:r>
              <a:rPr lang="en-US" sz="3600" b="1" dirty="0">
                <a:solidFill>
                  <a:srgbClr val="A30D1D"/>
                </a:solidFill>
                <a:latin typeface="Arial" pitchFamily="34" charset="0"/>
                <a:ea typeface="Arial" pitchFamily="34" charset="-122"/>
                <a:cs typeface="Arial" pitchFamily="34" charset="-120"/>
              </a:rPr>
              <a:t>and Models</a:t>
            </a:r>
            <a:endParaRPr lang="en-US" sz="3600" dirty="0"/>
          </a:p>
        </p:txBody>
      </p:sp>
      <p:sp>
        <p:nvSpPr>
          <p:cNvPr id="3" name="Flow box 1"/>
          <p:cNvSpPr/>
          <p:nvPr/>
        </p:nvSpPr>
        <p:spPr>
          <a:xfrm>
            <a:off x="548640" y="1325880"/>
            <a:ext cx="2377440" cy="822960"/>
          </a:xfrm>
          <a:prstGeom prst="roundRect">
            <a:avLst>
              <a:gd name="adj" fmla="val 12174"/>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 name="Flow text 1"/>
          <p:cNvSpPr txBox="1"/>
          <p:nvPr/>
        </p:nvSpPr>
        <p:spPr>
          <a:xfrm>
            <a:off x="640080" y="1325880"/>
            <a:ext cx="2194560" cy="822960"/>
          </a:xfrm>
          <a:prstGeom prst="rect">
            <a:avLst/>
          </a:prstGeom>
          <a:noFill/>
          <a:ln/>
        </p:spPr>
        <p:txBody>
          <a:bodyPr wrap="square" lIns="0" tIns="0" rIns="0" bIns="0" rtlCol="0" anchor="ctr"/>
          <a:lstStyle/>
          <a:p>
            <a:pPr marL="0" indent="0" algn="ctr">
              <a:buNone/>
            </a:pPr>
            <a:r>
              <a:rPr lang="en-US" sz="1500" b="1" dirty="0">
                <a:solidFill>
                  <a:srgbClr val="111111"/>
                </a:solidFill>
              </a:rPr>
              <a:t>React + Vite</a:t>
            </a:r>
            <a:endParaRPr lang="en-US" sz="1500" dirty="0"/>
          </a:p>
          <a:p>
            <a:pPr marL="0" indent="0" algn="ctr">
              <a:buNone/>
            </a:pPr>
            <a:r>
              <a:rPr lang="en-US" sz="1100" dirty="0">
                <a:solidFill>
                  <a:srgbClr val="6B6B6B"/>
                </a:solidFill>
              </a:rPr>
              <a:t>Frontend: the investigator’s workspace</a:t>
            </a:r>
            <a:endParaRPr lang="en-US" sz="1100" dirty="0"/>
          </a:p>
        </p:txBody>
      </p:sp>
      <p:sp>
        <p:nvSpPr>
          <p:cNvPr id="5" name="Flow arrow 1"/>
          <p:cNvSpPr/>
          <p:nvPr/>
        </p:nvSpPr>
        <p:spPr>
          <a:xfrm>
            <a:off x="2971800" y="1737360"/>
            <a:ext cx="426720" cy="0"/>
          </a:xfrm>
          <a:prstGeom prst="line">
            <a:avLst/>
          </a:prstGeom>
          <a:noFill/>
          <a:ln w="38100">
            <a:solidFill>
              <a:srgbClr val="A30D1D"/>
            </a:solidFill>
            <a:prstDash val="solid"/>
            <a:tailEnd type="triangle"/>
          </a:ln>
        </p:spPr>
      </p:sp>
      <p:sp>
        <p:nvSpPr>
          <p:cNvPr id="6" name="Flow box 2"/>
          <p:cNvSpPr/>
          <p:nvPr/>
        </p:nvSpPr>
        <p:spPr>
          <a:xfrm>
            <a:off x="3444240" y="1325880"/>
            <a:ext cx="2377440" cy="822960"/>
          </a:xfrm>
          <a:prstGeom prst="roundRect">
            <a:avLst>
              <a:gd name="adj" fmla="val 12174"/>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7" name="Flow text 2"/>
          <p:cNvSpPr txBox="1"/>
          <p:nvPr/>
        </p:nvSpPr>
        <p:spPr>
          <a:xfrm>
            <a:off x="3535680" y="1325880"/>
            <a:ext cx="2194560" cy="822960"/>
          </a:xfrm>
          <a:prstGeom prst="rect">
            <a:avLst/>
          </a:prstGeom>
          <a:noFill/>
          <a:ln/>
        </p:spPr>
        <p:txBody>
          <a:bodyPr wrap="square" lIns="0" tIns="0" rIns="0" bIns="0" rtlCol="0" anchor="ctr"/>
          <a:lstStyle/>
          <a:p>
            <a:pPr marL="0" indent="0" algn="ctr">
              <a:buNone/>
            </a:pPr>
            <a:r>
              <a:rPr lang="en-US" sz="1500" b="1" dirty="0">
                <a:solidFill>
                  <a:srgbClr val="111111"/>
                </a:solidFill>
              </a:rPr>
              <a:t>Python + FastAPI</a:t>
            </a:r>
            <a:endParaRPr lang="en-US" sz="1500" dirty="0"/>
          </a:p>
          <a:p>
            <a:pPr marL="0" indent="0" algn="ctr">
              <a:buNone/>
            </a:pPr>
            <a:r>
              <a:rPr lang="en-US" sz="1100" dirty="0">
                <a:solidFill>
                  <a:srgbClr val="6B6B6B"/>
                </a:solidFill>
              </a:rPr>
              <a:t>Backend: handles requests, runs the analysis</a:t>
            </a:r>
            <a:endParaRPr lang="en-US" sz="1100" dirty="0"/>
          </a:p>
        </p:txBody>
      </p:sp>
      <p:sp>
        <p:nvSpPr>
          <p:cNvPr id="8" name="Flow arrow 2"/>
          <p:cNvSpPr/>
          <p:nvPr/>
        </p:nvSpPr>
        <p:spPr>
          <a:xfrm>
            <a:off x="5867400" y="1737360"/>
            <a:ext cx="426720" cy="0"/>
          </a:xfrm>
          <a:prstGeom prst="line">
            <a:avLst/>
          </a:prstGeom>
          <a:noFill/>
          <a:ln w="38100">
            <a:solidFill>
              <a:srgbClr val="A30D1D"/>
            </a:solidFill>
            <a:prstDash val="solid"/>
            <a:tailEnd type="triangle"/>
          </a:ln>
        </p:spPr>
      </p:sp>
      <p:sp>
        <p:nvSpPr>
          <p:cNvPr id="9" name="Flow box 3"/>
          <p:cNvSpPr/>
          <p:nvPr/>
        </p:nvSpPr>
        <p:spPr>
          <a:xfrm>
            <a:off x="6339840" y="1325880"/>
            <a:ext cx="2377440" cy="822960"/>
          </a:xfrm>
          <a:prstGeom prst="roundRect">
            <a:avLst>
              <a:gd name="adj" fmla="val 12174"/>
            </a:avLst>
          </a:prstGeom>
          <a:solidFill>
            <a:srgbClr val="A30D1D"/>
          </a:solidFill>
          <a:ln w="12700">
            <a:solidFill>
              <a:srgbClr val="A30D1D"/>
            </a:solidFill>
            <a:prstDash val="solid"/>
          </a:ln>
          <a:effectLst>
            <a:outerShdw blurRad="127000" dist="38100" dir="5400000" algn="bl" rotWithShape="0">
              <a:srgbClr val="000000">
                <a:alpha val="13000"/>
              </a:srgbClr>
            </a:outerShdw>
          </a:effectLst>
        </p:spPr>
      </p:sp>
      <p:sp>
        <p:nvSpPr>
          <p:cNvPr id="10" name="Flow text 3"/>
          <p:cNvSpPr txBox="1"/>
          <p:nvPr/>
        </p:nvSpPr>
        <p:spPr>
          <a:xfrm>
            <a:off x="6431280" y="1325880"/>
            <a:ext cx="2194560" cy="822960"/>
          </a:xfrm>
          <a:prstGeom prst="rect">
            <a:avLst/>
          </a:prstGeom>
          <a:noFill/>
          <a:ln/>
        </p:spPr>
        <p:txBody>
          <a:bodyPr wrap="square" lIns="0" tIns="0" rIns="0" bIns="0" rtlCol="0" anchor="ctr"/>
          <a:lstStyle/>
          <a:p>
            <a:pPr marL="0" indent="0" algn="ctr">
              <a:buNone/>
            </a:pPr>
            <a:r>
              <a:rPr lang="en-US" sz="1500" b="1" dirty="0">
                <a:solidFill>
                  <a:srgbClr val="FFFFFF"/>
                </a:solidFill>
              </a:rPr>
              <a:t>Four analysis components</a:t>
            </a:r>
            <a:endParaRPr lang="en-US" sz="1500" dirty="0"/>
          </a:p>
          <a:p>
            <a:pPr marL="0" indent="0" algn="ctr">
              <a:buNone/>
            </a:pPr>
            <a:r>
              <a:rPr lang="en-US" sz="1100" dirty="0">
                <a:solidFill>
                  <a:srgbClr val="FFFFFF"/>
                </a:solidFill>
              </a:rPr>
              <a:t>Graph algorithms and machine learning (below)</a:t>
            </a:r>
            <a:endParaRPr lang="en-US" sz="1100" dirty="0"/>
          </a:p>
        </p:txBody>
      </p:sp>
      <p:sp>
        <p:nvSpPr>
          <p:cNvPr id="11" name="Flow arrow 3"/>
          <p:cNvSpPr/>
          <p:nvPr/>
        </p:nvSpPr>
        <p:spPr>
          <a:xfrm>
            <a:off x="8763000" y="1737360"/>
            <a:ext cx="426720" cy="0"/>
          </a:xfrm>
          <a:prstGeom prst="line">
            <a:avLst/>
          </a:prstGeom>
          <a:noFill/>
          <a:ln w="38100">
            <a:solidFill>
              <a:srgbClr val="A30D1D"/>
            </a:solidFill>
            <a:prstDash val="solid"/>
            <a:tailEnd type="triangle"/>
          </a:ln>
        </p:spPr>
      </p:sp>
      <p:sp>
        <p:nvSpPr>
          <p:cNvPr id="12" name="Flow box 4"/>
          <p:cNvSpPr/>
          <p:nvPr/>
        </p:nvSpPr>
        <p:spPr>
          <a:xfrm>
            <a:off x="9235440" y="1325880"/>
            <a:ext cx="2377440" cy="822960"/>
          </a:xfrm>
          <a:prstGeom prst="roundRect">
            <a:avLst>
              <a:gd name="adj" fmla="val 12174"/>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3" name="Flow text 4"/>
          <p:cNvSpPr txBox="1"/>
          <p:nvPr/>
        </p:nvSpPr>
        <p:spPr>
          <a:xfrm>
            <a:off x="9326880" y="1325880"/>
            <a:ext cx="2194560" cy="822960"/>
          </a:xfrm>
          <a:prstGeom prst="rect">
            <a:avLst/>
          </a:prstGeom>
          <a:noFill/>
          <a:ln/>
        </p:spPr>
        <p:txBody>
          <a:bodyPr wrap="square" lIns="0" tIns="0" rIns="0" bIns="0" rtlCol="0" anchor="ctr"/>
          <a:lstStyle/>
          <a:p>
            <a:pPr marL="0" indent="0" algn="ctr">
              <a:buNone/>
            </a:pPr>
            <a:r>
              <a:rPr lang="en-US" sz="1500" b="1" dirty="0">
                <a:solidFill>
                  <a:srgbClr val="111111"/>
                </a:solidFill>
              </a:rPr>
              <a:t>Investigation results</a:t>
            </a:r>
            <a:endParaRPr lang="en-US" sz="1500" dirty="0"/>
          </a:p>
          <a:p>
            <a:pPr marL="0" indent="0" algn="ctr">
              <a:buNone/>
            </a:pPr>
            <a:r>
              <a:rPr lang="en-US" sz="1100" dirty="0">
                <a:solidFill>
                  <a:srgbClr val="6B6B6B"/>
                </a:solidFill>
              </a:rPr>
              <a:t>Shown in the interface</a:t>
            </a:r>
            <a:endParaRPr lang="en-US" sz="1100" dirty="0"/>
          </a:p>
        </p:txBody>
      </p:sp>
      <p:sp>
        <p:nvSpPr>
          <p:cNvPr id="14" name="Model card 1"/>
          <p:cNvSpPr/>
          <p:nvPr/>
        </p:nvSpPr>
        <p:spPr>
          <a:xfrm>
            <a:off x="548640" y="2331720"/>
            <a:ext cx="2560320" cy="301752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5" name="Chip 1"/>
          <p:cNvSpPr/>
          <p:nvPr/>
        </p:nvSpPr>
        <p:spPr>
          <a:xfrm>
            <a:off x="731520" y="2468880"/>
            <a:ext cx="1426464" cy="237744"/>
          </a:xfrm>
          <a:prstGeom prst="roundRect">
            <a:avLst>
              <a:gd name="adj" fmla="val 50000"/>
            </a:avLst>
          </a:prstGeom>
          <a:solidFill>
            <a:srgbClr val="111111"/>
          </a:solidFill>
          <a:ln w="12700">
            <a:solidFill>
              <a:srgbClr val="111111"/>
            </a:solidFill>
            <a:prstDash val="solid"/>
          </a:ln>
        </p:spPr>
      </p:sp>
      <p:sp>
        <p:nvSpPr>
          <p:cNvPr id="16" name="Chip label 1"/>
          <p:cNvSpPr txBox="1"/>
          <p:nvPr/>
        </p:nvSpPr>
        <p:spPr>
          <a:xfrm>
            <a:off x="731520" y="2468880"/>
            <a:ext cx="1426464" cy="237744"/>
          </a:xfrm>
          <a:prstGeom prst="rect">
            <a:avLst/>
          </a:prstGeom>
          <a:noFill/>
          <a:ln/>
        </p:spPr>
        <p:txBody>
          <a:bodyPr wrap="square" lIns="0" tIns="0" rIns="0" bIns="0" rtlCol="0" anchor="ctr"/>
          <a:lstStyle/>
          <a:p>
            <a:pPr marL="0" indent="0" algn="ctr">
              <a:buNone/>
            </a:pPr>
            <a:r>
              <a:rPr lang="en-US" sz="1000" b="1" dirty="0">
                <a:solidFill>
                  <a:srgbClr val="FFFFFF"/>
                </a:solidFill>
              </a:rPr>
              <a:t>GRAPH ALGORITHM</a:t>
            </a:r>
            <a:endParaRPr lang="en-US" sz="1000" dirty="0"/>
          </a:p>
        </p:txBody>
      </p:sp>
      <p:sp>
        <p:nvSpPr>
          <p:cNvPr id="17" name="Model title 1"/>
          <p:cNvSpPr txBox="1"/>
          <p:nvPr/>
        </p:nvSpPr>
        <p:spPr>
          <a:xfrm>
            <a:off x="731520" y="2788920"/>
            <a:ext cx="2194560" cy="320040"/>
          </a:xfrm>
          <a:prstGeom prst="rect">
            <a:avLst/>
          </a:prstGeom>
          <a:noFill/>
          <a:ln/>
        </p:spPr>
        <p:txBody>
          <a:bodyPr wrap="square" lIns="0" tIns="0" rIns="0" bIns="0" rtlCol="0" anchor="t"/>
          <a:lstStyle/>
          <a:p>
            <a:pPr marL="0" indent="0" algn="l">
              <a:buNone/>
            </a:pPr>
            <a:r>
              <a:rPr lang="en-US" sz="1600" b="1" dirty="0">
                <a:solidFill>
                  <a:srgbClr val="A30D1D"/>
                </a:solidFill>
              </a:rPr>
              <a:t>Temporal BFS tracing</a:t>
            </a:r>
            <a:endParaRPr lang="en-US" sz="1600" dirty="0"/>
          </a:p>
        </p:txBody>
      </p:sp>
      <p:sp>
        <p:nvSpPr>
          <p:cNvPr id="18" name="Model list 1"/>
          <p:cNvSpPr txBox="1"/>
          <p:nvPr/>
        </p:nvSpPr>
        <p:spPr>
          <a:xfrm>
            <a:off x="731520" y="3200400"/>
            <a:ext cx="2194560" cy="2057400"/>
          </a:xfrm>
          <a:prstGeom prst="rect">
            <a:avLst/>
          </a:prstGeom>
          <a:noFill/>
          <a:ln/>
        </p:spPr>
        <p:txBody>
          <a:bodyPr wrap="square" lIns="0" tIns="0" rIns="0" bIns="0" rtlCol="0" anchor="t"/>
          <a:lstStyle/>
          <a:p>
            <a:pPr marL="228600" indent="-228600">
              <a:spcAft>
                <a:spcPts val="500"/>
              </a:spcAft>
              <a:buSzPct val="100000"/>
              <a:buChar char="•"/>
            </a:pPr>
            <a:r>
              <a:rPr lang="en-US" sz="1200" dirty="0">
                <a:solidFill>
                  <a:srgbClr val="3A3A3A"/>
                </a:solidFill>
              </a:rPr>
              <a:t>Follows connected transactions in chronological order.</a:t>
            </a:r>
            <a:endParaRPr lang="en-US" sz="1200" dirty="0"/>
          </a:p>
          <a:p>
            <a:pPr marL="228600" indent="-228600">
              <a:spcAft>
                <a:spcPts val="500"/>
              </a:spcAft>
              <a:buSzPct val="100000"/>
              <a:buChar char="•"/>
            </a:pPr>
            <a:r>
              <a:rPr lang="en-US" sz="1200" dirty="0">
                <a:solidFill>
                  <a:srgbClr val="3A3A3A"/>
                </a:solidFill>
              </a:rPr>
              <a:t>Account = node; transaction = directed edge.</a:t>
            </a:r>
            <a:endParaRPr lang="en-US" sz="1200" dirty="0"/>
          </a:p>
          <a:p>
            <a:pPr marL="228600" indent="-228600">
              <a:spcAft>
                <a:spcPts val="500"/>
              </a:spcAft>
              <a:buSzPct val="100000"/>
              <a:buChar char="•"/>
            </a:pPr>
            <a:r>
              <a:rPr lang="en-US" sz="1200" dirty="0">
                <a:solidFill>
                  <a:srgbClr val="3A3A3A"/>
                </a:solidFill>
              </a:rPr>
              <a:t>Synthetic example: Victim → A102 → B552 → C771 → D334 → E889, 10:15 to 10:28.</a:t>
            </a:r>
            <a:endParaRPr lang="en-US" sz="1200" dirty="0"/>
          </a:p>
        </p:txBody>
      </p:sp>
      <p:sp>
        <p:nvSpPr>
          <p:cNvPr id="19" name="Model card 2"/>
          <p:cNvSpPr/>
          <p:nvPr/>
        </p:nvSpPr>
        <p:spPr>
          <a:xfrm>
            <a:off x="3383280" y="2331720"/>
            <a:ext cx="2560320" cy="301752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0" name="Chip 2"/>
          <p:cNvSpPr/>
          <p:nvPr/>
        </p:nvSpPr>
        <p:spPr>
          <a:xfrm>
            <a:off x="3566160" y="2468880"/>
            <a:ext cx="1426464" cy="237744"/>
          </a:xfrm>
          <a:prstGeom prst="roundRect">
            <a:avLst>
              <a:gd name="adj" fmla="val 50000"/>
            </a:avLst>
          </a:prstGeom>
          <a:solidFill>
            <a:srgbClr val="A30D1D"/>
          </a:solidFill>
          <a:ln w="12700">
            <a:solidFill>
              <a:srgbClr val="A30D1D"/>
            </a:solidFill>
            <a:prstDash val="solid"/>
          </a:ln>
        </p:spPr>
      </p:sp>
      <p:sp>
        <p:nvSpPr>
          <p:cNvPr id="21" name="Chip label 2"/>
          <p:cNvSpPr txBox="1"/>
          <p:nvPr/>
        </p:nvSpPr>
        <p:spPr>
          <a:xfrm>
            <a:off x="3566160" y="2468880"/>
            <a:ext cx="1426464" cy="237744"/>
          </a:xfrm>
          <a:prstGeom prst="rect">
            <a:avLst/>
          </a:prstGeom>
          <a:noFill/>
          <a:ln/>
        </p:spPr>
        <p:txBody>
          <a:bodyPr wrap="square" lIns="0" tIns="0" rIns="0" bIns="0" rtlCol="0" anchor="ctr"/>
          <a:lstStyle/>
          <a:p>
            <a:pPr marL="0" indent="0" algn="ctr">
              <a:buNone/>
            </a:pPr>
            <a:r>
              <a:rPr lang="en-US" sz="1000" b="1" dirty="0">
                <a:solidFill>
                  <a:srgbClr val="FFFFFF"/>
                </a:solidFill>
              </a:rPr>
              <a:t>MACHINE LEARNING</a:t>
            </a:r>
            <a:endParaRPr lang="en-US" sz="1000" dirty="0"/>
          </a:p>
        </p:txBody>
      </p:sp>
      <p:sp>
        <p:nvSpPr>
          <p:cNvPr id="22" name="Model title 2"/>
          <p:cNvSpPr txBox="1"/>
          <p:nvPr/>
        </p:nvSpPr>
        <p:spPr>
          <a:xfrm>
            <a:off x="3566160" y="2788920"/>
            <a:ext cx="2194560" cy="320040"/>
          </a:xfrm>
          <a:prstGeom prst="rect">
            <a:avLst/>
          </a:prstGeom>
          <a:noFill/>
          <a:ln/>
        </p:spPr>
        <p:txBody>
          <a:bodyPr wrap="square" lIns="0" tIns="0" rIns="0" bIns="0" rtlCol="0" anchor="t"/>
          <a:lstStyle/>
          <a:p>
            <a:pPr marL="0" indent="0" algn="l">
              <a:buNone/>
            </a:pPr>
            <a:r>
              <a:rPr lang="en-US" sz="1600" b="1" dirty="0">
                <a:solidFill>
                  <a:srgbClr val="A30D1D"/>
                </a:solidFill>
              </a:rPr>
              <a:t>Account-risk model</a:t>
            </a:r>
            <a:endParaRPr lang="en-US" sz="1600" dirty="0"/>
          </a:p>
        </p:txBody>
      </p:sp>
      <p:sp>
        <p:nvSpPr>
          <p:cNvPr id="23" name="Model list 2"/>
          <p:cNvSpPr txBox="1"/>
          <p:nvPr/>
        </p:nvSpPr>
        <p:spPr>
          <a:xfrm>
            <a:off x="3566160" y="3200400"/>
            <a:ext cx="2194560" cy="2057400"/>
          </a:xfrm>
          <a:prstGeom prst="rect">
            <a:avLst/>
          </a:prstGeom>
          <a:noFill/>
          <a:ln/>
        </p:spPr>
        <p:txBody>
          <a:bodyPr wrap="square" lIns="0" tIns="0" rIns="0" bIns="0" rtlCol="0" anchor="t"/>
          <a:lstStyle/>
          <a:p>
            <a:pPr marL="228600" indent="-228600">
              <a:spcAft>
                <a:spcPts val="500"/>
              </a:spcAft>
              <a:buSzPct val="100000"/>
              <a:buChar char="•"/>
            </a:pPr>
            <a:r>
              <a:rPr lang="en-US" sz="1200" dirty="0">
                <a:solidFill>
                  <a:srgbClr val="3A3A3A"/>
                </a:solidFill>
              </a:rPr>
              <a:t>Random Forest: many decision trees combined into one risk score.</a:t>
            </a:r>
            <a:endParaRPr lang="en-US" sz="1200" dirty="0"/>
          </a:p>
          <a:p>
            <a:pPr marL="228600" indent="-228600">
              <a:spcAft>
                <a:spcPts val="500"/>
              </a:spcAft>
              <a:buSzPct val="100000"/>
              <a:buChar char="•"/>
            </a:pPr>
            <a:r>
              <a:rPr lang="en-US" sz="1200" dirty="0">
                <a:solidFill>
                  <a:srgbClr val="3A3A3A"/>
                </a:solidFill>
              </a:rPr>
              <a:t>Example signals: account age, in/out activity, pass-through behaviour, network links.</a:t>
            </a:r>
            <a:endParaRPr lang="en-US" sz="1200" dirty="0"/>
          </a:p>
          <a:p>
            <a:pPr marL="228600" indent="-228600">
              <a:spcAft>
                <a:spcPts val="500"/>
              </a:spcAft>
              <a:buSzPct val="100000"/>
              <a:buChar char="•"/>
            </a:pPr>
            <a:r>
              <a:rPr lang="en-US" sz="1200" dirty="0">
                <a:solidFill>
                  <a:srgbClr val="3A3A3A"/>
                </a:solidFill>
              </a:rPr>
              <a:t>A score prioritises review; it does not prove fraud.</a:t>
            </a:r>
            <a:endParaRPr lang="en-US" sz="1200" dirty="0"/>
          </a:p>
        </p:txBody>
      </p:sp>
      <p:sp>
        <p:nvSpPr>
          <p:cNvPr id="24" name="Model card 3"/>
          <p:cNvSpPr/>
          <p:nvPr/>
        </p:nvSpPr>
        <p:spPr>
          <a:xfrm>
            <a:off x="6217920" y="2331720"/>
            <a:ext cx="2560320" cy="301752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5" name="Chip 3"/>
          <p:cNvSpPr/>
          <p:nvPr/>
        </p:nvSpPr>
        <p:spPr>
          <a:xfrm>
            <a:off x="6400800" y="2468880"/>
            <a:ext cx="1426464" cy="237744"/>
          </a:xfrm>
          <a:prstGeom prst="roundRect">
            <a:avLst>
              <a:gd name="adj" fmla="val 50000"/>
            </a:avLst>
          </a:prstGeom>
          <a:solidFill>
            <a:srgbClr val="A30D1D"/>
          </a:solidFill>
          <a:ln w="12700">
            <a:solidFill>
              <a:srgbClr val="A30D1D"/>
            </a:solidFill>
            <a:prstDash val="solid"/>
          </a:ln>
        </p:spPr>
      </p:sp>
      <p:sp>
        <p:nvSpPr>
          <p:cNvPr id="26" name="Chip label 3"/>
          <p:cNvSpPr txBox="1"/>
          <p:nvPr/>
        </p:nvSpPr>
        <p:spPr>
          <a:xfrm>
            <a:off x="6400800" y="2468880"/>
            <a:ext cx="1426464" cy="237744"/>
          </a:xfrm>
          <a:prstGeom prst="rect">
            <a:avLst/>
          </a:prstGeom>
          <a:noFill/>
          <a:ln/>
        </p:spPr>
        <p:txBody>
          <a:bodyPr wrap="square" lIns="0" tIns="0" rIns="0" bIns="0" rtlCol="0" anchor="ctr"/>
          <a:lstStyle/>
          <a:p>
            <a:pPr marL="0" indent="0" algn="ctr">
              <a:buNone/>
            </a:pPr>
            <a:r>
              <a:rPr lang="en-US" sz="1000" b="1" dirty="0">
                <a:solidFill>
                  <a:srgbClr val="FFFFFF"/>
                </a:solidFill>
              </a:rPr>
              <a:t>MACHINE LEARNING</a:t>
            </a:r>
            <a:endParaRPr lang="en-US" sz="1000" dirty="0"/>
          </a:p>
        </p:txBody>
      </p:sp>
      <p:sp>
        <p:nvSpPr>
          <p:cNvPr id="27" name="Model title 3"/>
          <p:cNvSpPr txBox="1"/>
          <p:nvPr/>
        </p:nvSpPr>
        <p:spPr>
          <a:xfrm>
            <a:off x="6400800" y="2788920"/>
            <a:ext cx="2194560" cy="320040"/>
          </a:xfrm>
          <a:prstGeom prst="rect">
            <a:avLst/>
          </a:prstGeom>
          <a:noFill/>
          <a:ln/>
        </p:spPr>
        <p:txBody>
          <a:bodyPr wrap="square" lIns="0" tIns="0" rIns="0" bIns="0" rtlCol="0" anchor="t"/>
          <a:lstStyle/>
          <a:p>
            <a:pPr marL="0" indent="0" algn="l">
              <a:buNone/>
            </a:pPr>
            <a:r>
              <a:rPr lang="en-US" sz="1600" b="1" dirty="0">
                <a:solidFill>
                  <a:srgbClr val="A30D1D"/>
                </a:solidFill>
              </a:rPr>
              <a:t>Next-hop model</a:t>
            </a:r>
            <a:endParaRPr lang="en-US" sz="1600" dirty="0"/>
          </a:p>
        </p:txBody>
      </p:sp>
      <p:sp>
        <p:nvSpPr>
          <p:cNvPr id="28" name="Model list 3"/>
          <p:cNvSpPr txBox="1"/>
          <p:nvPr/>
        </p:nvSpPr>
        <p:spPr>
          <a:xfrm>
            <a:off x="6400800" y="3200400"/>
            <a:ext cx="2194560" cy="2057400"/>
          </a:xfrm>
          <a:prstGeom prst="rect">
            <a:avLst/>
          </a:prstGeom>
          <a:noFill/>
          <a:ln/>
        </p:spPr>
        <p:txBody>
          <a:bodyPr wrap="square" lIns="0" tIns="0" rIns="0" bIns="0" rtlCol="0" anchor="t"/>
          <a:lstStyle/>
          <a:p>
            <a:pPr marL="228600" indent="-228600">
              <a:spcAft>
                <a:spcPts val="500"/>
              </a:spcAft>
              <a:buSzPct val="100000"/>
              <a:buChar char="•"/>
            </a:pPr>
            <a:r>
              <a:rPr lang="en-US" sz="1200" dirty="0">
                <a:solidFill>
                  <a:srgbClr val="3A3A3A"/>
                </a:solidFill>
              </a:rPr>
              <a:t>Random Forest ranks candidate next accounts using learned patterns.</a:t>
            </a:r>
            <a:endParaRPr lang="en-US" sz="1200" dirty="0"/>
          </a:p>
          <a:p>
            <a:pPr marL="228600" indent="-228600">
              <a:spcAft>
                <a:spcPts val="500"/>
              </a:spcAft>
              <a:buSzPct val="100000"/>
              <a:buChar char="•"/>
            </a:pPr>
            <a:r>
              <a:rPr lang="en-US" sz="1200" dirty="0">
                <a:solidFill>
                  <a:srgbClr val="3A3A3A"/>
                </a:solidFill>
              </a:rPr>
              <a:t>The investigator checks the top-ranked candidate first.</a:t>
            </a:r>
            <a:endParaRPr lang="en-US" sz="1200" dirty="0"/>
          </a:p>
          <a:p>
            <a:pPr marL="228600" indent="-228600">
              <a:spcAft>
                <a:spcPts val="500"/>
              </a:spcAft>
              <a:buSzPct val="100000"/>
              <a:buChar char="•"/>
            </a:pPr>
            <a:r>
              <a:rPr lang="en-US" sz="1200" dirty="0">
                <a:solidFill>
                  <a:srgbClr val="3A3A3A"/>
                </a:solidFill>
              </a:rPr>
              <a:t>It does not know the future with certainty.</a:t>
            </a:r>
            <a:endParaRPr lang="en-US" sz="1200" dirty="0"/>
          </a:p>
        </p:txBody>
      </p:sp>
      <p:sp>
        <p:nvSpPr>
          <p:cNvPr id="29" name="Model card 4"/>
          <p:cNvSpPr/>
          <p:nvPr/>
        </p:nvSpPr>
        <p:spPr>
          <a:xfrm>
            <a:off x="9052560" y="2331720"/>
            <a:ext cx="2560320" cy="301752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30" name="Chip 4"/>
          <p:cNvSpPr/>
          <p:nvPr/>
        </p:nvSpPr>
        <p:spPr>
          <a:xfrm>
            <a:off x="9235440" y="2468880"/>
            <a:ext cx="1426464" cy="237744"/>
          </a:xfrm>
          <a:prstGeom prst="roundRect">
            <a:avLst>
              <a:gd name="adj" fmla="val 50000"/>
            </a:avLst>
          </a:prstGeom>
          <a:solidFill>
            <a:srgbClr val="111111"/>
          </a:solidFill>
          <a:ln w="12700">
            <a:solidFill>
              <a:srgbClr val="111111"/>
            </a:solidFill>
            <a:prstDash val="solid"/>
          </a:ln>
        </p:spPr>
      </p:sp>
      <p:sp>
        <p:nvSpPr>
          <p:cNvPr id="31" name="Chip label 4"/>
          <p:cNvSpPr txBox="1"/>
          <p:nvPr/>
        </p:nvSpPr>
        <p:spPr>
          <a:xfrm>
            <a:off x="9235440" y="2468880"/>
            <a:ext cx="1426464" cy="237744"/>
          </a:xfrm>
          <a:prstGeom prst="rect">
            <a:avLst/>
          </a:prstGeom>
          <a:noFill/>
          <a:ln/>
        </p:spPr>
        <p:txBody>
          <a:bodyPr wrap="square" lIns="0" tIns="0" rIns="0" bIns="0" rtlCol="0" anchor="ctr"/>
          <a:lstStyle/>
          <a:p>
            <a:pPr marL="0" indent="0" algn="ctr">
              <a:buNone/>
            </a:pPr>
            <a:r>
              <a:rPr lang="en-US" sz="1000" b="1" dirty="0">
                <a:solidFill>
                  <a:srgbClr val="FFFFFF"/>
                </a:solidFill>
              </a:rPr>
              <a:t>GRAPH ALGORITHM</a:t>
            </a:r>
            <a:endParaRPr lang="en-US" sz="1000" dirty="0"/>
          </a:p>
        </p:txBody>
      </p:sp>
      <p:sp>
        <p:nvSpPr>
          <p:cNvPr id="32" name="Model title 4"/>
          <p:cNvSpPr txBox="1"/>
          <p:nvPr/>
        </p:nvSpPr>
        <p:spPr>
          <a:xfrm>
            <a:off x="9235440" y="2788920"/>
            <a:ext cx="2194560" cy="320040"/>
          </a:xfrm>
          <a:prstGeom prst="rect">
            <a:avLst/>
          </a:prstGeom>
          <a:noFill/>
          <a:ln/>
        </p:spPr>
        <p:txBody>
          <a:bodyPr wrap="square" lIns="0" tIns="0" rIns="0" bIns="0" rtlCol="0" anchor="t"/>
          <a:lstStyle/>
          <a:p>
            <a:pPr marL="0" indent="0" algn="l">
              <a:buNone/>
            </a:pPr>
            <a:r>
              <a:rPr lang="en-US" sz="1600" b="1" dirty="0">
                <a:solidFill>
                  <a:srgbClr val="A30D1D"/>
                </a:solidFill>
              </a:rPr>
              <a:t>Louvain communities</a:t>
            </a:r>
            <a:endParaRPr lang="en-US" sz="1600" dirty="0"/>
          </a:p>
        </p:txBody>
      </p:sp>
      <p:sp>
        <p:nvSpPr>
          <p:cNvPr id="33" name="Model list 4"/>
          <p:cNvSpPr txBox="1"/>
          <p:nvPr/>
        </p:nvSpPr>
        <p:spPr>
          <a:xfrm>
            <a:off x="9235440" y="3200400"/>
            <a:ext cx="2194560" cy="2057400"/>
          </a:xfrm>
          <a:prstGeom prst="rect">
            <a:avLst/>
          </a:prstGeom>
          <a:noFill/>
          <a:ln/>
        </p:spPr>
        <p:txBody>
          <a:bodyPr wrap="square" lIns="0" tIns="0" rIns="0" bIns="0" rtlCol="0" anchor="t"/>
          <a:lstStyle/>
          <a:p>
            <a:pPr marL="228600" indent="-228600">
              <a:spcAft>
                <a:spcPts val="500"/>
              </a:spcAft>
              <a:buSzPct val="100000"/>
              <a:buChar char="•"/>
            </a:pPr>
            <a:r>
              <a:rPr lang="en-US" sz="1200" dirty="0">
                <a:solidFill>
                  <a:srgbClr val="3A3A3A"/>
                </a:solidFill>
              </a:rPr>
              <a:t>Groups connected accounts into communities.</a:t>
            </a:r>
            <a:endParaRPr lang="en-US" sz="1200" dirty="0"/>
          </a:p>
          <a:p>
            <a:pPr marL="228600" indent="-228600">
              <a:spcAft>
                <a:spcPts val="500"/>
              </a:spcAft>
              <a:buSzPct val="100000"/>
              <a:buChar char="•"/>
            </a:pPr>
            <a:r>
              <a:rPr lang="en-US" sz="1200" dirty="0">
                <a:solidFill>
                  <a:srgbClr val="3A3A3A"/>
                </a:solidFill>
              </a:rPr>
              <a:t>Helps spot clusters of accounts that move money together.</a:t>
            </a:r>
            <a:endParaRPr lang="en-US" sz="1200" dirty="0"/>
          </a:p>
          <a:p>
            <a:pPr marL="228600" indent="-228600">
              <a:spcAft>
                <a:spcPts val="500"/>
              </a:spcAft>
              <a:buSzPct val="100000"/>
              <a:buChar char="•"/>
            </a:pPr>
            <a:r>
              <a:rPr lang="en-US" sz="1200" dirty="0">
                <a:solidFill>
                  <a:srgbClr val="3A3A3A"/>
                </a:solidFill>
              </a:rPr>
              <a:t>A graph algorithm, not a machine-learning model.</a:t>
            </a:r>
            <a:endParaRPr lang="en-US" sz="1200" dirty="0"/>
          </a:p>
        </p:txBody>
      </p:sp>
      <p:sp>
        <p:nvSpPr>
          <p:cNvPr id="34" name="Takeaway banner"/>
          <p:cNvSpPr/>
          <p:nvPr/>
        </p:nvSpPr>
        <p:spPr>
          <a:xfrm>
            <a:off x="548640" y="5486400"/>
            <a:ext cx="11064240" cy="411480"/>
          </a:xfrm>
          <a:prstGeom prst="roundRect">
            <a:avLst>
              <a:gd name="adj" fmla="val 20000"/>
            </a:avLst>
          </a:prstGeom>
          <a:solidFill>
            <a:srgbClr val="A30D1D"/>
          </a:solidFill>
          <a:ln w="12700">
            <a:solidFill>
              <a:srgbClr val="A30D1D"/>
            </a:solidFill>
            <a:prstDash val="solid"/>
          </a:ln>
          <a:effectLst>
            <a:outerShdw blurRad="127000" dist="38100" dir="5400000" algn="bl" rotWithShape="0">
              <a:srgbClr val="000000">
                <a:alpha val="13000"/>
              </a:srgbClr>
            </a:outerShdw>
          </a:effectLst>
        </p:spPr>
      </p:sp>
      <p:sp>
        <p:nvSpPr>
          <p:cNvPr id="35" name="Takeaway text"/>
          <p:cNvSpPr txBox="1"/>
          <p:nvPr/>
        </p:nvSpPr>
        <p:spPr>
          <a:xfrm>
            <a:off x="777240" y="5486400"/>
            <a:ext cx="10607040" cy="411480"/>
          </a:xfrm>
          <a:prstGeom prst="rect">
            <a:avLst/>
          </a:prstGeom>
          <a:noFill/>
          <a:ln/>
        </p:spPr>
        <p:txBody>
          <a:bodyPr wrap="square" lIns="0" tIns="0" rIns="0" bIns="0" rtlCol="0" anchor="ctr"/>
          <a:lstStyle/>
          <a:p>
            <a:pPr marL="0" indent="0" algn="ctr">
              <a:buNone/>
            </a:pPr>
            <a:r>
              <a:rPr lang="en-US" sz="1500" b="1" dirty="0">
                <a:solidFill>
                  <a:srgbClr val="FFFFFF"/>
                </a:solidFill>
              </a:rPr>
              <a:t>Graph algorithms trace and group the network; machine learning ranks risk and next hops.</a:t>
            </a:r>
            <a:endParaRPr lang="en-US" sz="1500" dirty="0"/>
          </a:p>
        </p:txBody>
      </p:sp>
      <p:sp>
        <p:nvSpPr>
          <p:cNvPr id="36" name="Prototype note"/>
          <p:cNvSpPr txBox="1"/>
          <p:nvPr/>
        </p:nvSpPr>
        <p:spPr>
          <a:xfrm>
            <a:off x="548640" y="5989320"/>
            <a:ext cx="11064240" cy="205740"/>
          </a:xfrm>
          <a:prstGeom prst="rect">
            <a:avLst/>
          </a:prstGeom>
          <a:noFill/>
          <a:ln/>
        </p:spPr>
        <p:txBody>
          <a:bodyPr wrap="square" lIns="0" tIns="0" rIns="0" bIns="0" rtlCol="0" anchor="ctr"/>
          <a:lstStyle/>
          <a:p>
            <a:pPr marL="0" indent="0" algn="l">
              <a:buNone/>
            </a:pPr>
            <a:r>
              <a:rPr lang="en-US" sz="1100" i="1" dirty="0">
                <a:solidFill>
                  <a:srgbClr val="5F5F5F"/>
                </a:solidFill>
              </a:rPr>
              <a:t>Prototype runs on synthetic data and is not connected to live banking systems. Risk indicators are not proof; real-world accuracy is not claimed.</a:t>
            </a:r>
            <a:endParaRPr lang="en-US" sz="1100" dirty="0"/>
          </a:p>
        </p:txBody>
      </p:sp>
      <p:sp>
        <p:nvSpPr>
          <p:cNvPr id="37" name="Slide Number Placeholder 0"/>
          <p:cNvSpPr>
            <a:spLocks noGrp="1"/>
          </p:cNvSpPr>
          <p:nvPr>
            <p:ph type="sldNum" sz="quarter" idx="4294967295"/>
          </p:nvPr>
        </p:nvSpPr>
        <p:spPr>
          <a:xfrm>
            <a:off x="11155680" y="6400800"/>
            <a:ext cx="457200" cy="274320"/>
          </a:xfrm>
          <a:prstGeom prst="rect">
            <a:avLst/>
          </a:prstGeom>
        </p:spPr>
        <p:txBody>
          <a:bodyPr/>
          <a:lstStyle>
            <a:lvl1pPr>
              <a:defRPr sz="1100">
                <a:solidFill>
                  <a:srgbClr val="6B6B6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Example Investigation: </a:t>
            </a:r>
            <a:r>
              <a:rPr lang="en-US" sz="3600" b="1" dirty="0">
                <a:solidFill>
                  <a:srgbClr val="A30D1D"/>
                </a:solidFill>
                <a:latin typeface="Arial" pitchFamily="34" charset="0"/>
                <a:ea typeface="Arial" pitchFamily="34" charset="-122"/>
                <a:cs typeface="Arial" pitchFamily="34" charset="-120"/>
              </a:rPr>
              <a:t>Following the Money</a:t>
            </a:r>
            <a:endParaRPr lang="en-US" sz="3600" dirty="0"/>
          </a:p>
        </p:txBody>
      </p:sp>
      <p:sp>
        <p:nvSpPr>
          <p:cNvPr id="3" name="Synthetic label"/>
          <p:cNvSpPr txBox="1"/>
          <p:nvPr/>
        </p:nvSpPr>
        <p:spPr>
          <a:xfrm>
            <a:off x="548640" y="1115568"/>
            <a:ext cx="11064240" cy="274320"/>
          </a:xfrm>
          <a:prstGeom prst="rect">
            <a:avLst/>
          </a:prstGeom>
          <a:noFill/>
          <a:ln/>
        </p:spPr>
        <p:txBody>
          <a:bodyPr wrap="square" lIns="0" tIns="0" rIns="0" bIns="0" rtlCol="0" anchor="ctr"/>
          <a:lstStyle/>
          <a:p>
            <a:pPr marL="0" indent="0">
              <a:buNone/>
            </a:pPr>
            <a:r>
              <a:rPr lang="en-US" sz="1200" i="1" dirty="0">
                <a:solidFill>
                  <a:srgbClr val="B45309"/>
                </a:solidFill>
              </a:rPr>
              <a:t>Synthetic demonstration, not a real fraud case. Appearing in this chain does not by itself prove an account is fraudulent.</a:t>
            </a:r>
            <a:endParaRPr lang="en-US" sz="1200" dirty="0"/>
          </a:p>
        </p:txBody>
      </p:sp>
      <p:sp>
        <p:nvSpPr>
          <p:cNvPr id="4" name="Node Victim-001"/>
          <p:cNvSpPr/>
          <p:nvPr/>
        </p:nvSpPr>
        <p:spPr>
          <a:xfrm>
            <a:off x="548640" y="2423160"/>
            <a:ext cx="1188720" cy="731520"/>
          </a:xfrm>
          <a:prstGeom prst="roundRect">
            <a:avLst>
              <a:gd name="adj" fmla="val 17500"/>
            </a:avLst>
          </a:prstGeom>
          <a:solidFill>
            <a:srgbClr val="111111"/>
          </a:solidFill>
          <a:ln w="12700">
            <a:solidFill>
              <a:srgbClr val="111111"/>
            </a:solidFill>
            <a:prstDash val="solid"/>
          </a:ln>
          <a:effectLst>
            <a:outerShdw blurRad="127000" dist="38100" dir="5400000" algn="bl" rotWithShape="0">
              <a:srgbClr val="000000">
                <a:alpha val="13000"/>
              </a:srgbClr>
            </a:outerShdw>
          </a:effectLst>
        </p:spPr>
      </p:sp>
      <p:sp>
        <p:nvSpPr>
          <p:cNvPr id="5" name="Node label Victim-001"/>
          <p:cNvSpPr txBox="1"/>
          <p:nvPr/>
        </p:nvSpPr>
        <p:spPr>
          <a:xfrm>
            <a:off x="548640" y="2423160"/>
            <a:ext cx="1188720" cy="731520"/>
          </a:xfrm>
          <a:prstGeom prst="rect">
            <a:avLst/>
          </a:prstGeom>
          <a:noFill/>
          <a:ln/>
        </p:spPr>
        <p:txBody>
          <a:bodyPr wrap="square" lIns="0" tIns="0" rIns="0" bIns="0" rtlCol="0" anchor="ctr"/>
          <a:lstStyle/>
          <a:p>
            <a:pPr marL="0" indent="0" algn="ctr">
              <a:buNone/>
            </a:pPr>
            <a:r>
              <a:rPr lang="en-US" sz="1500" b="1" dirty="0">
                <a:solidFill>
                  <a:srgbClr val="FFFFFF"/>
                </a:solidFill>
              </a:rPr>
              <a:t>Victim-001</a:t>
            </a:r>
            <a:endParaRPr lang="en-US" sz="1500" dirty="0"/>
          </a:p>
        </p:txBody>
      </p:sp>
      <p:sp>
        <p:nvSpPr>
          <p:cNvPr id="6" name="Transaction arrow TXN-84921"/>
          <p:cNvSpPr/>
          <p:nvPr/>
        </p:nvSpPr>
        <p:spPr>
          <a:xfrm>
            <a:off x="1773936" y="2788920"/>
            <a:ext cx="713232" cy="0"/>
          </a:xfrm>
          <a:prstGeom prst="line">
            <a:avLst/>
          </a:prstGeom>
          <a:noFill/>
          <a:ln w="38100">
            <a:solidFill>
              <a:srgbClr val="A30D1D"/>
            </a:solidFill>
            <a:prstDash val="solid"/>
            <a:tailEnd type="triangle"/>
          </a:ln>
        </p:spPr>
      </p:sp>
      <p:sp>
        <p:nvSpPr>
          <p:cNvPr id="7" name="Edge pill TXN-84921"/>
          <p:cNvSpPr/>
          <p:nvPr/>
        </p:nvSpPr>
        <p:spPr>
          <a:xfrm>
            <a:off x="1353312" y="1554480"/>
            <a:ext cx="1554480" cy="658368"/>
          </a:xfrm>
          <a:prstGeom prst="roundRect">
            <a:avLst>
              <a:gd name="adj" fmla="val 13889"/>
            </a:avLst>
          </a:prstGeom>
          <a:solidFill>
            <a:srgbClr val="FFFFFF"/>
          </a:solidFill>
          <a:ln w="12700">
            <a:solidFill>
              <a:srgbClr val="A30D1D"/>
            </a:solidFill>
            <a:prstDash val="solid"/>
          </a:ln>
        </p:spPr>
      </p:sp>
      <p:sp>
        <p:nvSpPr>
          <p:cNvPr id="8" name="Edge label TXN-84921"/>
          <p:cNvSpPr txBox="1"/>
          <p:nvPr/>
        </p:nvSpPr>
        <p:spPr>
          <a:xfrm>
            <a:off x="1353312" y="1554480"/>
            <a:ext cx="1554480" cy="658368"/>
          </a:xfrm>
          <a:prstGeom prst="rect">
            <a:avLst/>
          </a:prstGeom>
          <a:noFill/>
          <a:ln/>
        </p:spPr>
        <p:txBody>
          <a:bodyPr wrap="square" lIns="0" tIns="0" rIns="0" bIns="0" rtlCol="0" anchor="ctr"/>
          <a:lstStyle/>
          <a:p>
            <a:pPr marL="0" indent="0" algn="ctr">
              <a:buNone/>
            </a:pPr>
            <a:r>
              <a:rPr lang="en-US" sz="1600" b="1" dirty="0">
                <a:solidFill>
                  <a:srgbClr val="A30D1D"/>
                </a:solidFill>
              </a:rPr>
              <a:t>₹75,000</a:t>
            </a:r>
            <a:endParaRPr lang="en-US" sz="1600" dirty="0"/>
          </a:p>
          <a:p>
            <a:pPr marL="0" indent="0" algn="ctr">
              <a:buNone/>
            </a:pPr>
            <a:r>
              <a:rPr lang="en-US" sz="1100" dirty="0">
                <a:solidFill>
                  <a:srgbClr val="3A3A3A"/>
                </a:solidFill>
              </a:rPr>
              <a:t>10:15 · TXN-84921</a:t>
            </a:r>
            <a:endParaRPr lang="en-US" sz="1600" dirty="0"/>
          </a:p>
        </p:txBody>
      </p:sp>
      <p:sp>
        <p:nvSpPr>
          <p:cNvPr id="9" name="Edge pill connector 1"/>
          <p:cNvSpPr/>
          <p:nvPr/>
        </p:nvSpPr>
        <p:spPr>
          <a:xfrm>
            <a:off x="2130552" y="2212848"/>
            <a:ext cx="0" cy="557784"/>
          </a:xfrm>
          <a:prstGeom prst="line">
            <a:avLst/>
          </a:prstGeom>
          <a:noFill/>
          <a:ln w="12700">
            <a:solidFill>
              <a:srgbClr val="5F5F5F"/>
            </a:solidFill>
            <a:prstDash val="solid"/>
          </a:ln>
        </p:spPr>
      </p:sp>
      <p:sp>
        <p:nvSpPr>
          <p:cNvPr id="10" name="Node A102"/>
          <p:cNvSpPr/>
          <p:nvPr/>
        </p:nvSpPr>
        <p:spPr>
          <a:xfrm>
            <a:off x="2523744" y="2423160"/>
            <a:ext cx="1188720" cy="731520"/>
          </a:xfrm>
          <a:prstGeom prst="roundRect">
            <a:avLst>
              <a:gd name="adj" fmla="val 175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1" name="Node label A102"/>
          <p:cNvSpPr txBox="1"/>
          <p:nvPr/>
        </p:nvSpPr>
        <p:spPr>
          <a:xfrm>
            <a:off x="2523744" y="2423160"/>
            <a:ext cx="1188720" cy="731520"/>
          </a:xfrm>
          <a:prstGeom prst="rect">
            <a:avLst/>
          </a:prstGeom>
          <a:noFill/>
          <a:ln/>
        </p:spPr>
        <p:txBody>
          <a:bodyPr wrap="square" lIns="0" tIns="0" rIns="0" bIns="0" rtlCol="0" anchor="ctr"/>
          <a:lstStyle/>
          <a:p>
            <a:pPr marL="0" indent="0" algn="ctr">
              <a:buNone/>
            </a:pPr>
            <a:r>
              <a:rPr lang="en-US" sz="1500" b="1" dirty="0">
                <a:solidFill>
                  <a:srgbClr val="111111"/>
                </a:solidFill>
              </a:rPr>
              <a:t>A102</a:t>
            </a:r>
            <a:endParaRPr lang="en-US" sz="1500" dirty="0"/>
          </a:p>
        </p:txBody>
      </p:sp>
      <p:sp>
        <p:nvSpPr>
          <p:cNvPr id="12" name="Transaction arrow TXN-84922"/>
          <p:cNvSpPr/>
          <p:nvPr/>
        </p:nvSpPr>
        <p:spPr>
          <a:xfrm>
            <a:off x="3749040" y="2788920"/>
            <a:ext cx="713232" cy="0"/>
          </a:xfrm>
          <a:prstGeom prst="line">
            <a:avLst/>
          </a:prstGeom>
          <a:noFill/>
          <a:ln w="38100">
            <a:solidFill>
              <a:srgbClr val="A30D1D"/>
            </a:solidFill>
            <a:prstDash val="solid"/>
            <a:tailEnd type="triangle"/>
          </a:ln>
        </p:spPr>
      </p:sp>
      <p:sp>
        <p:nvSpPr>
          <p:cNvPr id="13" name="Edge pill TXN-84922"/>
          <p:cNvSpPr/>
          <p:nvPr/>
        </p:nvSpPr>
        <p:spPr>
          <a:xfrm>
            <a:off x="3328416" y="1554480"/>
            <a:ext cx="1554480" cy="658368"/>
          </a:xfrm>
          <a:prstGeom prst="roundRect">
            <a:avLst>
              <a:gd name="adj" fmla="val 13889"/>
            </a:avLst>
          </a:prstGeom>
          <a:solidFill>
            <a:srgbClr val="FFFFFF"/>
          </a:solidFill>
          <a:ln w="12700">
            <a:solidFill>
              <a:srgbClr val="A30D1D"/>
            </a:solidFill>
            <a:prstDash val="solid"/>
          </a:ln>
        </p:spPr>
      </p:sp>
      <p:sp>
        <p:nvSpPr>
          <p:cNvPr id="14" name="Edge label TXN-84922"/>
          <p:cNvSpPr txBox="1"/>
          <p:nvPr/>
        </p:nvSpPr>
        <p:spPr>
          <a:xfrm>
            <a:off x="3328416" y="1554480"/>
            <a:ext cx="1554480" cy="658368"/>
          </a:xfrm>
          <a:prstGeom prst="rect">
            <a:avLst/>
          </a:prstGeom>
          <a:noFill/>
          <a:ln/>
        </p:spPr>
        <p:txBody>
          <a:bodyPr wrap="square" lIns="0" tIns="0" rIns="0" bIns="0" rtlCol="0" anchor="ctr"/>
          <a:lstStyle/>
          <a:p>
            <a:pPr marL="0" indent="0" algn="ctr">
              <a:buNone/>
            </a:pPr>
            <a:r>
              <a:rPr lang="en-US" sz="1600" b="1" dirty="0">
                <a:solidFill>
                  <a:srgbClr val="A30D1D"/>
                </a:solidFill>
              </a:rPr>
              <a:t>₹73,500</a:t>
            </a:r>
            <a:endParaRPr lang="en-US" sz="1600" dirty="0"/>
          </a:p>
          <a:p>
            <a:pPr marL="0" indent="0" algn="ctr">
              <a:buNone/>
            </a:pPr>
            <a:r>
              <a:rPr lang="en-US" sz="1100" dirty="0">
                <a:solidFill>
                  <a:srgbClr val="3A3A3A"/>
                </a:solidFill>
              </a:rPr>
              <a:t>10:18 · TXN-84922</a:t>
            </a:r>
            <a:endParaRPr lang="en-US" sz="1600" dirty="0"/>
          </a:p>
        </p:txBody>
      </p:sp>
      <p:sp>
        <p:nvSpPr>
          <p:cNvPr id="15" name="Edge pill connector 2"/>
          <p:cNvSpPr/>
          <p:nvPr/>
        </p:nvSpPr>
        <p:spPr>
          <a:xfrm>
            <a:off x="4105656" y="2212848"/>
            <a:ext cx="0" cy="557784"/>
          </a:xfrm>
          <a:prstGeom prst="line">
            <a:avLst/>
          </a:prstGeom>
          <a:noFill/>
          <a:ln w="12700">
            <a:solidFill>
              <a:srgbClr val="5F5F5F"/>
            </a:solidFill>
            <a:prstDash val="solid"/>
          </a:ln>
        </p:spPr>
      </p:sp>
      <p:sp>
        <p:nvSpPr>
          <p:cNvPr id="16" name="Node B552"/>
          <p:cNvSpPr/>
          <p:nvPr/>
        </p:nvSpPr>
        <p:spPr>
          <a:xfrm>
            <a:off x="4498848" y="2423160"/>
            <a:ext cx="1188720" cy="731520"/>
          </a:xfrm>
          <a:prstGeom prst="roundRect">
            <a:avLst>
              <a:gd name="adj" fmla="val 175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7" name="Node label B552"/>
          <p:cNvSpPr txBox="1"/>
          <p:nvPr/>
        </p:nvSpPr>
        <p:spPr>
          <a:xfrm>
            <a:off x="4498848" y="2423160"/>
            <a:ext cx="1188720" cy="731520"/>
          </a:xfrm>
          <a:prstGeom prst="rect">
            <a:avLst/>
          </a:prstGeom>
          <a:noFill/>
          <a:ln/>
        </p:spPr>
        <p:txBody>
          <a:bodyPr wrap="square" lIns="0" tIns="0" rIns="0" bIns="0" rtlCol="0" anchor="ctr"/>
          <a:lstStyle/>
          <a:p>
            <a:pPr marL="0" indent="0" algn="ctr">
              <a:buNone/>
            </a:pPr>
            <a:r>
              <a:rPr lang="en-US" sz="1500" b="1" dirty="0">
                <a:solidFill>
                  <a:srgbClr val="111111"/>
                </a:solidFill>
              </a:rPr>
              <a:t>B552</a:t>
            </a:r>
            <a:endParaRPr lang="en-US" sz="1500" dirty="0"/>
          </a:p>
        </p:txBody>
      </p:sp>
      <p:sp>
        <p:nvSpPr>
          <p:cNvPr id="18" name="Transaction arrow TXN-84923"/>
          <p:cNvSpPr/>
          <p:nvPr/>
        </p:nvSpPr>
        <p:spPr>
          <a:xfrm>
            <a:off x="5724144" y="2788920"/>
            <a:ext cx="713232" cy="0"/>
          </a:xfrm>
          <a:prstGeom prst="line">
            <a:avLst/>
          </a:prstGeom>
          <a:noFill/>
          <a:ln w="38100">
            <a:solidFill>
              <a:srgbClr val="A30D1D"/>
            </a:solidFill>
            <a:prstDash val="solid"/>
            <a:tailEnd type="triangle"/>
          </a:ln>
        </p:spPr>
      </p:sp>
      <p:sp>
        <p:nvSpPr>
          <p:cNvPr id="19" name="Edge pill TXN-84923"/>
          <p:cNvSpPr/>
          <p:nvPr/>
        </p:nvSpPr>
        <p:spPr>
          <a:xfrm>
            <a:off x="5303520" y="1554480"/>
            <a:ext cx="1554480" cy="658368"/>
          </a:xfrm>
          <a:prstGeom prst="roundRect">
            <a:avLst>
              <a:gd name="adj" fmla="val 13889"/>
            </a:avLst>
          </a:prstGeom>
          <a:solidFill>
            <a:srgbClr val="FFFFFF"/>
          </a:solidFill>
          <a:ln w="12700">
            <a:solidFill>
              <a:srgbClr val="A30D1D"/>
            </a:solidFill>
            <a:prstDash val="solid"/>
          </a:ln>
        </p:spPr>
      </p:sp>
      <p:sp>
        <p:nvSpPr>
          <p:cNvPr id="20" name="Edge label TXN-84923"/>
          <p:cNvSpPr txBox="1"/>
          <p:nvPr/>
        </p:nvSpPr>
        <p:spPr>
          <a:xfrm>
            <a:off x="5303520" y="1554480"/>
            <a:ext cx="1554480" cy="658368"/>
          </a:xfrm>
          <a:prstGeom prst="rect">
            <a:avLst/>
          </a:prstGeom>
          <a:noFill/>
          <a:ln/>
        </p:spPr>
        <p:txBody>
          <a:bodyPr wrap="square" lIns="0" tIns="0" rIns="0" bIns="0" rtlCol="0" anchor="ctr"/>
          <a:lstStyle/>
          <a:p>
            <a:pPr marL="0" indent="0" algn="ctr">
              <a:buNone/>
            </a:pPr>
            <a:r>
              <a:rPr lang="en-US" sz="1600" b="1" dirty="0">
                <a:solidFill>
                  <a:srgbClr val="A30D1D"/>
                </a:solidFill>
              </a:rPr>
              <a:t>₹70,000</a:t>
            </a:r>
            <a:endParaRPr lang="en-US" sz="1600" dirty="0"/>
          </a:p>
          <a:p>
            <a:pPr marL="0" indent="0" algn="ctr">
              <a:buNone/>
            </a:pPr>
            <a:r>
              <a:rPr lang="en-US" sz="1100" dirty="0">
                <a:solidFill>
                  <a:srgbClr val="3A3A3A"/>
                </a:solidFill>
              </a:rPr>
              <a:t>10:20 · TXN-84923</a:t>
            </a:r>
            <a:endParaRPr lang="en-US" sz="1600" dirty="0"/>
          </a:p>
        </p:txBody>
      </p:sp>
      <p:sp>
        <p:nvSpPr>
          <p:cNvPr id="21" name="Edge pill connector 3"/>
          <p:cNvSpPr/>
          <p:nvPr/>
        </p:nvSpPr>
        <p:spPr>
          <a:xfrm>
            <a:off x="6080760" y="2212848"/>
            <a:ext cx="0" cy="557784"/>
          </a:xfrm>
          <a:prstGeom prst="line">
            <a:avLst/>
          </a:prstGeom>
          <a:noFill/>
          <a:ln w="12700">
            <a:solidFill>
              <a:srgbClr val="5F5F5F"/>
            </a:solidFill>
            <a:prstDash val="solid"/>
          </a:ln>
        </p:spPr>
      </p:sp>
      <p:sp>
        <p:nvSpPr>
          <p:cNvPr id="22" name="Node C771"/>
          <p:cNvSpPr/>
          <p:nvPr/>
        </p:nvSpPr>
        <p:spPr>
          <a:xfrm>
            <a:off x="6473952" y="2423160"/>
            <a:ext cx="1188720" cy="731520"/>
          </a:xfrm>
          <a:prstGeom prst="roundRect">
            <a:avLst>
              <a:gd name="adj" fmla="val 175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3" name="Node label C771"/>
          <p:cNvSpPr txBox="1"/>
          <p:nvPr/>
        </p:nvSpPr>
        <p:spPr>
          <a:xfrm>
            <a:off x="6473952" y="2423160"/>
            <a:ext cx="1188720" cy="731520"/>
          </a:xfrm>
          <a:prstGeom prst="rect">
            <a:avLst/>
          </a:prstGeom>
          <a:noFill/>
          <a:ln/>
        </p:spPr>
        <p:txBody>
          <a:bodyPr wrap="square" lIns="0" tIns="0" rIns="0" bIns="0" rtlCol="0" anchor="ctr"/>
          <a:lstStyle/>
          <a:p>
            <a:pPr marL="0" indent="0" algn="ctr">
              <a:buNone/>
            </a:pPr>
            <a:r>
              <a:rPr lang="en-US" sz="1500" b="1" dirty="0">
                <a:solidFill>
                  <a:srgbClr val="111111"/>
                </a:solidFill>
              </a:rPr>
              <a:t>C771</a:t>
            </a:r>
            <a:endParaRPr lang="en-US" sz="1500" dirty="0"/>
          </a:p>
        </p:txBody>
      </p:sp>
      <p:sp>
        <p:nvSpPr>
          <p:cNvPr id="24" name="Transaction arrow TXN-84924"/>
          <p:cNvSpPr/>
          <p:nvPr/>
        </p:nvSpPr>
        <p:spPr>
          <a:xfrm>
            <a:off x="7699248" y="2788920"/>
            <a:ext cx="713232" cy="0"/>
          </a:xfrm>
          <a:prstGeom prst="line">
            <a:avLst/>
          </a:prstGeom>
          <a:noFill/>
          <a:ln w="38100">
            <a:solidFill>
              <a:srgbClr val="A30D1D"/>
            </a:solidFill>
            <a:prstDash val="solid"/>
            <a:tailEnd type="triangle"/>
          </a:ln>
        </p:spPr>
      </p:sp>
      <p:sp>
        <p:nvSpPr>
          <p:cNvPr id="25" name="Edge pill TXN-84924"/>
          <p:cNvSpPr/>
          <p:nvPr/>
        </p:nvSpPr>
        <p:spPr>
          <a:xfrm>
            <a:off x="7278624" y="1554480"/>
            <a:ext cx="1554480" cy="658368"/>
          </a:xfrm>
          <a:prstGeom prst="roundRect">
            <a:avLst>
              <a:gd name="adj" fmla="val 13889"/>
            </a:avLst>
          </a:prstGeom>
          <a:solidFill>
            <a:srgbClr val="FFFFFF"/>
          </a:solidFill>
          <a:ln w="12700">
            <a:solidFill>
              <a:srgbClr val="A30D1D"/>
            </a:solidFill>
            <a:prstDash val="solid"/>
          </a:ln>
        </p:spPr>
      </p:sp>
      <p:sp>
        <p:nvSpPr>
          <p:cNvPr id="26" name="Edge label TXN-84924"/>
          <p:cNvSpPr txBox="1"/>
          <p:nvPr/>
        </p:nvSpPr>
        <p:spPr>
          <a:xfrm>
            <a:off x="7278624" y="1554480"/>
            <a:ext cx="1554480" cy="658368"/>
          </a:xfrm>
          <a:prstGeom prst="rect">
            <a:avLst/>
          </a:prstGeom>
          <a:noFill/>
          <a:ln/>
        </p:spPr>
        <p:txBody>
          <a:bodyPr wrap="square" lIns="0" tIns="0" rIns="0" bIns="0" rtlCol="0" anchor="ctr"/>
          <a:lstStyle/>
          <a:p>
            <a:pPr marL="0" indent="0" algn="ctr">
              <a:buNone/>
            </a:pPr>
            <a:r>
              <a:rPr lang="en-US" sz="1600" b="1" dirty="0">
                <a:solidFill>
                  <a:srgbClr val="A30D1D"/>
                </a:solidFill>
              </a:rPr>
              <a:t>₹68,000</a:t>
            </a:r>
            <a:endParaRPr lang="en-US" sz="1600" dirty="0"/>
          </a:p>
          <a:p>
            <a:pPr marL="0" indent="0" algn="ctr">
              <a:buNone/>
            </a:pPr>
            <a:r>
              <a:rPr lang="en-US" sz="1100" dirty="0">
                <a:solidFill>
                  <a:srgbClr val="3A3A3A"/>
                </a:solidFill>
              </a:rPr>
              <a:t>10:24 · TXN-84924</a:t>
            </a:r>
            <a:endParaRPr lang="en-US" sz="1600" dirty="0"/>
          </a:p>
        </p:txBody>
      </p:sp>
      <p:sp>
        <p:nvSpPr>
          <p:cNvPr id="27" name="Edge pill connector 4"/>
          <p:cNvSpPr/>
          <p:nvPr/>
        </p:nvSpPr>
        <p:spPr>
          <a:xfrm>
            <a:off x="8055864" y="2212848"/>
            <a:ext cx="0" cy="557784"/>
          </a:xfrm>
          <a:prstGeom prst="line">
            <a:avLst/>
          </a:prstGeom>
          <a:noFill/>
          <a:ln w="12700">
            <a:solidFill>
              <a:srgbClr val="5F5F5F"/>
            </a:solidFill>
            <a:prstDash val="solid"/>
          </a:ln>
        </p:spPr>
      </p:sp>
      <p:sp>
        <p:nvSpPr>
          <p:cNvPr id="28" name="Node D334"/>
          <p:cNvSpPr/>
          <p:nvPr/>
        </p:nvSpPr>
        <p:spPr>
          <a:xfrm>
            <a:off x="8449056" y="2423160"/>
            <a:ext cx="1188720" cy="731520"/>
          </a:xfrm>
          <a:prstGeom prst="roundRect">
            <a:avLst>
              <a:gd name="adj" fmla="val 175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9" name="Node label D334"/>
          <p:cNvSpPr txBox="1"/>
          <p:nvPr/>
        </p:nvSpPr>
        <p:spPr>
          <a:xfrm>
            <a:off x="8449056" y="2423160"/>
            <a:ext cx="1188720" cy="731520"/>
          </a:xfrm>
          <a:prstGeom prst="rect">
            <a:avLst/>
          </a:prstGeom>
          <a:noFill/>
          <a:ln/>
        </p:spPr>
        <p:txBody>
          <a:bodyPr wrap="square" lIns="0" tIns="0" rIns="0" bIns="0" rtlCol="0" anchor="ctr"/>
          <a:lstStyle/>
          <a:p>
            <a:pPr marL="0" indent="0" algn="ctr">
              <a:buNone/>
            </a:pPr>
            <a:r>
              <a:rPr lang="en-US" sz="1500" b="1" dirty="0">
                <a:solidFill>
                  <a:srgbClr val="111111"/>
                </a:solidFill>
              </a:rPr>
              <a:t>D334</a:t>
            </a:r>
            <a:endParaRPr lang="en-US" sz="1500" dirty="0"/>
          </a:p>
        </p:txBody>
      </p:sp>
      <p:sp>
        <p:nvSpPr>
          <p:cNvPr id="30" name="Transaction arrow TXN-84925"/>
          <p:cNvSpPr/>
          <p:nvPr/>
        </p:nvSpPr>
        <p:spPr>
          <a:xfrm>
            <a:off x="9674352" y="2788920"/>
            <a:ext cx="713232" cy="0"/>
          </a:xfrm>
          <a:prstGeom prst="line">
            <a:avLst/>
          </a:prstGeom>
          <a:noFill/>
          <a:ln w="38100">
            <a:solidFill>
              <a:srgbClr val="A30D1D"/>
            </a:solidFill>
            <a:prstDash val="solid"/>
            <a:tailEnd type="triangle"/>
          </a:ln>
        </p:spPr>
      </p:sp>
      <p:sp>
        <p:nvSpPr>
          <p:cNvPr id="31" name="Edge pill TXN-84925"/>
          <p:cNvSpPr/>
          <p:nvPr/>
        </p:nvSpPr>
        <p:spPr>
          <a:xfrm>
            <a:off x="9253728" y="1554480"/>
            <a:ext cx="1554480" cy="658368"/>
          </a:xfrm>
          <a:prstGeom prst="roundRect">
            <a:avLst>
              <a:gd name="adj" fmla="val 13889"/>
            </a:avLst>
          </a:prstGeom>
          <a:solidFill>
            <a:srgbClr val="FFFFFF"/>
          </a:solidFill>
          <a:ln w="12700">
            <a:solidFill>
              <a:srgbClr val="A30D1D"/>
            </a:solidFill>
            <a:prstDash val="solid"/>
          </a:ln>
        </p:spPr>
      </p:sp>
      <p:sp>
        <p:nvSpPr>
          <p:cNvPr id="32" name="Edge label TXN-84925"/>
          <p:cNvSpPr txBox="1"/>
          <p:nvPr/>
        </p:nvSpPr>
        <p:spPr>
          <a:xfrm>
            <a:off x="9253728" y="1554480"/>
            <a:ext cx="1554480" cy="658368"/>
          </a:xfrm>
          <a:prstGeom prst="rect">
            <a:avLst/>
          </a:prstGeom>
          <a:noFill/>
          <a:ln/>
        </p:spPr>
        <p:txBody>
          <a:bodyPr wrap="square" lIns="0" tIns="0" rIns="0" bIns="0" rtlCol="0" anchor="ctr"/>
          <a:lstStyle/>
          <a:p>
            <a:pPr marL="0" indent="0" algn="ctr">
              <a:buNone/>
            </a:pPr>
            <a:r>
              <a:rPr lang="en-US" sz="1600" b="1" dirty="0">
                <a:solidFill>
                  <a:srgbClr val="A30D1D"/>
                </a:solidFill>
              </a:rPr>
              <a:t>₹65,500</a:t>
            </a:r>
            <a:endParaRPr lang="en-US" sz="1600" dirty="0"/>
          </a:p>
          <a:p>
            <a:pPr marL="0" indent="0" algn="ctr">
              <a:buNone/>
            </a:pPr>
            <a:r>
              <a:rPr lang="en-US" sz="1100" dirty="0">
                <a:solidFill>
                  <a:srgbClr val="3A3A3A"/>
                </a:solidFill>
              </a:rPr>
              <a:t>10:28 · TXN-84925</a:t>
            </a:r>
            <a:endParaRPr lang="en-US" sz="1600" dirty="0"/>
          </a:p>
        </p:txBody>
      </p:sp>
      <p:sp>
        <p:nvSpPr>
          <p:cNvPr id="33" name="Edge pill connector 5"/>
          <p:cNvSpPr/>
          <p:nvPr/>
        </p:nvSpPr>
        <p:spPr>
          <a:xfrm>
            <a:off x="10030968" y="2212848"/>
            <a:ext cx="0" cy="557784"/>
          </a:xfrm>
          <a:prstGeom prst="line">
            <a:avLst/>
          </a:prstGeom>
          <a:noFill/>
          <a:ln w="12700">
            <a:solidFill>
              <a:srgbClr val="5F5F5F"/>
            </a:solidFill>
            <a:prstDash val="solid"/>
          </a:ln>
        </p:spPr>
      </p:sp>
      <p:sp>
        <p:nvSpPr>
          <p:cNvPr id="34" name="Node E889"/>
          <p:cNvSpPr/>
          <p:nvPr/>
        </p:nvSpPr>
        <p:spPr>
          <a:xfrm>
            <a:off x="10424160" y="2423160"/>
            <a:ext cx="1188720" cy="731520"/>
          </a:xfrm>
          <a:prstGeom prst="roundRect">
            <a:avLst>
              <a:gd name="adj" fmla="val 175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35" name="Node label E889"/>
          <p:cNvSpPr txBox="1"/>
          <p:nvPr/>
        </p:nvSpPr>
        <p:spPr>
          <a:xfrm>
            <a:off x="10424160" y="2423160"/>
            <a:ext cx="1188720" cy="731520"/>
          </a:xfrm>
          <a:prstGeom prst="rect">
            <a:avLst/>
          </a:prstGeom>
          <a:noFill/>
          <a:ln/>
        </p:spPr>
        <p:txBody>
          <a:bodyPr wrap="square" lIns="0" tIns="0" rIns="0" bIns="0" rtlCol="0" anchor="ctr"/>
          <a:lstStyle/>
          <a:p>
            <a:pPr marL="0" indent="0" algn="ctr">
              <a:buNone/>
            </a:pPr>
            <a:r>
              <a:rPr lang="en-US" sz="1500" b="1" dirty="0">
                <a:solidFill>
                  <a:srgbClr val="111111"/>
                </a:solidFill>
              </a:rPr>
              <a:t>E889</a:t>
            </a:r>
            <a:endParaRPr lang="en-US" sz="1500" dirty="0"/>
          </a:p>
        </p:txBody>
      </p:sp>
      <p:sp>
        <p:nvSpPr>
          <p:cNvPr id="36" name="Stat card 1"/>
          <p:cNvSpPr/>
          <p:nvPr/>
        </p:nvSpPr>
        <p:spPr>
          <a:xfrm>
            <a:off x="548640" y="3520440"/>
            <a:ext cx="3505200" cy="1554480"/>
          </a:xfrm>
          <a:prstGeom prst="roundRect">
            <a:avLst>
              <a:gd name="adj" fmla="val 7059"/>
            </a:avLst>
          </a:prstGeom>
          <a:solidFill>
            <a:srgbClr val="FFFFFF"/>
          </a:solidFill>
          <a:ln w="25400">
            <a:solidFill>
              <a:srgbClr val="111111"/>
            </a:solidFill>
            <a:prstDash val="solid"/>
          </a:ln>
          <a:effectLst>
            <a:outerShdw blurRad="127000" dist="38100" dir="5400000" algn="bl" rotWithShape="0">
              <a:srgbClr val="000000">
                <a:alpha val="13000"/>
              </a:srgbClr>
            </a:outerShdw>
          </a:effectLst>
        </p:spPr>
      </p:sp>
      <p:sp>
        <p:nvSpPr>
          <p:cNvPr id="37" name="Stat value 1"/>
          <p:cNvSpPr txBox="1"/>
          <p:nvPr/>
        </p:nvSpPr>
        <p:spPr>
          <a:xfrm>
            <a:off x="731520" y="3703320"/>
            <a:ext cx="3139440" cy="777240"/>
          </a:xfrm>
          <a:prstGeom prst="rect">
            <a:avLst/>
          </a:prstGeom>
          <a:noFill/>
          <a:ln/>
        </p:spPr>
        <p:txBody>
          <a:bodyPr wrap="square" lIns="0" tIns="0" rIns="0" bIns="0" rtlCol="0" anchor="ctr"/>
          <a:lstStyle/>
          <a:p>
            <a:pPr marL="0" indent="0" algn="ctr">
              <a:buNone/>
            </a:pPr>
            <a:r>
              <a:rPr lang="en-US" sz="4400" b="1" dirty="0">
                <a:solidFill>
                  <a:srgbClr val="111111"/>
                </a:solidFill>
              </a:rPr>
              <a:t>₹75,000</a:t>
            </a:r>
            <a:endParaRPr lang="en-US" sz="4400" dirty="0"/>
          </a:p>
        </p:txBody>
      </p:sp>
      <p:sp>
        <p:nvSpPr>
          <p:cNvPr id="38" name="Stat label 1"/>
          <p:cNvSpPr txBox="1"/>
          <p:nvPr/>
        </p:nvSpPr>
        <p:spPr>
          <a:xfrm>
            <a:off x="731520" y="4526280"/>
            <a:ext cx="3139440" cy="411480"/>
          </a:xfrm>
          <a:prstGeom prst="rect">
            <a:avLst/>
          </a:prstGeom>
          <a:noFill/>
          <a:ln/>
        </p:spPr>
        <p:txBody>
          <a:bodyPr wrap="square" lIns="0" tIns="0" rIns="0" bIns="0" rtlCol="0" anchor="t"/>
          <a:lstStyle/>
          <a:p>
            <a:pPr marL="0" indent="0" algn="ctr">
              <a:buNone/>
            </a:pPr>
            <a:r>
              <a:rPr lang="en-US" sz="1400" dirty="0">
                <a:solidFill>
                  <a:srgbClr val="3A3A3A"/>
                </a:solidFill>
              </a:rPr>
              <a:t>Initial victim transfer</a:t>
            </a:r>
            <a:endParaRPr lang="en-US" sz="1400" dirty="0"/>
          </a:p>
        </p:txBody>
      </p:sp>
      <p:sp>
        <p:nvSpPr>
          <p:cNvPr id="39" name="Stat card 2"/>
          <p:cNvSpPr/>
          <p:nvPr/>
        </p:nvSpPr>
        <p:spPr>
          <a:xfrm>
            <a:off x="4328160" y="3520440"/>
            <a:ext cx="3505200" cy="1554480"/>
          </a:xfrm>
          <a:prstGeom prst="roundRect">
            <a:avLst>
              <a:gd name="adj" fmla="val 7059"/>
            </a:avLst>
          </a:prstGeom>
          <a:solidFill>
            <a:srgbClr val="FFFFFF"/>
          </a:solidFill>
          <a:ln w="25400">
            <a:solidFill>
              <a:srgbClr val="A30D1D"/>
            </a:solidFill>
            <a:prstDash val="solid"/>
          </a:ln>
          <a:effectLst>
            <a:outerShdw blurRad="127000" dist="38100" dir="5400000" algn="bl" rotWithShape="0">
              <a:srgbClr val="000000">
                <a:alpha val="13000"/>
              </a:srgbClr>
            </a:outerShdw>
          </a:effectLst>
        </p:spPr>
      </p:sp>
      <p:sp>
        <p:nvSpPr>
          <p:cNvPr id="40" name="Stat value 2"/>
          <p:cNvSpPr txBox="1"/>
          <p:nvPr/>
        </p:nvSpPr>
        <p:spPr>
          <a:xfrm>
            <a:off x="4511040" y="3703320"/>
            <a:ext cx="3139440" cy="777240"/>
          </a:xfrm>
          <a:prstGeom prst="rect">
            <a:avLst/>
          </a:prstGeom>
          <a:noFill/>
          <a:ln/>
        </p:spPr>
        <p:txBody>
          <a:bodyPr wrap="square" lIns="0" tIns="0" rIns="0" bIns="0" rtlCol="0" anchor="ctr"/>
          <a:lstStyle/>
          <a:p>
            <a:pPr marL="0" indent="0" algn="ctr">
              <a:buNone/>
            </a:pPr>
            <a:r>
              <a:rPr lang="en-US" sz="4400" b="1" dirty="0">
                <a:solidFill>
                  <a:srgbClr val="111111"/>
                </a:solidFill>
              </a:rPr>
              <a:t>5</a:t>
            </a:r>
            <a:endParaRPr lang="en-US" sz="4400" dirty="0"/>
          </a:p>
        </p:txBody>
      </p:sp>
      <p:sp>
        <p:nvSpPr>
          <p:cNvPr id="41" name="Stat label 2"/>
          <p:cNvSpPr txBox="1"/>
          <p:nvPr/>
        </p:nvSpPr>
        <p:spPr>
          <a:xfrm>
            <a:off x="4511040" y="4526280"/>
            <a:ext cx="3139440" cy="411480"/>
          </a:xfrm>
          <a:prstGeom prst="rect">
            <a:avLst/>
          </a:prstGeom>
          <a:noFill/>
          <a:ln/>
        </p:spPr>
        <p:txBody>
          <a:bodyPr wrap="square" lIns="0" tIns="0" rIns="0" bIns="0" rtlCol="0" anchor="t"/>
          <a:lstStyle/>
          <a:p>
            <a:pPr marL="0" indent="0" algn="ctr">
              <a:buNone/>
            </a:pPr>
            <a:r>
              <a:rPr lang="en-US" sz="1400" dirty="0">
                <a:solidFill>
                  <a:srgbClr val="3A3A3A"/>
                </a:solidFill>
              </a:rPr>
              <a:t>Transaction edges shown</a:t>
            </a:r>
            <a:endParaRPr lang="en-US" sz="1400" dirty="0"/>
          </a:p>
        </p:txBody>
      </p:sp>
      <p:sp>
        <p:nvSpPr>
          <p:cNvPr id="42" name="Stat card 3"/>
          <p:cNvSpPr/>
          <p:nvPr/>
        </p:nvSpPr>
        <p:spPr>
          <a:xfrm>
            <a:off x="8107680" y="3520440"/>
            <a:ext cx="3505200" cy="1554480"/>
          </a:xfrm>
          <a:prstGeom prst="roundRect">
            <a:avLst>
              <a:gd name="adj" fmla="val 7059"/>
            </a:avLst>
          </a:prstGeom>
          <a:solidFill>
            <a:srgbClr val="FFFFFF"/>
          </a:solidFill>
          <a:ln w="25400">
            <a:solidFill>
              <a:srgbClr val="B45309"/>
            </a:solidFill>
            <a:prstDash val="solid"/>
          </a:ln>
          <a:effectLst>
            <a:outerShdw blurRad="127000" dist="38100" dir="5400000" algn="bl" rotWithShape="0">
              <a:srgbClr val="000000">
                <a:alpha val="13000"/>
              </a:srgbClr>
            </a:outerShdw>
          </a:effectLst>
        </p:spPr>
      </p:sp>
      <p:sp>
        <p:nvSpPr>
          <p:cNvPr id="43" name="Stat value 3"/>
          <p:cNvSpPr txBox="1"/>
          <p:nvPr/>
        </p:nvSpPr>
        <p:spPr>
          <a:xfrm>
            <a:off x="8290560" y="3703320"/>
            <a:ext cx="3139440" cy="777240"/>
          </a:xfrm>
          <a:prstGeom prst="rect">
            <a:avLst/>
          </a:prstGeom>
          <a:noFill/>
          <a:ln/>
        </p:spPr>
        <p:txBody>
          <a:bodyPr wrap="square" lIns="0" tIns="0" rIns="0" bIns="0" rtlCol="0" anchor="ctr"/>
          <a:lstStyle/>
          <a:p>
            <a:pPr marL="0" indent="0" algn="ctr">
              <a:buNone/>
            </a:pPr>
            <a:r>
              <a:rPr lang="en-US" sz="4400" b="1" dirty="0">
                <a:solidFill>
                  <a:srgbClr val="111111"/>
                </a:solidFill>
              </a:rPr>
              <a:t>₹3,52,000</a:t>
            </a:r>
            <a:endParaRPr lang="en-US" sz="4400" dirty="0"/>
          </a:p>
        </p:txBody>
      </p:sp>
      <p:sp>
        <p:nvSpPr>
          <p:cNvPr id="44" name="Stat label 3"/>
          <p:cNvSpPr txBox="1"/>
          <p:nvPr/>
        </p:nvSpPr>
        <p:spPr>
          <a:xfrm>
            <a:off x="8290560" y="4526280"/>
            <a:ext cx="3139440" cy="411480"/>
          </a:xfrm>
          <a:prstGeom prst="rect">
            <a:avLst/>
          </a:prstGeom>
          <a:noFill/>
          <a:ln/>
        </p:spPr>
        <p:txBody>
          <a:bodyPr wrap="square" lIns="0" tIns="0" rIns="0" bIns="0" rtlCol="0" anchor="t"/>
          <a:lstStyle/>
          <a:p>
            <a:pPr marL="0" indent="0" algn="ctr">
              <a:buNone/>
            </a:pPr>
            <a:r>
              <a:rPr lang="en-US" sz="1400" dirty="0">
                <a:solidFill>
                  <a:srgbClr val="3A3A3A"/>
                </a:solidFill>
              </a:rPr>
              <a:t>Gross total of the five listed amounts</a:t>
            </a:r>
            <a:endParaRPr lang="en-US" sz="1400" dirty="0"/>
          </a:p>
        </p:txBody>
      </p:sp>
      <p:sp>
        <p:nvSpPr>
          <p:cNvPr id="45" name="Clarification box"/>
          <p:cNvSpPr/>
          <p:nvPr/>
        </p:nvSpPr>
        <p:spPr>
          <a:xfrm>
            <a:off x="548640" y="5303520"/>
            <a:ext cx="11064240" cy="914400"/>
          </a:xfrm>
          <a:prstGeom prst="roundRect">
            <a:avLst>
              <a:gd name="adj" fmla="val 12000"/>
            </a:avLst>
          </a:prstGeom>
          <a:solidFill>
            <a:srgbClr val="FFFFFF"/>
          </a:solidFill>
          <a:ln w="19050">
            <a:solidFill>
              <a:srgbClr val="B45309"/>
            </a:solidFill>
            <a:prstDash val="solid"/>
          </a:ln>
          <a:effectLst>
            <a:outerShdw blurRad="127000" dist="38100" dir="5400000" algn="bl" rotWithShape="0">
              <a:srgbClr val="000000">
                <a:alpha val="13000"/>
              </a:srgbClr>
            </a:outerShdw>
          </a:effectLst>
        </p:spPr>
      </p:sp>
      <p:sp>
        <p:nvSpPr>
          <p:cNvPr id="46" name="Clarification text"/>
          <p:cNvSpPr txBox="1"/>
          <p:nvPr/>
        </p:nvSpPr>
        <p:spPr>
          <a:xfrm>
            <a:off x="777240" y="5303520"/>
            <a:ext cx="10607040" cy="914400"/>
          </a:xfrm>
          <a:prstGeom prst="rect">
            <a:avLst/>
          </a:prstGeom>
          <a:noFill/>
          <a:ln/>
        </p:spPr>
        <p:txBody>
          <a:bodyPr wrap="square" lIns="0" tIns="0" rIns="0" bIns="0" rtlCol="0" anchor="ctr"/>
          <a:lstStyle/>
          <a:p>
            <a:pPr marL="0" indent="0">
              <a:buNone/>
            </a:pPr>
            <a:r>
              <a:rPr lang="en-US" sz="1600" b="1" dirty="0">
                <a:solidFill>
                  <a:srgbClr val="B45309"/>
                </a:solidFill>
              </a:rPr>
              <a:t>₹3,52,000 is not the victim's loss. </a:t>
            </a:r>
            <a:r>
              <a:rPr lang="en-US" sz="1600" dirty="0">
                <a:solidFill>
                  <a:srgbClr val="111111"/>
                </a:solidFill>
              </a:rPr>
              <a:t>It adds up the amounts across the five transaction edges, so the same money is counted again at each hop. The original ₹75,000 transfer is a separate measure.</a:t>
            </a:r>
            <a:endParaRPr lang="en-US" sz="1600" dirty="0"/>
          </a:p>
        </p:txBody>
      </p:sp>
      <p:sp>
        <p:nvSpPr>
          <p:cNvPr id="4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Technical Feasibility and </a:t>
            </a:r>
            <a:r>
              <a:rPr lang="en-US" sz="3600" b="1" dirty="0">
                <a:solidFill>
                  <a:srgbClr val="A30D1D"/>
                </a:solidFill>
                <a:latin typeface="Arial" pitchFamily="34" charset="0"/>
                <a:ea typeface="Arial" pitchFamily="34" charset="-122"/>
                <a:cs typeface="Arial" pitchFamily="34" charset="-120"/>
              </a:rPr>
              <a:t>Implementation</a:t>
            </a:r>
            <a:endParaRPr lang="en-US" sz="3600" dirty="0"/>
          </a:p>
        </p:txBody>
      </p:sp>
      <p:sp>
        <p:nvSpPr>
          <p:cNvPr id="3" name="Phase card 1"/>
          <p:cNvSpPr/>
          <p:nvPr/>
        </p:nvSpPr>
        <p:spPr>
          <a:xfrm>
            <a:off x="548640" y="1371600"/>
            <a:ext cx="2594610" cy="14630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 name="Phase hours 1"/>
          <p:cNvSpPr txBox="1"/>
          <p:nvPr/>
        </p:nvSpPr>
        <p:spPr>
          <a:xfrm>
            <a:off x="640080" y="1508760"/>
            <a:ext cx="2411730" cy="228600"/>
          </a:xfrm>
          <a:prstGeom prst="rect">
            <a:avLst/>
          </a:prstGeom>
          <a:noFill/>
          <a:ln/>
        </p:spPr>
        <p:txBody>
          <a:bodyPr wrap="square" lIns="0" tIns="0" rIns="0" bIns="0" rtlCol="0" anchor="t"/>
          <a:lstStyle/>
          <a:p>
            <a:pPr marL="0" indent="0" algn="l">
              <a:buNone/>
            </a:pPr>
            <a:r>
              <a:rPr lang="en-US" sz="1000" b="1" dirty="0">
                <a:solidFill>
                  <a:srgbClr val="A30D1D"/>
                </a:solidFill>
              </a:rPr>
              <a:t>HOURS 0–6</a:t>
            </a:r>
            <a:endParaRPr lang="en-US" sz="1000" dirty="0"/>
          </a:p>
        </p:txBody>
      </p:sp>
      <p:sp>
        <p:nvSpPr>
          <p:cNvPr id="5" name="Phase title 1"/>
          <p:cNvSpPr txBox="1"/>
          <p:nvPr/>
        </p:nvSpPr>
        <p:spPr>
          <a:xfrm>
            <a:off x="640080" y="1783080"/>
            <a:ext cx="2411730" cy="274320"/>
          </a:xfrm>
          <a:prstGeom prst="rect">
            <a:avLst/>
          </a:prstGeom>
          <a:noFill/>
          <a:ln/>
        </p:spPr>
        <p:txBody>
          <a:bodyPr wrap="square" lIns="0" tIns="0" rIns="0" bIns="0" rtlCol="0" anchor="t"/>
          <a:lstStyle/>
          <a:p>
            <a:pPr marL="0" indent="0" algn="l">
              <a:buNone/>
            </a:pPr>
            <a:r>
              <a:rPr lang="en-US" sz="1400" b="1" dirty="0">
                <a:solidFill>
                  <a:srgbClr val="111111"/>
                </a:solidFill>
              </a:rPr>
              <a:t>Data and graph</a:t>
            </a:r>
            <a:endParaRPr lang="en-US" sz="1400" dirty="0"/>
          </a:p>
        </p:txBody>
      </p:sp>
      <p:sp>
        <p:nvSpPr>
          <p:cNvPr id="6" name="Phase text 1"/>
          <p:cNvSpPr txBox="1"/>
          <p:nvPr/>
        </p:nvSpPr>
        <p:spPr>
          <a:xfrm>
            <a:off x="640080" y="2103120"/>
            <a:ext cx="2411730" cy="640080"/>
          </a:xfrm>
          <a:prstGeom prst="rect">
            <a:avLst/>
          </a:prstGeom>
          <a:noFill/>
          <a:ln/>
        </p:spPr>
        <p:txBody>
          <a:bodyPr wrap="square" lIns="0" tIns="0" rIns="0" bIns="0" rtlCol="0" anchor="t"/>
          <a:lstStyle/>
          <a:p>
            <a:pPr marL="0" indent="0" algn="l">
              <a:buNone/>
            </a:pPr>
            <a:r>
              <a:rPr lang="en-US" sz="1200" dirty="0">
                <a:solidFill>
                  <a:srgbClr val="3A3A3A"/>
                </a:solidFill>
              </a:rPr>
              <a:t>Create synthetic transactions; build the transaction graph and Temporal BFS tracing.</a:t>
            </a:r>
            <a:endParaRPr lang="en-US" sz="1200" dirty="0"/>
          </a:p>
        </p:txBody>
      </p:sp>
      <p:sp>
        <p:nvSpPr>
          <p:cNvPr id="7" name="Phase card 2"/>
          <p:cNvSpPr/>
          <p:nvPr/>
        </p:nvSpPr>
        <p:spPr>
          <a:xfrm>
            <a:off x="3371850" y="1371600"/>
            <a:ext cx="2594610" cy="14630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8" name="Phase hours 2"/>
          <p:cNvSpPr txBox="1"/>
          <p:nvPr/>
        </p:nvSpPr>
        <p:spPr>
          <a:xfrm>
            <a:off x="3463290" y="1508760"/>
            <a:ext cx="2411730" cy="228600"/>
          </a:xfrm>
          <a:prstGeom prst="rect">
            <a:avLst/>
          </a:prstGeom>
          <a:noFill/>
          <a:ln/>
        </p:spPr>
        <p:txBody>
          <a:bodyPr wrap="square" lIns="0" tIns="0" rIns="0" bIns="0" rtlCol="0" anchor="t"/>
          <a:lstStyle/>
          <a:p>
            <a:pPr marL="0" indent="0" algn="l">
              <a:buNone/>
            </a:pPr>
            <a:r>
              <a:rPr lang="en-US" sz="1000" b="1" dirty="0">
                <a:solidFill>
                  <a:srgbClr val="A30D1D"/>
                </a:solidFill>
              </a:rPr>
              <a:t>HOURS 6–12</a:t>
            </a:r>
            <a:endParaRPr lang="en-US" sz="1000" dirty="0"/>
          </a:p>
        </p:txBody>
      </p:sp>
      <p:sp>
        <p:nvSpPr>
          <p:cNvPr id="9" name="Phase title 2"/>
          <p:cNvSpPr txBox="1"/>
          <p:nvPr/>
        </p:nvSpPr>
        <p:spPr>
          <a:xfrm>
            <a:off x="3463290" y="1783080"/>
            <a:ext cx="2411730" cy="274320"/>
          </a:xfrm>
          <a:prstGeom prst="rect">
            <a:avLst/>
          </a:prstGeom>
          <a:noFill/>
          <a:ln/>
        </p:spPr>
        <p:txBody>
          <a:bodyPr wrap="square" lIns="0" tIns="0" rIns="0" bIns="0" rtlCol="0" anchor="t"/>
          <a:lstStyle/>
          <a:p>
            <a:pPr marL="0" indent="0" algn="l">
              <a:buNone/>
            </a:pPr>
            <a:r>
              <a:rPr lang="en-US" sz="1400" b="1" dirty="0">
                <a:solidFill>
                  <a:srgbClr val="111111"/>
                </a:solidFill>
              </a:rPr>
              <a:t>Models</a:t>
            </a:r>
            <a:endParaRPr lang="en-US" sz="1400" dirty="0"/>
          </a:p>
        </p:txBody>
      </p:sp>
      <p:sp>
        <p:nvSpPr>
          <p:cNvPr id="10" name="Phase text 2"/>
          <p:cNvSpPr txBox="1"/>
          <p:nvPr/>
        </p:nvSpPr>
        <p:spPr>
          <a:xfrm>
            <a:off x="3463290" y="2103120"/>
            <a:ext cx="2411730" cy="640080"/>
          </a:xfrm>
          <a:prstGeom prst="rect">
            <a:avLst/>
          </a:prstGeom>
          <a:noFill/>
          <a:ln/>
        </p:spPr>
        <p:txBody>
          <a:bodyPr wrap="square" lIns="0" tIns="0" rIns="0" bIns="0" rtlCol="0" anchor="t"/>
          <a:lstStyle/>
          <a:p>
            <a:pPr marL="0" indent="0" algn="l">
              <a:buNone/>
            </a:pPr>
            <a:r>
              <a:rPr lang="en-US" sz="1200" dirty="0">
                <a:solidFill>
                  <a:srgbClr val="3A3A3A"/>
                </a:solidFill>
              </a:rPr>
              <a:t>Train the risk and next-hop Random Forests; add Louvain community detection.</a:t>
            </a:r>
            <a:endParaRPr lang="en-US" sz="1200" dirty="0"/>
          </a:p>
        </p:txBody>
      </p:sp>
      <p:sp>
        <p:nvSpPr>
          <p:cNvPr id="11" name="Phase card 3"/>
          <p:cNvSpPr/>
          <p:nvPr/>
        </p:nvSpPr>
        <p:spPr>
          <a:xfrm>
            <a:off x="6195060" y="1371600"/>
            <a:ext cx="2594610" cy="14630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2" name="Phase hours 3"/>
          <p:cNvSpPr txBox="1"/>
          <p:nvPr/>
        </p:nvSpPr>
        <p:spPr>
          <a:xfrm>
            <a:off x="6286500" y="1508760"/>
            <a:ext cx="2411730" cy="228600"/>
          </a:xfrm>
          <a:prstGeom prst="rect">
            <a:avLst/>
          </a:prstGeom>
          <a:noFill/>
          <a:ln/>
        </p:spPr>
        <p:txBody>
          <a:bodyPr wrap="square" lIns="0" tIns="0" rIns="0" bIns="0" rtlCol="0" anchor="t"/>
          <a:lstStyle/>
          <a:p>
            <a:pPr marL="0" indent="0" algn="l">
              <a:buNone/>
            </a:pPr>
            <a:r>
              <a:rPr lang="en-US" sz="1000" b="1" dirty="0">
                <a:solidFill>
                  <a:srgbClr val="A30D1D"/>
                </a:solidFill>
              </a:rPr>
              <a:t>HOURS 12–18</a:t>
            </a:r>
            <a:endParaRPr lang="en-US" sz="1000" dirty="0"/>
          </a:p>
        </p:txBody>
      </p:sp>
      <p:sp>
        <p:nvSpPr>
          <p:cNvPr id="13" name="Phase title 3"/>
          <p:cNvSpPr txBox="1"/>
          <p:nvPr/>
        </p:nvSpPr>
        <p:spPr>
          <a:xfrm>
            <a:off x="6286500" y="1783080"/>
            <a:ext cx="2411730" cy="274320"/>
          </a:xfrm>
          <a:prstGeom prst="rect">
            <a:avLst/>
          </a:prstGeom>
          <a:noFill/>
          <a:ln/>
        </p:spPr>
        <p:txBody>
          <a:bodyPr wrap="square" lIns="0" tIns="0" rIns="0" bIns="0" rtlCol="0" anchor="t"/>
          <a:lstStyle/>
          <a:p>
            <a:pPr marL="0" indent="0" algn="l">
              <a:buNone/>
            </a:pPr>
            <a:r>
              <a:rPr lang="en-US" sz="1400" b="1" dirty="0">
                <a:solidFill>
                  <a:srgbClr val="111111"/>
                </a:solidFill>
              </a:rPr>
              <a:t>API and interface</a:t>
            </a:r>
            <a:endParaRPr lang="en-US" sz="1400" dirty="0"/>
          </a:p>
        </p:txBody>
      </p:sp>
      <p:sp>
        <p:nvSpPr>
          <p:cNvPr id="14" name="Phase text 3"/>
          <p:cNvSpPr txBox="1"/>
          <p:nvPr/>
        </p:nvSpPr>
        <p:spPr>
          <a:xfrm>
            <a:off x="6286500" y="2103120"/>
            <a:ext cx="2411730" cy="640080"/>
          </a:xfrm>
          <a:prstGeom prst="rect">
            <a:avLst/>
          </a:prstGeom>
          <a:noFill/>
          <a:ln/>
        </p:spPr>
        <p:txBody>
          <a:bodyPr wrap="square" lIns="0" tIns="0" rIns="0" bIns="0" rtlCol="0" anchor="t"/>
          <a:lstStyle/>
          <a:p>
            <a:pPr marL="0" indent="0" algn="l">
              <a:buNone/>
            </a:pPr>
            <a:r>
              <a:rPr lang="en-US" sz="1200" dirty="0">
                <a:solidFill>
                  <a:srgbClr val="3A3A3A"/>
                </a:solidFill>
              </a:rPr>
              <a:t>FastAPI endpoints; React dashboard and network view.</a:t>
            </a:r>
            <a:endParaRPr lang="en-US" sz="1200" dirty="0"/>
          </a:p>
        </p:txBody>
      </p:sp>
      <p:sp>
        <p:nvSpPr>
          <p:cNvPr id="15" name="Phase card 4"/>
          <p:cNvSpPr/>
          <p:nvPr/>
        </p:nvSpPr>
        <p:spPr>
          <a:xfrm>
            <a:off x="9018270" y="1371600"/>
            <a:ext cx="2594610" cy="14630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6" name="Phase hours 4"/>
          <p:cNvSpPr txBox="1"/>
          <p:nvPr/>
        </p:nvSpPr>
        <p:spPr>
          <a:xfrm>
            <a:off x="9109710" y="1508760"/>
            <a:ext cx="2411730" cy="228600"/>
          </a:xfrm>
          <a:prstGeom prst="rect">
            <a:avLst/>
          </a:prstGeom>
          <a:noFill/>
          <a:ln/>
        </p:spPr>
        <p:txBody>
          <a:bodyPr wrap="square" lIns="0" tIns="0" rIns="0" bIns="0" rtlCol="0" anchor="t"/>
          <a:lstStyle/>
          <a:p>
            <a:pPr marL="0" indent="0" algn="l">
              <a:buNone/>
            </a:pPr>
            <a:r>
              <a:rPr lang="en-US" sz="1000" b="1" dirty="0">
                <a:solidFill>
                  <a:srgbClr val="A30D1D"/>
                </a:solidFill>
              </a:rPr>
              <a:t>HOURS 18–24</a:t>
            </a:r>
            <a:endParaRPr lang="en-US" sz="1000" dirty="0"/>
          </a:p>
        </p:txBody>
      </p:sp>
      <p:sp>
        <p:nvSpPr>
          <p:cNvPr id="17" name="Phase title 4"/>
          <p:cNvSpPr txBox="1"/>
          <p:nvPr/>
        </p:nvSpPr>
        <p:spPr>
          <a:xfrm>
            <a:off x="9109710" y="1783080"/>
            <a:ext cx="2411730" cy="274320"/>
          </a:xfrm>
          <a:prstGeom prst="rect">
            <a:avLst/>
          </a:prstGeom>
          <a:noFill/>
          <a:ln/>
        </p:spPr>
        <p:txBody>
          <a:bodyPr wrap="square" lIns="0" tIns="0" rIns="0" bIns="0" rtlCol="0" anchor="t"/>
          <a:lstStyle/>
          <a:p>
            <a:pPr marL="0" indent="0" algn="l">
              <a:buNone/>
            </a:pPr>
            <a:r>
              <a:rPr lang="en-US" sz="1400" b="1" dirty="0">
                <a:solidFill>
                  <a:srgbClr val="111111"/>
                </a:solidFill>
              </a:rPr>
              <a:t>Test and demo</a:t>
            </a:r>
            <a:endParaRPr lang="en-US" sz="1400" dirty="0"/>
          </a:p>
        </p:txBody>
      </p:sp>
      <p:sp>
        <p:nvSpPr>
          <p:cNvPr id="18" name="Phase text 4"/>
          <p:cNvSpPr txBox="1"/>
          <p:nvPr/>
        </p:nvSpPr>
        <p:spPr>
          <a:xfrm>
            <a:off x="9109710" y="2103120"/>
            <a:ext cx="2411730" cy="640080"/>
          </a:xfrm>
          <a:prstGeom prst="rect">
            <a:avLst/>
          </a:prstGeom>
          <a:noFill/>
          <a:ln/>
        </p:spPr>
        <p:txBody>
          <a:bodyPr wrap="square" lIns="0" tIns="0" rIns="0" bIns="0" rtlCol="0" anchor="t"/>
          <a:lstStyle/>
          <a:p>
            <a:pPr marL="0" indent="0" algn="l">
              <a:buNone/>
            </a:pPr>
            <a:r>
              <a:rPr lang="en-US" sz="1200" dirty="0">
                <a:solidFill>
                  <a:srgbClr val="3A3A3A"/>
                </a:solidFill>
              </a:rPr>
              <a:t>Connect the pieces, test the example case and prepare the demo.</a:t>
            </a:r>
            <a:endParaRPr lang="en-US" sz="1200" dirty="0"/>
          </a:p>
        </p:txBody>
      </p:sp>
      <p:sp>
        <p:nvSpPr>
          <p:cNvPr id="19" name="Challenges card"/>
          <p:cNvSpPr/>
          <p:nvPr/>
        </p:nvSpPr>
        <p:spPr>
          <a:xfrm>
            <a:off x="548640" y="3017520"/>
            <a:ext cx="7040880" cy="292608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20" name="Challenges title"/>
          <p:cNvSpPr txBox="1"/>
          <p:nvPr/>
        </p:nvSpPr>
        <p:spPr>
          <a:xfrm>
            <a:off x="777240" y="3200400"/>
            <a:ext cx="6583680" cy="320040"/>
          </a:xfrm>
          <a:prstGeom prst="rect">
            <a:avLst/>
          </a:prstGeom>
          <a:noFill/>
          <a:ln/>
        </p:spPr>
        <p:txBody>
          <a:bodyPr wrap="square" lIns="0" tIns="0" rIns="0" bIns="0" rtlCol="0" anchor="t"/>
          <a:lstStyle/>
          <a:p>
            <a:pPr marL="0" indent="0" algn="l">
              <a:buNone/>
            </a:pPr>
            <a:r>
              <a:rPr lang="en-US" sz="1800" b="1" dirty="0">
                <a:solidFill>
                  <a:srgbClr val="A30D1D"/>
                </a:solidFill>
              </a:rPr>
              <a:t>Major challenges and how we handle them</a:t>
            </a:r>
            <a:endParaRPr lang="en-US" sz="1800" dirty="0"/>
          </a:p>
        </p:txBody>
      </p:sp>
      <p:sp>
        <p:nvSpPr>
          <p:cNvPr id="21" name="Challenge column label"/>
          <p:cNvSpPr txBox="1"/>
          <p:nvPr/>
        </p:nvSpPr>
        <p:spPr>
          <a:xfrm>
            <a:off x="777240" y="3611880"/>
            <a:ext cx="2286000" cy="228600"/>
          </a:xfrm>
          <a:prstGeom prst="rect">
            <a:avLst/>
          </a:prstGeom>
          <a:noFill/>
          <a:ln/>
        </p:spPr>
        <p:txBody>
          <a:bodyPr wrap="square" lIns="0" tIns="0" rIns="0" bIns="0" rtlCol="0" anchor="t"/>
          <a:lstStyle/>
          <a:p>
            <a:pPr marL="0" indent="0" algn="l">
              <a:buNone/>
            </a:pPr>
            <a:r>
              <a:rPr lang="en-US" sz="1000" b="1" dirty="0">
                <a:solidFill>
                  <a:srgbClr val="6B6B6B"/>
                </a:solidFill>
              </a:rPr>
              <a:t>CHALLENGE</a:t>
            </a:r>
            <a:endParaRPr lang="en-US" sz="1000" dirty="0"/>
          </a:p>
        </p:txBody>
      </p:sp>
      <p:sp>
        <p:nvSpPr>
          <p:cNvPr id="22" name="Mitigation column label"/>
          <p:cNvSpPr txBox="1"/>
          <p:nvPr/>
        </p:nvSpPr>
        <p:spPr>
          <a:xfrm>
            <a:off x="3246120" y="3611880"/>
            <a:ext cx="4114800" cy="228600"/>
          </a:xfrm>
          <a:prstGeom prst="rect">
            <a:avLst/>
          </a:prstGeom>
          <a:noFill/>
          <a:ln/>
        </p:spPr>
        <p:txBody>
          <a:bodyPr wrap="square" lIns="0" tIns="0" rIns="0" bIns="0" rtlCol="0" anchor="t"/>
          <a:lstStyle/>
          <a:p>
            <a:pPr marL="0" indent="0" algn="l">
              <a:buNone/>
            </a:pPr>
            <a:r>
              <a:rPr lang="en-US" sz="1000" b="1" dirty="0">
                <a:solidFill>
                  <a:srgbClr val="6B6B6B"/>
                </a:solidFill>
              </a:rPr>
              <a:t>MITIGATION / FALLBACK</a:t>
            </a:r>
            <a:endParaRPr lang="en-US" sz="1000" dirty="0"/>
          </a:p>
        </p:txBody>
      </p:sp>
      <p:sp>
        <p:nvSpPr>
          <p:cNvPr id="23" name="Challenge 1"/>
          <p:cNvSpPr txBox="1"/>
          <p:nvPr/>
        </p:nvSpPr>
        <p:spPr>
          <a:xfrm>
            <a:off x="777240" y="3886200"/>
            <a:ext cx="2286000" cy="457200"/>
          </a:xfrm>
          <a:prstGeom prst="rect">
            <a:avLst/>
          </a:prstGeom>
          <a:noFill/>
          <a:ln/>
        </p:spPr>
        <p:txBody>
          <a:bodyPr wrap="square" lIns="0" tIns="0" rIns="0" bIns="0" rtlCol="0" anchor="t"/>
          <a:lstStyle/>
          <a:p>
            <a:pPr marL="0" indent="0" algn="l">
              <a:buNone/>
            </a:pPr>
            <a:r>
              <a:rPr lang="en-US" sz="1200" b="1" dirty="0">
                <a:solidFill>
                  <a:srgbClr val="111111"/>
                </a:solidFill>
              </a:rPr>
              <a:t>No real banking data</a:t>
            </a:r>
            <a:endParaRPr lang="en-US" sz="1200" dirty="0"/>
          </a:p>
        </p:txBody>
      </p:sp>
      <p:sp>
        <p:nvSpPr>
          <p:cNvPr id="24" name="Mitigation 1"/>
          <p:cNvSpPr txBox="1"/>
          <p:nvPr/>
        </p:nvSpPr>
        <p:spPr>
          <a:xfrm>
            <a:off x="3246120" y="3886200"/>
            <a:ext cx="4114800" cy="457200"/>
          </a:xfrm>
          <a:prstGeom prst="rect">
            <a:avLst/>
          </a:prstGeom>
          <a:noFill/>
          <a:ln/>
        </p:spPr>
        <p:txBody>
          <a:bodyPr wrap="square" lIns="0" tIns="0" rIns="0" bIns="0" rtlCol="0" anchor="t"/>
          <a:lstStyle/>
          <a:p>
            <a:pPr marL="0" indent="0" algn="l">
              <a:buNone/>
            </a:pPr>
            <a:r>
              <a:rPr lang="en-US" sz="1200" dirty="0">
                <a:solidFill>
                  <a:srgbClr val="3A3A3A"/>
                </a:solidFill>
              </a:rPr>
              <a:t>Use realistic synthetic scenarios; evaluate on authorised real-world data later.</a:t>
            </a:r>
            <a:endParaRPr lang="en-US" sz="1200" dirty="0"/>
          </a:p>
        </p:txBody>
      </p:sp>
      <p:sp>
        <p:nvSpPr>
          <p:cNvPr id="25" name="Challenge 2"/>
          <p:cNvSpPr txBox="1"/>
          <p:nvPr/>
        </p:nvSpPr>
        <p:spPr>
          <a:xfrm>
            <a:off x="777240" y="4389120"/>
            <a:ext cx="2286000" cy="457200"/>
          </a:xfrm>
          <a:prstGeom prst="rect">
            <a:avLst/>
          </a:prstGeom>
          <a:noFill/>
          <a:ln/>
        </p:spPr>
        <p:txBody>
          <a:bodyPr wrap="square" lIns="0" tIns="0" rIns="0" bIns="0" rtlCol="0" anchor="t"/>
          <a:lstStyle/>
          <a:p>
            <a:pPr marL="0" indent="0" algn="l">
              <a:buNone/>
            </a:pPr>
            <a:r>
              <a:rPr lang="en-US" sz="1200" b="1" dirty="0">
                <a:solidFill>
                  <a:srgbClr val="111111"/>
                </a:solidFill>
              </a:rPr>
              <a:t>ML accuracy not proven on real data</a:t>
            </a:r>
            <a:endParaRPr lang="en-US" sz="1200" dirty="0"/>
          </a:p>
        </p:txBody>
      </p:sp>
      <p:sp>
        <p:nvSpPr>
          <p:cNvPr id="26" name="Mitigation 2"/>
          <p:cNvSpPr txBox="1"/>
          <p:nvPr/>
        </p:nvSpPr>
        <p:spPr>
          <a:xfrm>
            <a:off x="3246120" y="4389120"/>
            <a:ext cx="4114800" cy="457200"/>
          </a:xfrm>
          <a:prstGeom prst="rect">
            <a:avLst/>
          </a:prstGeom>
          <a:noFill/>
          <a:ln/>
        </p:spPr>
        <p:txBody>
          <a:bodyPr wrap="square" lIns="0" tIns="0" rIns="0" bIns="0" rtlCol="0" anchor="t"/>
          <a:lstStyle/>
          <a:p>
            <a:pPr marL="0" indent="0" algn="l">
              <a:buNone/>
            </a:pPr>
            <a:r>
              <a:rPr lang="en-US" sz="1200" dirty="0">
                <a:solidFill>
                  <a:srgbClr val="3A3A3A"/>
                </a:solidFill>
              </a:rPr>
              <a:t>Train and test on separate synthetic groups; claim no real-world accuracy.</a:t>
            </a:r>
            <a:endParaRPr lang="en-US" sz="1200" dirty="0"/>
          </a:p>
        </p:txBody>
      </p:sp>
      <p:sp>
        <p:nvSpPr>
          <p:cNvPr id="27" name="Challenge 3"/>
          <p:cNvSpPr txBox="1"/>
          <p:nvPr/>
        </p:nvSpPr>
        <p:spPr>
          <a:xfrm>
            <a:off x="777240" y="4892040"/>
            <a:ext cx="2286000" cy="457200"/>
          </a:xfrm>
          <a:prstGeom prst="rect">
            <a:avLst/>
          </a:prstGeom>
          <a:noFill/>
          <a:ln/>
        </p:spPr>
        <p:txBody>
          <a:bodyPr wrap="square" lIns="0" tIns="0" rIns="0" bIns="0" rtlCol="0" anchor="t"/>
          <a:lstStyle/>
          <a:p>
            <a:pPr marL="0" indent="0" algn="l">
              <a:buNone/>
            </a:pPr>
            <a:r>
              <a:rPr lang="en-US" sz="1200" b="1" dirty="0">
                <a:solidFill>
                  <a:srgbClr val="111111"/>
                </a:solidFill>
              </a:rPr>
              <a:t>Limited development time</a:t>
            </a:r>
            <a:endParaRPr lang="en-US" sz="1200" dirty="0"/>
          </a:p>
        </p:txBody>
      </p:sp>
      <p:sp>
        <p:nvSpPr>
          <p:cNvPr id="28" name="Mitigation 3"/>
          <p:cNvSpPr txBox="1"/>
          <p:nvPr/>
        </p:nvSpPr>
        <p:spPr>
          <a:xfrm>
            <a:off x="3246120" y="4892040"/>
            <a:ext cx="4114800" cy="457200"/>
          </a:xfrm>
          <a:prstGeom prst="rect">
            <a:avLst/>
          </a:prstGeom>
          <a:noFill/>
          <a:ln/>
        </p:spPr>
        <p:txBody>
          <a:bodyPr wrap="square" lIns="0" tIns="0" rIns="0" bIns="0" rtlCol="0" anchor="t"/>
          <a:lstStyle/>
          <a:p>
            <a:pPr marL="0" indent="0" algn="l">
              <a:buNone/>
            </a:pPr>
            <a:r>
              <a:rPr lang="en-US" sz="1200" dirty="0">
                <a:solidFill>
                  <a:srgbClr val="3A3A3A"/>
                </a:solidFill>
              </a:rPr>
              <a:t>Build the core trace, score and rank pipeline first; keep the interface simple.</a:t>
            </a:r>
            <a:endParaRPr lang="en-US" sz="1200" dirty="0"/>
          </a:p>
        </p:txBody>
      </p:sp>
      <p:sp>
        <p:nvSpPr>
          <p:cNvPr id="29" name="Challenge 4"/>
          <p:cNvSpPr txBox="1"/>
          <p:nvPr/>
        </p:nvSpPr>
        <p:spPr>
          <a:xfrm>
            <a:off x="777240" y="5394960"/>
            <a:ext cx="2286000" cy="457200"/>
          </a:xfrm>
          <a:prstGeom prst="rect">
            <a:avLst/>
          </a:prstGeom>
          <a:noFill/>
          <a:ln/>
        </p:spPr>
        <p:txBody>
          <a:bodyPr wrap="square" lIns="0" tIns="0" rIns="0" bIns="0" rtlCol="0" anchor="t"/>
          <a:lstStyle/>
          <a:p>
            <a:pPr marL="0" indent="0" algn="l">
              <a:buNone/>
            </a:pPr>
            <a:r>
              <a:rPr lang="en-US" sz="1200" b="1" dirty="0">
                <a:solidFill>
                  <a:srgbClr val="111111"/>
                </a:solidFill>
              </a:rPr>
              <a:t>Risk of a live demo failing</a:t>
            </a:r>
            <a:endParaRPr lang="en-US" sz="1200" dirty="0"/>
          </a:p>
        </p:txBody>
      </p:sp>
      <p:sp>
        <p:nvSpPr>
          <p:cNvPr id="30" name="Mitigation 4"/>
          <p:cNvSpPr txBox="1"/>
          <p:nvPr/>
        </p:nvSpPr>
        <p:spPr>
          <a:xfrm>
            <a:off x="3246120" y="5394960"/>
            <a:ext cx="4114800" cy="457200"/>
          </a:xfrm>
          <a:prstGeom prst="rect">
            <a:avLst/>
          </a:prstGeom>
          <a:noFill/>
          <a:ln/>
        </p:spPr>
        <p:txBody>
          <a:bodyPr wrap="square" lIns="0" tIns="0" rIns="0" bIns="0" rtlCol="0" anchor="t"/>
          <a:lstStyle/>
          <a:p>
            <a:pPr marL="0" indent="0" algn="l">
              <a:buNone/>
            </a:pPr>
            <a:r>
              <a:rPr lang="en-US" sz="1200" dirty="0">
                <a:solidFill>
                  <a:srgbClr val="3A3A3A"/>
                </a:solidFill>
              </a:rPr>
              <a:t>Fall back to a scripted synthetic case (Victim-001 to E889) with the same flow.</a:t>
            </a:r>
            <a:endParaRPr lang="en-US" sz="1200" dirty="0"/>
          </a:p>
        </p:txBody>
      </p:sp>
      <p:sp>
        <p:nvSpPr>
          <p:cNvPr id="31" name="Status card"/>
          <p:cNvSpPr/>
          <p:nvPr/>
        </p:nvSpPr>
        <p:spPr>
          <a:xfrm>
            <a:off x="7863840" y="3017520"/>
            <a:ext cx="3749040" cy="2926080"/>
          </a:xfrm>
          <a:prstGeom prst="roundRect">
            <a:avLst>
              <a:gd name="adj" fmla="val 4000"/>
            </a:avLst>
          </a:prstGeom>
          <a:solidFill>
            <a:srgbClr val="FFFFFF"/>
          </a:solidFill>
          <a:ln w="19050">
            <a:solidFill>
              <a:srgbClr val="A30D1D"/>
            </a:solidFill>
            <a:prstDash val="solid"/>
          </a:ln>
          <a:effectLst>
            <a:outerShdw blurRad="127000" dist="38100" dir="5400000" algn="bl" rotWithShape="0">
              <a:srgbClr val="000000">
                <a:alpha val="13000"/>
              </a:srgbClr>
            </a:outerShdw>
          </a:effectLst>
        </p:spPr>
      </p:sp>
      <p:sp>
        <p:nvSpPr>
          <p:cNvPr id="32" name="Status title"/>
          <p:cNvSpPr txBox="1"/>
          <p:nvPr/>
        </p:nvSpPr>
        <p:spPr>
          <a:xfrm>
            <a:off x="8092440" y="3200400"/>
            <a:ext cx="3291840" cy="320040"/>
          </a:xfrm>
          <a:prstGeom prst="rect">
            <a:avLst/>
          </a:prstGeom>
          <a:noFill/>
          <a:ln/>
        </p:spPr>
        <p:txBody>
          <a:bodyPr wrap="square" lIns="0" tIns="0" rIns="0" bIns="0" rtlCol="0" anchor="t"/>
          <a:lstStyle/>
          <a:p>
            <a:pPr marL="0" indent="0" algn="l">
              <a:buNone/>
            </a:pPr>
            <a:r>
              <a:rPr lang="en-US" sz="1800" b="1" dirty="0">
                <a:solidFill>
                  <a:srgbClr val="A30D1D"/>
                </a:solidFill>
              </a:rPr>
              <a:t>Prototype status</a:t>
            </a:r>
            <a:endParaRPr lang="en-US" sz="1800" dirty="0"/>
          </a:p>
        </p:txBody>
      </p:sp>
      <p:sp>
        <p:nvSpPr>
          <p:cNvPr id="33" name="Status list"/>
          <p:cNvSpPr txBox="1"/>
          <p:nvPr/>
        </p:nvSpPr>
        <p:spPr>
          <a:xfrm>
            <a:off x="8092440" y="3657600"/>
            <a:ext cx="3291840" cy="2103120"/>
          </a:xfrm>
          <a:prstGeom prst="rect">
            <a:avLst/>
          </a:prstGeom>
          <a:noFill/>
          <a:ln/>
        </p:spPr>
        <p:txBody>
          <a:bodyPr wrap="square" lIns="0" tIns="0" rIns="0" bIns="0" rtlCol="0" anchor="t"/>
          <a:lstStyle/>
          <a:p>
            <a:pPr marL="228600" indent="-228600" algn="l">
              <a:spcAft>
                <a:spcPts val="400"/>
              </a:spcAft>
              <a:buSzPct val="100000"/>
              <a:buChar char="•"/>
            </a:pPr>
            <a:r>
              <a:rPr lang="en-US" sz="1200" dirty="0">
                <a:solidFill>
                  <a:srgbClr val="3A3A3A"/>
                </a:solidFill>
              </a:rPr>
              <a:t>Built and shown on synthetic data</a:t>
            </a:r>
            <a:endParaRPr lang="en-US" sz="1200" dirty="0"/>
          </a:p>
          <a:p>
            <a:pPr marL="228600" indent="-228600" algn="l">
              <a:spcAft>
                <a:spcPts val="400"/>
              </a:spcAft>
              <a:buSzPct val="100000"/>
              <a:buChar char="•"/>
            </a:pPr>
            <a:r>
              <a:rPr lang="en-US" sz="1200" dirty="0">
                <a:solidFill>
                  <a:srgbClr val="3A3A3A"/>
                </a:solidFill>
              </a:rPr>
              <a:t>Tracing, risk scoring, next-hop ranking and community detection included</a:t>
            </a:r>
            <a:endParaRPr lang="en-US" sz="1200" dirty="0"/>
          </a:p>
          <a:p>
            <a:pPr marL="228600" indent="-228600" algn="l">
              <a:spcAft>
                <a:spcPts val="400"/>
              </a:spcAft>
              <a:buSzPct val="100000"/>
              <a:buChar char="•"/>
            </a:pPr>
            <a:r>
              <a:rPr lang="en-US" sz="1200" dirty="0">
                <a:solidFill>
                  <a:srgbClr val="3A3A3A"/>
                </a:solidFill>
              </a:rPr>
              <a:t>Investigator interface with a simulated freeze action</a:t>
            </a:r>
            <a:endParaRPr lang="en-US" sz="1200" dirty="0"/>
          </a:p>
          <a:p>
            <a:pPr marL="228600" indent="-228600" algn="l">
              <a:spcAft>
                <a:spcPts val="400"/>
              </a:spcAft>
              <a:buSzPct val="100000"/>
              <a:buChar char="•"/>
            </a:pPr>
            <a:r>
              <a:rPr lang="en-US" sz="1200" dirty="0">
                <a:solidFill>
                  <a:srgbClr val="3A3A3A"/>
                </a:solidFill>
              </a:rPr>
              <a:t>Not connected to live banking systems</a:t>
            </a:r>
            <a:endParaRPr lang="en-US" sz="1200" dirty="0"/>
          </a:p>
        </p:txBody>
      </p:sp>
      <p:sp>
        <p:nvSpPr>
          <p:cNvPr id="34" name="Plan note"/>
          <p:cNvSpPr txBox="1"/>
          <p:nvPr/>
        </p:nvSpPr>
        <p:spPr>
          <a:xfrm>
            <a:off x="548640" y="6035040"/>
            <a:ext cx="11064240" cy="228600"/>
          </a:xfrm>
          <a:prstGeom prst="rect">
            <a:avLst/>
          </a:prstGeom>
          <a:noFill/>
          <a:ln/>
        </p:spPr>
        <p:txBody>
          <a:bodyPr wrap="square" lIns="0" tIns="0" rIns="0" bIns="0" rtlCol="0" anchor="ctr"/>
          <a:lstStyle/>
          <a:p>
            <a:pPr marL="0" indent="0" algn="l">
              <a:buNone/>
            </a:pPr>
            <a:r>
              <a:rPr lang="en-US" sz="1100" i="1" dirty="0">
                <a:solidFill>
                  <a:srgbClr val="B45309"/>
                </a:solidFill>
              </a:rPr>
              <a:t>TO CONFIRM (remove once checked): hour ranges are an illustrative plan; adjust them to your actual timeline.</a:t>
            </a:r>
            <a:endParaRPr lang="en-US" sz="11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6B6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Future Scope and </a:t>
            </a:r>
            <a:r>
              <a:rPr lang="en-US" sz="3600" b="1" dirty="0">
                <a:solidFill>
                  <a:srgbClr val="A30D1D"/>
                </a:solidFill>
                <a:latin typeface="Arial" pitchFamily="34" charset="0"/>
                <a:ea typeface="Arial" pitchFamily="34" charset="-122"/>
                <a:cs typeface="Arial" pitchFamily="34" charset="-120"/>
              </a:rPr>
              <a:t>Expansion</a:t>
            </a:r>
            <a:endParaRPr lang="en-US" sz="3600" dirty="0"/>
          </a:p>
        </p:txBody>
      </p:sp>
      <p:sp>
        <p:nvSpPr>
          <p:cNvPr id="3" name="Column card 1"/>
          <p:cNvSpPr/>
          <p:nvPr/>
        </p:nvSpPr>
        <p:spPr>
          <a:xfrm>
            <a:off x="548640" y="1371600"/>
            <a:ext cx="2560320" cy="4023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4" name="Icon circle Future features"/>
          <p:cNvSpPr/>
          <p:nvPr/>
        </p:nvSpPr>
        <p:spPr>
          <a:xfrm>
            <a:off x="777240" y="1554480"/>
            <a:ext cx="457200" cy="457200"/>
          </a:xfrm>
          <a:prstGeom prst="ellipse">
            <a:avLst/>
          </a:prstGeom>
          <a:solidFill>
            <a:srgbClr val="A30D1D"/>
          </a:solidFill>
          <a:ln w="12700">
            <a:solidFill>
              <a:srgbClr val="A30D1D"/>
            </a:solidFill>
            <a:prstDash val="solid"/>
          </a:ln>
        </p:spPr>
      </p:sp>
      <p:pic>
        <p:nvPicPr>
          <p:cNvPr id="5" name="Icon Future features" descr="Future features"/>
          <p:cNvPicPr>
            <a:picLocks noChangeAspect="1"/>
          </p:cNvPicPr>
          <p:nvPr/>
        </p:nvPicPr>
        <p:blipFill>
          <a:blip r:embed="rId3"/>
          <a:stretch>
            <a:fillRect/>
          </a:stretch>
        </p:blipFill>
        <p:spPr>
          <a:xfrm>
            <a:off x="891540" y="1668780"/>
            <a:ext cx="228600" cy="228600"/>
          </a:xfrm>
          <a:prstGeom prst="rect">
            <a:avLst/>
          </a:prstGeom>
        </p:spPr>
      </p:pic>
      <p:sp>
        <p:nvSpPr>
          <p:cNvPr id="6" name="Column title 1"/>
          <p:cNvSpPr txBox="1"/>
          <p:nvPr/>
        </p:nvSpPr>
        <p:spPr>
          <a:xfrm>
            <a:off x="777240" y="2148840"/>
            <a:ext cx="2103120" cy="640080"/>
          </a:xfrm>
          <a:prstGeom prst="rect">
            <a:avLst/>
          </a:prstGeom>
          <a:noFill/>
          <a:ln/>
        </p:spPr>
        <p:txBody>
          <a:bodyPr wrap="square" lIns="0" tIns="0" rIns="0" bIns="0" rtlCol="0" anchor="t"/>
          <a:lstStyle/>
          <a:p>
            <a:pPr marL="0" indent="0" algn="l">
              <a:buNone/>
            </a:pPr>
            <a:r>
              <a:rPr lang="en-US" sz="1800" b="1" dirty="0">
                <a:solidFill>
                  <a:srgbClr val="A30D1D"/>
                </a:solidFill>
              </a:rPr>
              <a:t>Future features</a:t>
            </a:r>
            <a:endParaRPr lang="en-US" sz="1800" dirty="0"/>
          </a:p>
        </p:txBody>
      </p:sp>
      <p:sp>
        <p:nvSpPr>
          <p:cNvPr id="7" name="Column list 1"/>
          <p:cNvSpPr txBox="1"/>
          <p:nvPr/>
        </p:nvSpPr>
        <p:spPr>
          <a:xfrm>
            <a:off x="777240" y="2834640"/>
            <a:ext cx="2103120" cy="2423160"/>
          </a:xfrm>
          <a:prstGeom prst="rect">
            <a:avLst/>
          </a:prstGeom>
          <a:noFill/>
          <a:ln/>
        </p:spPr>
        <p:txBody>
          <a:bodyPr wrap="square" lIns="0" tIns="0" rIns="0" bIns="0" rtlCol="0" anchor="t"/>
          <a:lstStyle/>
          <a:p>
            <a:pPr marL="228600" indent="-228600">
              <a:spcAft>
                <a:spcPts val="600"/>
              </a:spcAft>
              <a:buSzPct val="100000"/>
              <a:buChar char="•"/>
            </a:pPr>
            <a:r>
              <a:rPr lang="en-US" sz="1200" dirty="0">
                <a:solidFill>
                  <a:srgbClr val="3A3A3A"/>
                </a:solidFill>
              </a:rPr>
              <a:t>Investigator feedback on risk scores and next-hop suggestions</a:t>
            </a:r>
            <a:endParaRPr lang="en-US" sz="1200" dirty="0"/>
          </a:p>
          <a:p>
            <a:pPr marL="228600" indent="-228600">
              <a:spcAft>
                <a:spcPts val="600"/>
              </a:spcAft>
              <a:buSzPct val="100000"/>
              <a:buChar char="•"/>
            </a:pPr>
            <a:r>
              <a:rPr lang="en-US" sz="1200" dirty="0">
                <a:solidFill>
                  <a:srgbClr val="3A3A3A"/>
                </a:solidFill>
              </a:rPr>
              <a:t>Stronger auditability and case management</a:t>
            </a:r>
            <a:endParaRPr lang="en-US" sz="1200" dirty="0"/>
          </a:p>
          <a:p>
            <a:pPr marL="228600" indent="-228600">
              <a:spcAft>
                <a:spcPts val="600"/>
              </a:spcAft>
              <a:buSzPct val="100000"/>
              <a:buChar char="•"/>
            </a:pPr>
            <a:r>
              <a:rPr lang="en-US" sz="1200" dirty="0">
                <a:solidFill>
                  <a:srgbClr val="3A3A3A"/>
                </a:solidFill>
              </a:rPr>
              <a:t>Earlier alerts while a trail is still moving</a:t>
            </a:r>
            <a:endParaRPr lang="en-US" sz="1200" dirty="0"/>
          </a:p>
        </p:txBody>
      </p:sp>
      <p:sp>
        <p:nvSpPr>
          <p:cNvPr id="8" name="Column card 2"/>
          <p:cNvSpPr/>
          <p:nvPr/>
        </p:nvSpPr>
        <p:spPr>
          <a:xfrm>
            <a:off x="3383280" y="1371600"/>
            <a:ext cx="2560320" cy="4023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9" name="Icon circle AI and integrations"/>
          <p:cNvSpPr/>
          <p:nvPr/>
        </p:nvSpPr>
        <p:spPr>
          <a:xfrm>
            <a:off x="3611880" y="1554480"/>
            <a:ext cx="457200" cy="457200"/>
          </a:xfrm>
          <a:prstGeom prst="ellipse">
            <a:avLst/>
          </a:prstGeom>
          <a:solidFill>
            <a:srgbClr val="A30D1D"/>
          </a:solidFill>
          <a:ln w="12700">
            <a:solidFill>
              <a:srgbClr val="A30D1D"/>
            </a:solidFill>
            <a:prstDash val="solid"/>
          </a:ln>
        </p:spPr>
      </p:sp>
      <p:pic>
        <p:nvPicPr>
          <p:cNvPr id="10" name="Icon AI and integrations" descr="AI and integrations"/>
          <p:cNvPicPr>
            <a:picLocks noChangeAspect="1"/>
          </p:cNvPicPr>
          <p:nvPr/>
        </p:nvPicPr>
        <p:blipFill>
          <a:blip r:embed="rId4"/>
          <a:stretch>
            <a:fillRect/>
          </a:stretch>
        </p:blipFill>
        <p:spPr>
          <a:xfrm>
            <a:off x="3726180" y="1668780"/>
            <a:ext cx="228600" cy="228600"/>
          </a:xfrm>
          <a:prstGeom prst="rect">
            <a:avLst/>
          </a:prstGeom>
        </p:spPr>
      </p:pic>
      <p:sp>
        <p:nvSpPr>
          <p:cNvPr id="11" name="Column title 2"/>
          <p:cNvSpPr txBox="1"/>
          <p:nvPr/>
        </p:nvSpPr>
        <p:spPr>
          <a:xfrm>
            <a:off x="3611880" y="2148840"/>
            <a:ext cx="2103120" cy="640080"/>
          </a:xfrm>
          <a:prstGeom prst="rect">
            <a:avLst/>
          </a:prstGeom>
          <a:noFill/>
          <a:ln/>
        </p:spPr>
        <p:txBody>
          <a:bodyPr wrap="square" lIns="0" tIns="0" rIns="0" bIns="0" rtlCol="0" anchor="t"/>
          <a:lstStyle/>
          <a:p>
            <a:pPr marL="0" indent="0" algn="l">
              <a:buNone/>
            </a:pPr>
            <a:r>
              <a:rPr lang="en-US" sz="1800" b="1" dirty="0">
                <a:solidFill>
                  <a:srgbClr val="A30D1D"/>
                </a:solidFill>
              </a:rPr>
              <a:t>AI and integrations</a:t>
            </a:r>
            <a:endParaRPr lang="en-US" sz="1800" dirty="0"/>
          </a:p>
        </p:txBody>
      </p:sp>
      <p:sp>
        <p:nvSpPr>
          <p:cNvPr id="12" name="Column list 2"/>
          <p:cNvSpPr txBox="1"/>
          <p:nvPr/>
        </p:nvSpPr>
        <p:spPr>
          <a:xfrm>
            <a:off x="3611880" y="2834640"/>
            <a:ext cx="2103120" cy="2423160"/>
          </a:xfrm>
          <a:prstGeom prst="rect">
            <a:avLst/>
          </a:prstGeom>
          <a:noFill/>
          <a:ln/>
        </p:spPr>
        <p:txBody>
          <a:bodyPr wrap="square" lIns="0" tIns="0" rIns="0" bIns="0" rtlCol="0" anchor="t"/>
          <a:lstStyle/>
          <a:p>
            <a:pPr marL="228600" indent="-228600">
              <a:spcAft>
                <a:spcPts val="600"/>
              </a:spcAft>
              <a:buSzPct val="100000"/>
              <a:buChar char="•"/>
            </a:pPr>
            <a:r>
              <a:rPr lang="en-US" sz="1200" dirty="0">
                <a:solidFill>
                  <a:srgbClr val="3A3A3A"/>
                </a:solidFill>
              </a:rPr>
              <a:t>Explainable risk indicators that show why an account is flagged</a:t>
            </a:r>
            <a:endParaRPr lang="en-US" sz="1200" dirty="0"/>
          </a:p>
          <a:p>
            <a:pPr marL="228600" indent="-228600">
              <a:spcAft>
                <a:spcPts val="600"/>
              </a:spcAft>
              <a:buSzPct val="100000"/>
              <a:buChar char="•"/>
            </a:pPr>
            <a:r>
              <a:rPr lang="en-US" sz="1200" dirty="0">
                <a:solidFill>
                  <a:srgbClr val="3A3A3A"/>
                </a:solidFill>
              </a:rPr>
              <a:t>Test and tune the models on authorised real-world data</a:t>
            </a:r>
            <a:endParaRPr lang="en-US" sz="1200" dirty="0"/>
          </a:p>
          <a:p>
            <a:pPr marL="228600" indent="-228600">
              <a:spcAft>
                <a:spcPts val="600"/>
              </a:spcAft>
              <a:buSzPct val="100000"/>
              <a:buChar char="•"/>
            </a:pPr>
            <a:r>
              <a:rPr lang="en-US" sz="1200" dirty="0">
                <a:solidFill>
                  <a:srgbClr val="3A3A3A"/>
                </a:solidFill>
              </a:rPr>
              <a:t>Secure links to authorised financial systems, where permitted</a:t>
            </a:r>
            <a:endParaRPr lang="en-US" sz="1200" dirty="0"/>
          </a:p>
        </p:txBody>
      </p:sp>
      <p:sp>
        <p:nvSpPr>
          <p:cNvPr id="13" name="Column card 3"/>
          <p:cNvSpPr/>
          <p:nvPr/>
        </p:nvSpPr>
        <p:spPr>
          <a:xfrm>
            <a:off x="6217920" y="1371600"/>
            <a:ext cx="2560320" cy="4023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4" name="Icon circle Languages, users, locations"/>
          <p:cNvSpPr/>
          <p:nvPr/>
        </p:nvSpPr>
        <p:spPr>
          <a:xfrm>
            <a:off x="6446520" y="1554480"/>
            <a:ext cx="457200" cy="457200"/>
          </a:xfrm>
          <a:prstGeom prst="ellipse">
            <a:avLst/>
          </a:prstGeom>
          <a:solidFill>
            <a:srgbClr val="A30D1D"/>
          </a:solidFill>
          <a:ln w="12700">
            <a:solidFill>
              <a:srgbClr val="A30D1D"/>
            </a:solidFill>
            <a:prstDash val="solid"/>
          </a:ln>
        </p:spPr>
      </p:sp>
      <p:pic>
        <p:nvPicPr>
          <p:cNvPr id="15" name="Icon Languages, users, locations" descr="Languages, users, locations"/>
          <p:cNvPicPr>
            <a:picLocks noChangeAspect="1"/>
          </p:cNvPicPr>
          <p:nvPr/>
        </p:nvPicPr>
        <p:blipFill>
          <a:blip r:embed="rId5"/>
          <a:stretch>
            <a:fillRect/>
          </a:stretch>
        </p:blipFill>
        <p:spPr>
          <a:xfrm>
            <a:off x="6560820" y="1668780"/>
            <a:ext cx="228600" cy="228600"/>
          </a:xfrm>
          <a:prstGeom prst="rect">
            <a:avLst/>
          </a:prstGeom>
        </p:spPr>
      </p:pic>
      <p:sp>
        <p:nvSpPr>
          <p:cNvPr id="16" name="Column title 3"/>
          <p:cNvSpPr txBox="1"/>
          <p:nvPr/>
        </p:nvSpPr>
        <p:spPr>
          <a:xfrm>
            <a:off x="6446520" y="2148840"/>
            <a:ext cx="2103120" cy="640080"/>
          </a:xfrm>
          <a:prstGeom prst="rect">
            <a:avLst/>
          </a:prstGeom>
          <a:noFill/>
          <a:ln/>
        </p:spPr>
        <p:txBody>
          <a:bodyPr wrap="square" lIns="0" tIns="0" rIns="0" bIns="0" rtlCol="0" anchor="t"/>
          <a:lstStyle/>
          <a:p>
            <a:pPr marL="0" indent="0" algn="l">
              <a:buNone/>
            </a:pPr>
            <a:r>
              <a:rPr lang="en-US" sz="1800" b="1" dirty="0">
                <a:solidFill>
                  <a:srgbClr val="A30D1D"/>
                </a:solidFill>
              </a:rPr>
              <a:t>Languages, users, locations</a:t>
            </a:r>
            <a:endParaRPr lang="en-US" sz="1800" dirty="0"/>
          </a:p>
        </p:txBody>
      </p:sp>
      <p:sp>
        <p:nvSpPr>
          <p:cNvPr id="17" name="Column list 3"/>
          <p:cNvSpPr txBox="1"/>
          <p:nvPr/>
        </p:nvSpPr>
        <p:spPr>
          <a:xfrm>
            <a:off x="6446520" y="2834640"/>
            <a:ext cx="2103120" cy="2423160"/>
          </a:xfrm>
          <a:prstGeom prst="rect">
            <a:avLst/>
          </a:prstGeom>
          <a:noFill/>
          <a:ln/>
        </p:spPr>
        <p:txBody>
          <a:bodyPr wrap="square" lIns="0" tIns="0" rIns="0" bIns="0" rtlCol="0" anchor="t"/>
          <a:lstStyle/>
          <a:p>
            <a:pPr marL="228600" indent="-228600">
              <a:spcAft>
                <a:spcPts val="600"/>
              </a:spcAft>
              <a:buSzPct val="100000"/>
              <a:buChar char="•"/>
            </a:pPr>
            <a:r>
              <a:rPr lang="en-US" sz="1200" dirty="0">
                <a:solidFill>
                  <a:srgbClr val="3A3A3A"/>
                </a:solidFill>
              </a:rPr>
              <a:t>Investigator interface in more languages</a:t>
            </a:r>
            <a:endParaRPr lang="en-US" sz="1200" dirty="0"/>
          </a:p>
          <a:p>
            <a:pPr marL="228600" indent="-228600">
              <a:spcAft>
                <a:spcPts val="600"/>
              </a:spcAft>
              <a:buSzPct val="100000"/>
              <a:buChar char="•"/>
            </a:pPr>
            <a:r>
              <a:rPr lang="en-US" sz="1200" dirty="0">
                <a:solidFill>
                  <a:srgbClr val="3A3A3A"/>
                </a:solidFill>
              </a:rPr>
              <a:t>More users: banks, police and other coordinating agencies</a:t>
            </a:r>
            <a:endParaRPr lang="en-US" sz="1200" dirty="0"/>
          </a:p>
          <a:p>
            <a:pPr marL="228600" indent="-228600">
              <a:spcAft>
                <a:spcPts val="600"/>
              </a:spcAft>
              <a:buSzPct val="100000"/>
              <a:buChar char="•"/>
            </a:pPr>
            <a:r>
              <a:rPr lang="en-US" sz="1200" dirty="0">
                <a:solidFill>
                  <a:srgbClr val="3A3A3A"/>
                </a:solidFill>
              </a:rPr>
              <a:t>More cities and states</a:t>
            </a:r>
            <a:endParaRPr lang="en-US" sz="1200" dirty="0"/>
          </a:p>
        </p:txBody>
      </p:sp>
      <p:sp>
        <p:nvSpPr>
          <p:cNvPr id="18" name="Column card 4"/>
          <p:cNvSpPr/>
          <p:nvPr/>
        </p:nvSpPr>
        <p:spPr>
          <a:xfrm>
            <a:off x="9052560" y="1371600"/>
            <a:ext cx="2560320" cy="402336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9" name="Icon circle Long-term deployment"/>
          <p:cNvSpPr/>
          <p:nvPr/>
        </p:nvSpPr>
        <p:spPr>
          <a:xfrm>
            <a:off x="9281160" y="1554480"/>
            <a:ext cx="457200" cy="457200"/>
          </a:xfrm>
          <a:prstGeom prst="ellipse">
            <a:avLst/>
          </a:prstGeom>
          <a:solidFill>
            <a:srgbClr val="A30D1D"/>
          </a:solidFill>
          <a:ln w="12700">
            <a:solidFill>
              <a:srgbClr val="A30D1D"/>
            </a:solidFill>
            <a:prstDash val="solid"/>
          </a:ln>
        </p:spPr>
      </p:sp>
      <p:pic>
        <p:nvPicPr>
          <p:cNvPr id="20" name="Icon Long-term deployment" descr="Long-term deployment"/>
          <p:cNvPicPr>
            <a:picLocks noChangeAspect="1"/>
          </p:cNvPicPr>
          <p:nvPr/>
        </p:nvPicPr>
        <p:blipFill>
          <a:blip r:embed="rId6"/>
          <a:stretch>
            <a:fillRect/>
          </a:stretch>
        </p:blipFill>
        <p:spPr>
          <a:xfrm>
            <a:off x="9395460" y="1668780"/>
            <a:ext cx="228600" cy="228600"/>
          </a:xfrm>
          <a:prstGeom prst="rect">
            <a:avLst/>
          </a:prstGeom>
        </p:spPr>
      </p:pic>
      <p:sp>
        <p:nvSpPr>
          <p:cNvPr id="21" name="Column title 4"/>
          <p:cNvSpPr txBox="1"/>
          <p:nvPr/>
        </p:nvSpPr>
        <p:spPr>
          <a:xfrm>
            <a:off x="9281160" y="2148840"/>
            <a:ext cx="2103120" cy="640080"/>
          </a:xfrm>
          <a:prstGeom prst="rect">
            <a:avLst/>
          </a:prstGeom>
          <a:noFill/>
          <a:ln/>
        </p:spPr>
        <p:txBody>
          <a:bodyPr wrap="square" lIns="0" tIns="0" rIns="0" bIns="0" rtlCol="0" anchor="t"/>
          <a:lstStyle/>
          <a:p>
            <a:pPr marL="0" indent="0" algn="l">
              <a:buNone/>
            </a:pPr>
            <a:r>
              <a:rPr lang="en-US" sz="1800" b="1" dirty="0">
                <a:solidFill>
                  <a:srgbClr val="A30D1D"/>
                </a:solidFill>
              </a:rPr>
              <a:t>Long-term deployment</a:t>
            </a:r>
            <a:endParaRPr lang="en-US" sz="1800" dirty="0"/>
          </a:p>
        </p:txBody>
      </p:sp>
      <p:sp>
        <p:nvSpPr>
          <p:cNvPr id="22" name="Column list 4"/>
          <p:cNvSpPr txBox="1"/>
          <p:nvPr/>
        </p:nvSpPr>
        <p:spPr>
          <a:xfrm>
            <a:off x="9281160" y="2834640"/>
            <a:ext cx="2103120" cy="2423160"/>
          </a:xfrm>
          <a:prstGeom prst="rect">
            <a:avLst/>
          </a:prstGeom>
          <a:noFill/>
          <a:ln/>
        </p:spPr>
        <p:txBody>
          <a:bodyPr wrap="square" lIns="0" tIns="0" rIns="0" bIns="0" rtlCol="0" anchor="t"/>
          <a:lstStyle/>
          <a:p>
            <a:pPr marL="228600" indent="-228600">
              <a:spcAft>
                <a:spcPts val="600"/>
              </a:spcAft>
              <a:buSzPct val="100000"/>
              <a:buChar char="•"/>
            </a:pPr>
            <a:r>
              <a:rPr lang="en-US" sz="1200" dirty="0">
                <a:solidFill>
                  <a:srgbClr val="3A3A3A"/>
                </a:solidFill>
              </a:rPr>
              <a:t>Independent validation before any real-world use</a:t>
            </a:r>
            <a:endParaRPr lang="en-US" sz="1200" dirty="0"/>
          </a:p>
          <a:p>
            <a:pPr marL="228600" indent="-228600">
              <a:spcAft>
                <a:spcPts val="600"/>
              </a:spcAft>
              <a:buSzPct val="100000"/>
              <a:buChar char="•"/>
            </a:pPr>
            <a:r>
              <a:rPr lang="en-US" sz="1200" dirty="0">
                <a:solidFill>
                  <a:srgbClr val="3A3A3A"/>
                </a:solidFill>
              </a:rPr>
              <a:t>Access controls and data protection for investigation data</a:t>
            </a:r>
            <a:endParaRPr lang="en-US" sz="1200" dirty="0"/>
          </a:p>
          <a:p>
            <a:pPr marL="228600" indent="-228600">
              <a:spcAft>
                <a:spcPts val="600"/>
              </a:spcAft>
              <a:buSzPct val="100000"/>
              <a:buChar char="•"/>
            </a:pPr>
            <a:r>
              <a:rPr lang="en-US" sz="1200" dirty="0">
                <a:solidFill>
                  <a:srgbClr val="3A3A3A"/>
                </a:solidFill>
              </a:rPr>
              <a:t>Replace the simulated freeze with an authorised, bank-approved process</a:t>
            </a:r>
            <a:endParaRPr lang="en-US" sz="1200" dirty="0"/>
          </a:p>
        </p:txBody>
      </p:sp>
      <p:sp>
        <p:nvSpPr>
          <p:cNvPr id="23" name="Closing banner"/>
          <p:cNvSpPr/>
          <p:nvPr/>
        </p:nvSpPr>
        <p:spPr>
          <a:xfrm>
            <a:off x="548640" y="5532120"/>
            <a:ext cx="11064240" cy="457200"/>
          </a:xfrm>
          <a:prstGeom prst="roundRect">
            <a:avLst>
              <a:gd name="adj" fmla="val 20000"/>
            </a:avLst>
          </a:prstGeom>
          <a:solidFill>
            <a:srgbClr val="A30D1D"/>
          </a:solidFill>
          <a:ln w="12700">
            <a:solidFill>
              <a:srgbClr val="A30D1D"/>
            </a:solidFill>
            <a:prstDash val="solid"/>
          </a:ln>
          <a:effectLst>
            <a:outerShdw blurRad="127000" dist="38100" dir="5400000" algn="bl" rotWithShape="0">
              <a:srgbClr val="000000">
                <a:alpha val="13000"/>
              </a:srgbClr>
            </a:outerShdw>
          </a:effectLst>
        </p:spPr>
      </p:sp>
      <p:sp>
        <p:nvSpPr>
          <p:cNvPr id="24" name="Closing banner text"/>
          <p:cNvSpPr txBox="1"/>
          <p:nvPr/>
        </p:nvSpPr>
        <p:spPr>
          <a:xfrm>
            <a:off x="777240" y="5532120"/>
            <a:ext cx="10607040" cy="457200"/>
          </a:xfrm>
          <a:prstGeom prst="rect">
            <a:avLst/>
          </a:prstGeom>
          <a:noFill/>
          <a:ln/>
        </p:spPr>
        <p:txBody>
          <a:bodyPr wrap="square" lIns="0" tIns="0" rIns="0" bIns="0" rtlCol="0" anchor="ctr"/>
          <a:lstStyle/>
          <a:p>
            <a:pPr marL="0" indent="0" algn="ctr">
              <a:buNone/>
            </a:pPr>
            <a:r>
              <a:rPr lang="en-US" sz="1600" b="1" dirty="0">
                <a:solidFill>
                  <a:srgbClr val="FFFFFF"/>
                </a:solidFill>
              </a:rPr>
              <a:t>Next step: validate on authorised data before any real-world use.</a:t>
            </a:r>
            <a:endParaRPr lang="en-US" sz="1600" dirty="0"/>
          </a:p>
        </p:txBody>
      </p:sp>
      <p:sp>
        <p:nvSpPr>
          <p:cNvPr id="25" name="To confirm note"/>
          <p:cNvSpPr txBox="1"/>
          <p:nvPr/>
        </p:nvSpPr>
        <p:spPr>
          <a:xfrm>
            <a:off x="548640" y="6035040"/>
            <a:ext cx="11064240" cy="228600"/>
          </a:xfrm>
          <a:prstGeom prst="rect">
            <a:avLst/>
          </a:prstGeom>
          <a:noFill/>
          <a:ln/>
        </p:spPr>
        <p:txBody>
          <a:bodyPr wrap="square" lIns="0" tIns="0" rIns="0" bIns="0" rtlCol="0" anchor="ctr"/>
          <a:lstStyle/>
          <a:p>
            <a:pPr marL="0" indent="0" algn="l">
              <a:buNone/>
            </a:pPr>
            <a:r>
              <a:rPr lang="en-US" sz="1100" i="1" dirty="0">
                <a:solidFill>
                  <a:srgbClr val="B45309"/>
                </a:solidFill>
              </a:rPr>
              <a:t>TO CONFIRM (remove once checked): these are proposed directions, not commitments; keep only what you plan, and add hosting, language and location plans.</a:t>
            </a:r>
            <a:endParaRPr lang="en-US" sz="1100" dirty="0"/>
          </a:p>
        </p:txBody>
      </p:sp>
      <p:sp>
        <p:nvSpPr>
          <p:cNvPr id="26" name="Slide Number Placeholder 0"/>
          <p:cNvSpPr>
            <a:spLocks noGrp="1"/>
          </p:cNvSpPr>
          <p:nvPr>
            <p:ph type="sldNum" sz="quarter" idx="4294967295"/>
          </p:nvPr>
        </p:nvSpPr>
        <p:spPr>
          <a:xfrm>
            <a:off x="11155680" y="6400800"/>
            <a:ext cx="457200" cy="274320"/>
          </a:xfrm>
          <a:prstGeom prst="rect">
            <a:avLst/>
          </a:prstGeom>
        </p:spPr>
        <p:txBody>
          <a:bodyPr/>
          <a:lstStyle>
            <a:lvl1pPr>
              <a:defRPr sz="1100">
                <a:solidFill>
                  <a:srgbClr val="6B6B6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rgbClr val="111111"/>
                </a:solidFill>
                <a:latin typeface="Arial" pitchFamily="34" charset="0"/>
                <a:ea typeface="Arial" pitchFamily="34" charset="-122"/>
                <a:cs typeface="Arial" pitchFamily="34" charset="-120"/>
              </a:rPr>
              <a:t>Conclusion: </a:t>
            </a:r>
            <a:r>
              <a:rPr lang="en-US" sz="3600" b="1" dirty="0">
                <a:solidFill>
                  <a:srgbClr val="A30D1D"/>
                </a:solidFill>
                <a:latin typeface="Arial" pitchFamily="34" charset="0"/>
                <a:ea typeface="Arial" pitchFamily="34" charset="-122"/>
                <a:cs typeface="Arial" pitchFamily="34" charset="-120"/>
              </a:rPr>
              <a:t>Follow the Money</a:t>
            </a:r>
            <a:endParaRPr lang="en-US" sz="3600" dirty="0"/>
          </a:p>
        </p:txBody>
      </p:sp>
      <p:sp>
        <p:nvSpPr>
          <p:cNvPr id="3" name="Takeaway banner"/>
          <p:cNvSpPr/>
          <p:nvPr/>
        </p:nvSpPr>
        <p:spPr>
          <a:xfrm>
            <a:off x="548640" y="1371600"/>
            <a:ext cx="11064240" cy="1143000"/>
          </a:xfrm>
          <a:prstGeom prst="roundRect">
            <a:avLst>
              <a:gd name="adj" fmla="val 8000"/>
            </a:avLst>
          </a:prstGeom>
          <a:solidFill>
            <a:srgbClr val="A30D1D"/>
          </a:solidFill>
          <a:ln w="12700">
            <a:solidFill>
              <a:srgbClr val="A30D1D"/>
            </a:solidFill>
            <a:prstDash val="solid"/>
          </a:ln>
          <a:effectLst>
            <a:outerShdw blurRad="127000" dist="38100" dir="5400000" algn="bl" rotWithShape="0">
              <a:srgbClr val="000000">
                <a:alpha val="13000"/>
              </a:srgbClr>
            </a:outerShdw>
          </a:effectLst>
        </p:spPr>
      </p:sp>
      <p:sp>
        <p:nvSpPr>
          <p:cNvPr id="4" name="Takeaway label"/>
          <p:cNvSpPr txBox="1"/>
          <p:nvPr/>
        </p:nvSpPr>
        <p:spPr>
          <a:xfrm>
            <a:off x="777240" y="1508760"/>
            <a:ext cx="10607040" cy="228600"/>
          </a:xfrm>
          <a:prstGeom prst="rect">
            <a:avLst/>
          </a:prstGeom>
          <a:noFill/>
          <a:ln/>
        </p:spPr>
        <p:txBody>
          <a:bodyPr wrap="square" lIns="0" tIns="0" rIns="0" bIns="0" rtlCol="0" anchor="ctr"/>
          <a:lstStyle/>
          <a:p>
            <a:pPr marL="0" indent="0" algn="l">
              <a:buNone/>
            </a:pPr>
            <a:r>
              <a:rPr lang="en-US" sz="1200" b="1" dirty="0">
                <a:solidFill>
                  <a:srgbClr val="FFFFFF"/>
                </a:solidFill>
              </a:rPr>
              <a:t>KEY TAKEAWAY</a:t>
            </a:r>
            <a:endParaRPr lang="en-US" sz="1200" dirty="0"/>
          </a:p>
        </p:txBody>
      </p:sp>
      <p:sp>
        <p:nvSpPr>
          <p:cNvPr id="5" name="Takeaway statement"/>
          <p:cNvSpPr txBox="1"/>
          <p:nvPr/>
        </p:nvSpPr>
        <p:spPr>
          <a:xfrm>
            <a:off x="777240" y="1783080"/>
            <a:ext cx="10607040" cy="594360"/>
          </a:xfrm>
          <a:prstGeom prst="rect">
            <a:avLst/>
          </a:prstGeom>
          <a:noFill/>
          <a:ln/>
        </p:spPr>
        <p:txBody>
          <a:bodyPr wrap="square" lIns="0" tIns="0" rIns="0" bIns="0" rtlCol="0" anchor="t"/>
          <a:lstStyle/>
          <a:p>
            <a:pPr marL="0" indent="0" algn="l">
              <a:buNone/>
            </a:pPr>
            <a:r>
              <a:rPr lang="en-US" sz="1800" b="1" dirty="0">
                <a:solidFill>
                  <a:srgbClr val="FFFFFF"/>
                </a:solidFill>
              </a:rPr>
              <a:t>Money Trail Hunter follows a reported scam payment through the account network and ranks the likely next hop, so investigators check the most likely account first.</a:t>
            </a:r>
            <a:endParaRPr lang="en-US" sz="1800" dirty="0"/>
          </a:p>
        </p:txBody>
      </p:sp>
      <p:sp>
        <p:nvSpPr>
          <p:cNvPr id="6" name="Benefit card 1"/>
          <p:cNvSpPr/>
          <p:nvPr/>
        </p:nvSpPr>
        <p:spPr>
          <a:xfrm>
            <a:off x="548640" y="2697480"/>
            <a:ext cx="3505200" cy="19202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7" name="Icon circle Follows the whole chain"/>
          <p:cNvSpPr/>
          <p:nvPr/>
        </p:nvSpPr>
        <p:spPr>
          <a:xfrm>
            <a:off x="777240" y="2880360"/>
            <a:ext cx="548640" cy="548640"/>
          </a:xfrm>
          <a:prstGeom prst="ellipse">
            <a:avLst/>
          </a:prstGeom>
          <a:solidFill>
            <a:srgbClr val="A30D1D"/>
          </a:solidFill>
          <a:ln w="12700">
            <a:solidFill>
              <a:srgbClr val="A30D1D"/>
            </a:solidFill>
            <a:prstDash val="solid"/>
          </a:ln>
        </p:spPr>
      </p:sp>
      <p:pic>
        <p:nvPicPr>
          <p:cNvPr id="8" name="Icon Follows the whole chain" descr="Follows the whole chain"/>
          <p:cNvPicPr>
            <a:picLocks noChangeAspect="1"/>
          </p:cNvPicPr>
          <p:nvPr/>
        </p:nvPicPr>
        <p:blipFill>
          <a:blip r:embed="rId3"/>
          <a:stretch>
            <a:fillRect/>
          </a:stretch>
        </p:blipFill>
        <p:spPr>
          <a:xfrm>
            <a:off x="914400" y="3017520"/>
            <a:ext cx="274320" cy="274320"/>
          </a:xfrm>
          <a:prstGeom prst="rect">
            <a:avLst/>
          </a:prstGeom>
        </p:spPr>
      </p:pic>
      <p:sp>
        <p:nvSpPr>
          <p:cNvPr id="9" name="Benefit title 1"/>
          <p:cNvSpPr txBox="1"/>
          <p:nvPr/>
        </p:nvSpPr>
        <p:spPr>
          <a:xfrm>
            <a:off x="1463040" y="2880360"/>
            <a:ext cx="2362200" cy="548640"/>
          </a:xfrm>
          <a:prstGeom prst="rect">
            <a:avLst/>
          </a:prstGeom>
          <a:noFill/>
          <a:ln/>
        </p:spPr>
        <p:txBody>
          <a:bodyPr wrap="square" lIns="0" tIns="0" rIns="0" bIns="0" rtlCol="0" anchor="ctr"/>
          <a:lstStyle/>
          <a:p>
            <a:pPr marL="0" indent="0" algn="l">
              <a:buNone/>
            </a:pPr>
            <a:r>
              <a:rPr lang="en-US" sz="1800" b="1" dirty="0">
                <a:solidFill>
                  <a:srgbClr val="A30D1D"/>
                </a:solidFill>
              </a:rPr>
              <a:t>Follows the whole chain</a:t>
            </a:r>
            <a:endParaRPr lang="en-US" sz="1800" dirty="0"/>
          </a:p>
        </p:txBody>
      </p:sp>
      <p:sp>
        <p:nvSpPr>
          <p:cNvPr id="10" name="Benefit text 1"/>
          <p:cNvSpPr txBox="1"/>
          <p:nvPr/>
        </p:nvSpPr>
        <p:spPr>
          <a:xfrm>
            <a:off x="777240" y="3611880"/>
            <a:ext cx="3048000" cy="914400"/>
          </a:xfrm>
          <a:prstGeom prst="rect">
            <a:avLst/>
          </a:prstGeom>
          <a:noFill/>
          <a:ln/>
        </p:spPr>
        <p:txBody>
          <a:bodyPr wrap="square" lIns="0" tIns="0" rIns="0" bIns="0" rtlCol="0" anchor="t"/>
          <a:lstStyle/>
          <a:p>
            <a:pPr marL="0" indent="0" algn="l">
              <a:buNone/>
            </a:pPr>
            <a:r>
              <a:rPr lang="en-US" sz="1400" dirty="0">
                <a:solidFill>
                  <a:srgbClr val="3A3A3A"/>
                </a:solidFill>
              </a:rPr>
              <a:t>Connects transactions into a network and traces the money hop by hop in time order, instead of one account at a time.</a:t>
            </a:r>
            <a:endParaRPr lang="en-US" sz="1400" dirty="0"/>
          </a:p>
        </p:txBody>
      </p:sp>
      <p:sp>
        <p:nvSpPr>
          <p:cNvPr id="11" name="Benefit card 2"/>
          <p:cNvSpPr/>
          <p:nvPr/>
        </p:nvSpPr>
        <p:spPr>
          <a:xfrm>
            <a:off x="4328160" y="2697480"/>
            <a:ext cx="3505200" cy="19202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2" name="Icon circle Sets clear priorities"/>
          <p:cNvSpPr/>
          <p:nvPr/>
        </p:nvSpPr>
        <p:spPr>
          <a:xfrm>
            <a:off x="4556760" y="2880360"/>
            <a:ext cx="548640" cy="548640"/>
          </a:xfrm>
          <a:prstGeom prst="ellipse">
            <a:avLst/>
          </a:prstGeom>
          <a:solidFill>
            <a:srgbClr val="A30D1D"/>
          </a:solidFill>
          <a:ln w="12700">
            <a:solidFill>
              <a:srgbClr val="A30D1D"/>
            </a:solidFill>
            <a:prstDash val="solid"/>
          </a:ln>
        </p:spPr>
      </p:sp>
      <p:pic>
        <p:nvPicPr>
          <p:cNvPr id="13" name="Icon Sets clear priorities" descr="Sets clear priorities"/>
          <p:cNvPicPr>
            <a:picLocks noChangeAspect="1"/>
          </p:cNvPicPr>
          <p:nvPr/>
        </p:nvPicPr>
        <p:blipFill>
          <a:blip r:embed="rId4"/>
          <a:stretch>
            <a:fillRect/>
          </a:stretch>
        </p:blipFill>
        <p:spPr>
          <a:xfrm>
            <a:off x="4693920" y="3017520"/>
            <a:ext cx="274320" cy="274320"/>
          </a:xfrm>
          <a:prstGeom prst="rect">
            <a:avLst/>
          </a:prstGeom>
        </p:spPr>
      </p:pic>
      <p:sp>
        <p:nvSpPr>
          <p:cNvPr id="14" name="Benefit title 2"/>
          <p:cNvSpPr txBox="1"/>
          <p:nvPr/>
        </p:nvSpPr>
        <p:spPr>
          <a:xfrm>
            <a:off x="5242560" y="2880360"/>
            <a:ext cx="2362200" cy="548640"/>
          </a:xfrm>
          <a:prstGeom prst="rect">
            <a:avLst/>
          </a:prstGeom>
          <a:noFill/>
          <a:ln/>
        </p:spPr>
        <p:txBody>
          <a:bodyPr wrap="square" lIns="0" tIns="0" rIns="0" bIns="0" rtlCol="0" anchor="ctr"/>
          <a:lstStyle/>
          <a:p>
            <a:pPr marL="0" indent="0" algn="l">
              <a:buNone/>
            </a:pPr>
            <a:r>
              <a:rPr lang="en-US" sz="1800" b="1" dirty="0">
                <a:solidFill>
                  <a:srgbClr val="A30D1D"/>
                </a:solidFill>
              </a:rPr>
              <a:t>Sets clear priorities</a:t>
            </a:r>
            <a:endParaRPr lang="en-US" sz="1800" dirty="0"/>
          </a:p>
        </p:txBody>
      </p:sp>
      <p:sp>
        <p:nvSpPr>
          <p:cNvPr id="15" name="Benefit text 2"/>
          <p:cNvSpPr txBox="1"/>
          <p:nvPr/>
        </p:nvSpPr>
        <p:spPr>
          <a:xfrm>
            <a:off x="4556760" y="3611880"/>
            <a:ext cx="3048000" cy="914400"/>
          </a:xfrm>
          <a:prstGeom prst="rect">
            <a:avLst/>
          </a:prstGeom>
          <a:noFill/>
          <a:ln/>
        </p:spPr>
        <p:txBody>
          <a:bodyPr wrap="square" lIns="0" tIns="0" rIns="0" bIns="0" rtlCol="0" anchor="t"/>
          <a:lstStyle/>
          <a:p>
            <a:pPr marL="0" indent="0" algn="l">
              <a:buNone/>
            </a:pPr>
            <a:r>
              <a:rPr lang="en-US" sz="1400" dirty="0">
                <a:solidFill>
                  <a:srgbClr val="3A3A3A"/>
                </a:solidFill>
              </a:rPr>
              <a:t>Risk scores and next-hop ranking show which accounts to check first, so a bank’s team can review the likeliest accounts first.</a:t>
            </a:r>
            <a:endParaRPr lang="en-US" sz="1400" dirty="0"/>
          </a:p>
        </p:txBody>
      </p:sp>
      <p:sp>
        <p:nvSpPr>
          <p:cNvPr id="16" name="Benefit card 3"/>
          <p:cNvSpPr/>
          <p:nvPr/>
        </p:nvSpPr>
        <p:spPr>
          <a:xfrm>
            <a:off x="8107680" y="2697480"/>
            <a:ext cx="3505200" cy="1920240"/>
          </a:xfrm>
          <a:prstGeom prst="roundRect">
            <a:avLst>
              <a:gd name="adj" fmla="val 4000"/>
            </a:avLst>
          </a:prstGeom>
          <a:solidFill>
            <a:srgbClr val="FFFFFF"/>
          </a:solidFill>
          <a:ln w="12700">
            <a:solidFill>
              <a:srgbClr val="FFFFFF"/>
            </a:solidFill>
            <a:prstDash val="solid"/>
          </a:ln>
          <a:effectLst>
            <a:outerShdw blurRad="127000" dist="38100" dir="5400000" algn="bl" rotWithShape="0">
              <a:srgbClr val="000000">
                <a:alpha val="13000"/>
              </a:srgbClr>
            </a:outerShdw>
          </a:effectLst>
        </p:spPr>
      </p:sp>
      <p:sp>
        <p:nvSpPr>
          <p:cNvPr id="17" name="Icon circle Responsible by design"/>
          <p:cNvSpPr/>
          <p:nvPr/>
        </p:nvSpPr>
        <p:spPr>
          <a:xfrm>
            <a:off x="8336280" y="2880360"/>
            <a:ext cx="548640" cy="548640"/>
          </a:xfrm>
          <a:prstGeom prst="ellipse">
            <a:avLst/>
          </a:prstGeom>
          <a:solidFill>
            <a:srgbClr val="A30D1D"/>
          </a:solidFill>
          <a:ln w="12700">
            <a:solidFill>
              <a:srgbClr val="A30D1D"/>
            </a:solidFill>
            <a:prstDash val="solid"/>
          </a:ln>
        </p:spPr>
      </p:sp>
      <p:pic>
        <p:nvPicPr>
          <p:cNvPr id="18" name="Icon Responsible by design" descr="Responsible by design"/>
          <p:cNvPicPr>
            <a:picLocks noChangeAspect="1"/>
          </p:cNvPicPr>
          <p:nvPr/>
        </p:nvPicPr>
        <p:blipFill>
          <a:blip r:embed="rId5"/>
          <a:stretch>
            <a:fillRect/>
          </a:stretch>
        </p:blipFill>
        <p:spPr>
          <a:xfrm>
            <a:off x="8473440" y="3017520"/>
            <a:ext cx="274320" cy="274320"/>
          </a:xfrm>
          <a:prstGeom prst="rect">
            <a:avLst/>
          </a:prstGeom>
        </p:spPr>
      </p:pic>
      <p:sp>
        <p:nvSpPr>
          <p:cNvPr id="19" name="Benefit title 3"/>
          <p:cNvSpPr txBox="1"/>
          <p:nvPr/>
        </p:nvSpPr>
        <p:spPr>
          <a:xfrm>
            <a:off x="9022080" y="2880360"/>
            <a:ext cx="2362200" cy="548640"/>
          </a:xfrm>
          <a:prstGeom prst="rect">
            <a:avLst/>
          </a:prstGeom>
          <a:noFill/>
          <a:ln/>
        </p:spPr>
        <p:txBody>
          <a:bodyPr wrap="square" lIns="0" tIns="0" rIns="0" bIns="0" rtlCol="0" anchor="ctr"/>
          <a:lstStyle/>
          <a:p>
            <a:pPr marL="0" indent="0" algn="l">
              <a:buNone/>
            </a:pPr>
            <a:r>
              <a:rPr lang="en-US" sz="1800" b="1" dirty="0">
                <a:solidFill>
                  <a:srgbClr val="A30D1D"/>
                </a:solidFill>
              </a:rPr>
              <a:t>Responsible by design</a:t>
            </a:r>
            <a:endParaRPr lang="en-US" sz="1800" dirty="0"/>
          </a:p>
        </p:txBody>
      </p:sp>
      <p:sp>
        <p:nvSpPr>
          <p:cNvPr id="20" name="Benefit text 3"/>
          <p:cNvSpPr txBox="1"/>
          <p:nvPr/>
        </p:nvSpPr>
        <p:spPr>
          <a:xfrm>
            <a:off x="8336280" y="3611880"/>
            <a:ext cx="3048000" cy="914400"/>
          </a:xfrm>
          <a:prstGeom prst="rect">
            <a:avLst/>
          </a:prstGeom>
          <a:noFill/>
          <a:ln/>
        </p:spPr>
        <p:txBody>
          <a:bodyPr wrap="square" lIns="0" tIns="0" rIns="0" bIns="0" rtlCol="0" anchor="t"/>
          <a:lstStyle/>
          <a:p>
            <a:pPr marL="0" indent="0" algn="l">
              <a:buNone/>
            </a:pPr>
            <a:r>
              <a:rPr lang="en-US" sz="1400" dirty="0">
                <a:solidFill>
                  <a:srgbClr val="3A3A3A"/>
                </a:solidFill>
              </a:rPr>
              <a:t>Scores are indicators, not verdicts; the investigator stays in control of every decision.</a:t>
            </a:r>
            <a:endParaRPr lang="en-US" sz="1400" dirty="0"/>
          </a:p>
        </p:txBody>
      </p:sp>
      <p:sp>
        <p:nvSpPr>
          <p:cNvPr id="21" name="Vision box"/>
          <p:cNvSpPr/>
          <p:nvPr/>
        </p:nvSpPr>
        <p:spPr>
          <a:xfrm>
            <a:off x="548640" y="4754880"/>
            <a:ext cx="11064240" cy="1005840"/>
          </a:xfrm>
          <a:prstGeom prst="roundRect">
            <a:avLst>
              <a:gd name="adj" fmla="val 8000"/>
            </a:avLst>
          </a:prstGeom>
          <a:solidFill>
            <a:srgbClr val="FFFFFF"/>
          </a:solidFill>
          <a:ln w="25400">
            <a:solidFill>
              <a:srgbClr val="A30D1D"/>
            </a:solidFill>
            <a:prstDash val="solid"/>
          </a:ln>
          <a:effectLst>
            <a:outerShdw blurRad="127000" dist="38100" dir="5400000" algn="bl" rotWithShape="0">
              <a:srgbClr val="000000">
                <a:alpha val="13000"/>
              </a:srgbClr>
            </a:outerShdw>
          </a:effectLst>
        </p:spPr>
      </p:sp>
      <p:sp>
        <p:nvSpPr>
          <p:cNvPr id="22" name="Vision label"/>
          <p:cNvSpPr txBox="1"/>
          <p:nvPr/>
        </p:nvSpPr>
        <p:spPr>
          <a:xfrm>
            <a:off x="777240" y="4837176"/>
            <a:ext cx="10607040" cy="228600"/>
          </a:xfrm>
          <a:prstGeom prst="rect">
            <a:avLst/>
          </a:prstGeom>
          <a:noFill/>
          <a:ln/>
        </p:spPr>
        <p:txBody>
          <a:bodyPr wrap="square" lIns="0" tIns="0" rIns="0" bIns="0" rtlCol="0" anchor="ctr"/>
          <a:lstStyle/>
          <a:p>
            <a:pPr marL="0" indent="0" algn="l">
              <a:buNone/>
            </a:pPr>
            <a:r>
              <a:rPr lang="en-US" sz="1200" b="1" dirty="0">
                <a:solidFill>
                  <a:srgbClr val="A30D1D"/>
                </a:solidFill>
              </a:rPr>
              <a:t>FINAL VISION</a:t>
            </a:r>
            <a:endParaRPr lang="en-US" sz="1200" dirty="0"/>
          </a:p>
        </p:txBody>
      </p:sp>
      <p:sp>
        <p:nvSpPr>
          <p:cNvPr id="23" name="Vision statement"/>
          <p:cNvSpPr txBox="1"/>
          <p:nvPr/>
        </p:nvSpPr>
        <p:spPr>
          <a:xfrm>
            <a:off x="777240" y="5074920"/>
            <a:ext cx="10607040" cy="320040"/>
          </a:xfrm>
          <a:prstGeom prst="rect">
            <a:avLst/>
          </a:prstGeom>
          <a:noFill/>
          <a:ln/>
        </p:spPr>
        <p:txBody>
          <a:bodyPr wrap="square" lIns="0" tIns="0" rIns="0" bIns="0" rtlCol="0" anchor="ctr"/>
          <a:lstStyle/>
          <a:p>
            <a:pPr marL="0" indent="0" algn="l">
              <a:buNone/>
            </a:pPr>
            <a:r>
              <a:rPr lang="en-US" sz="1600" b="1" dirty="0">
                <a:solidFill>
                  <a:srgbClr val="111111"/>
                </a:solidFill>
              </a:rPr>
              <a:t>Connect the transactions. Identify suspicious patterns. Help investigators follow the money.</a:t>
            </a:r>
            <a:endParaRPr lang="en-US" sz="1600" dirty="0"/>
          </a:p>
        </p:txBody>
      </p:sp>
      <p:sp>
        <p:nvSpPr>
          <p:cNvPr id="24" name="Vision context"/>
          <p:cNvSpPr txBox="1"/>
          <p:nvPr/>
        </p:nvSpPr>
        <p:spPr>
          <a:xfrm>
            <a:off x="777240" y="5440680"/>
            <a:ext cx="10607040" cy="228600"/>
          </a:xfrm>
          <a:prstGeom prst="rect">
            <a:avLst/>
          </a:prstGeom>
          <a:noFill/>
          <a:ln/>
        </p:spPr>
        <p:txBody>
          <a:bodyPr wrap="square" lIns="0" tIns="0" rIns="0" bIns="0" rtlCol="0" anchor="ctr"/>
          <a:lstStyle/>
          <a:p>
            <a:pPr marL="0" indent="0" algn="l">
              <a:buNone/>
            </a:pPr>
            <a:r>
              <a:rPr lang="en-US" sz="1200" dirty="0">
                <a:solidFill>
                  <a:srgbClr val="3A3A3A"/>
                </a:solidFill>
              </a:rPr>
              <a:t>Why it matters: about three in every four rupees lost to cyber fraud in India are not recovered.</a:t>
            </a:r>
            <a:endParaRPr lang="en-US" sz="1200" dirty="0"/>
          </a:p>
        </p:txBody>
      </p:sp>
      <p:sp>
        <p:nvSpPr>
          <p:cNvPr id="25" name="Prototype note"/>
          <p:cNvSpPr txBox="1"/>
          <p:nvPr/>
        </p:nvSpPr>
        <p:spPr>
          <a:xfrm>
            <a:off x="548640" y="5852160"/>
            <a:ext cx="11064240" cy="205740"/>
          </a:xfrm>
          <a:prstGeom prst="rect">
            <a:avLst/>
          </a:prstGeom>
          <a:noFill/>
          <a:ln/>
        </p:spPr>
        <p:txBody>
          <a:bodyPr wrap="square" lIns="0" tIns="0" rIns="0" bIns="0" rtlCol="0" anchor="ctr"/>
          <a:lstStyle/>
          <a:p>
            <a:pPr marL="0" indent="0" algn="l">
              <a:buNone/>
            </a:pPr>
            <a:r>
              <a:rPr lang="en-US" sz="1100" i="1" dirty="0">
                <a:solidFill>
                  <a:srgbClr val="5F5F5F"/>
                </a:solidFill>
              </a:rPr>
              <a:t>Prototype runs on synthetic data; the freeze action is simulated. Not connected to live banking systems. No real-world accuracy is claimed.</a:t>
            </a:r>
            <a:endParaRPr lang="en-US" sz="1100" dirty="0"/>
          </a:p>
        </p:txBody>
      </p:sp>
      <p:sp>
        <p:nvSpPr>
          <p:cNvPr id="26" name="Sources"/>
          <p:cNvSpPr txBox="1"/>
          <p:nvPr/>
        </p:nvSpPr>
        <p:spPr>
          <a:xfrm>
            <a:off x="548640" y="6080760"/>
            <a:ext cx="11064240" cy="228600"/>
          </a:xfrm>
          <a:prstGeom prst="rect">
            <a:avLst/>
          </a:prstGeom>
          <a:noFill/>
          <a:ln/>
        </p:spPr>
        <p:txBody>
          <a:bodyPr wrap="square" lIns="0" tIns="0" rIns="0" bIns="0" rtlCol="0" anchor="ctr"/>
          <a:lstStyle/>
          <a:p>
            <a:pPr marL="0" indent="0" algn="l">
              <a:buNone/>
            </a:pPr>
            <a:r>
              <a:rPr lang="en-US" sz="1000" dirty="0">
                <a:solidFill>
                  <a:srgbClr val="6B6B6B"/>
                </a:solidFill>
              </a:rPr>
              <a:t>Source: Moneylife (recovery rate); Hackatopia 2026 problem statement FT-03.</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p:spPr>
        <p:txBody>
          <a:bodyPr/>
          <a:lstStyle>
            <a:lvl1pPr>
              <a:defRPr sz="1100">
                <a:solidFill>
                  <a:srgbClr val="6B6B6B"/>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Money Trail Hunter">
  <a:themeElements>
    <a:clrScheme name="Money Trail Hunter">
      <a:dk1>
        <a:srgbClr val="0A1128"/>
      </a:dk1>
      <a:lt1>
        <a:srgbClr val="FFFFFF"/>
      </a:lt1>
      <a:dk2>
        <a:srgbClr val="14224A"/>
      </a:dk2>
      <a:lt2>
        <a:srgbClr val="E8EEF9"/>
      </a:lt2>
      <a:accent1>
        <a:srgbClr val="22D3EE"/>
      </a:accent1>
      <a:accent2>
        <a:srgbClr val="6366F1"/>
      </a:accent2>
      <a:accent3>
        <a:srgbClr val="F43F5E"/>
      </a:accent3>
      <a:accent4>
        <a:srgbClr val="F59E0B"/>
      </a:accent4>
      <a:accent5>
        <a:srgbClr val="94A3B8"/>
      </a:accent5>
      <a:accent6>
        <a:srgbClr val="34D399"/>
      </a:accent6>
      <a:hlink>
        <a:srgbClr val="22D3EE"/>
      </a:hlink>
      <a:folHlink>
        <a:srgbClr val="94A3B8"/>
      </a:folHlink>
    </a:clrScheme>
    <a:fontScheme name="Money Trail Hunt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3394</Words>
  <Application>Microsoft Office PowerPoint</Application>
  <PresentationFormat>Widescreen</PresentationFormat>
  <Paragraphs>290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Money Trail Hunter</vt:lpstr>
      <vt:lpstr>Money Trail Hunter</vt:lpstr>
      <vt:lpstr>Problem Understanding</vt:lpstr>
      <vt:lpstr>Existing Solutions and Problem Gap</vt:lpstr>
      <vt:lpstr>Proposed Solution</vt:lpstr>
      <vt:lpstr>Innovation and Unique Value Proposition</vt:lpstr>
      <vt:lpstr>How the Solution Works</vt:lpstr>
      <vt:lpstr>Technology Stack</vt:lpstr>
      <vt:lpstr>System Architecture and Models</vt:lpstr>
      <vt:lpstr>Example Investigation: Following the Money</vt:lpstr>
      <vt:lpstr>Technical Feasibility and Implementation</vt:lpstr>
      <vt:lpstr>Future Scope and Expansion</vt:lpstr>
      <vt:lpstr>Conclusion: Follow the Money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Money Trail Hunter</dc:title>
  <dc:subject>PptxGenJS Presentation</dc:subject>
  <dc:creator>PptxGenJS</dc:creator>
  <cp:lastModifiedBy>mohdhafizr903@outlook.com</cp:lastModifiedBy>
  <cp:revision>2</cp:revision>
  <dcterms:created xsi:type="dcterms:W3CDTF">2026-10-09T02:36:53Z</dcterms:created>
  <dcterms:modified xsi:type="dcterms:W3CDTF">2026-10-08T17:44:22Z</dcterms:modified>
</cp:coreProperties>
</file>